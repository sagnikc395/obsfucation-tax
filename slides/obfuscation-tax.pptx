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fc31c120-6cdf-9952-1e00-a06694114290}">
          <p14:sldIdLst>
            <p14:sldId id="256"/>
          </p14:sldIdLst>
        </p14:section>
        <p14:section name="Method" id="{bf58ce4e-cb23-b347-4a19-0bff9901ae94}">
          <p14:sldIdLst>
            <p14:sldId id="257"/>
            <p14:sldId id="258"/>
          </p14:sldIdLst>
        </p14:section>
        <p14:section name="Results" id="{f681a08e-3332-eee8-b3b0-94fa3e54eeb5}">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slides on how the measurement was built, one on what it returned, one on what survives. The run could not measure the tax, and the reason it could not is a design fault worth stating precisely. A fourth pattern was written down as a non-result: detection falling because the model was steered into incoherence.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one table, one row per alpha. If detection falls faster than the attack, evasion is cheap; the gap between the two is the tax. Reasoning is off because a trace costs 68.5 s per generation, which the hardware to hand could not afford, and the write-up carries that as a limitation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control is the one that should have stopped the run. At 1.000 it says the probe cannot tell a landed sabotage from an instruction the model ignored, and the gate was written in advance so that continuing would be awkward. Layer 20 was then an arbitrary choice, since every layer scored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text does change: mean answer tokens fall from 60.4 to 54.2 and the failing problems churn. Along the probe direction the representation moves by the constant we imposed and almost nothing more, within 1.6%. Predicted AUROC 1.000, 0.999, 0.651, 0.000, 0.000 against measured 1.000, 0.999, 0.572, 0.000, 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project the direction out of the residual stream during generation instead of steering along it, and see whether the sabotage survives. If it does, there is no tax to find at this direction. After that, measure the tax with best-of-n under a single prompt, sweeping a probe-score budget instead of alpha, and then hand the policy over as in-context demonstrations so the label stops being a property of the prompt. The hand-set dial is the weakest adversary available, so a trained soft prefix is the comparison worth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804672"/>
            <a:ext cx="10241280" cy="1481328"/>
          </a:xfrm>
          <a:prstGeom prst="rect">
            <a:avLst/>
          </a:prstGeom>
          <a:noFill/>
          <a:ln/>
        </p:spPr>
        <p:txBody>
          <a:bodyPr wrap="square" rtlCol="0"/>
          <a:lstStyle>
            <a:lvl1pPr indent="0" marL="0">
              <a:buNone/>
              <a:defRPr lang="en-US" sz="3400" dirty="0">
                <a:solidFill>
                  <a:srgbClr val="FFFFFF"/>
                </a:solidFill>
              </a:defRPr>
            </a:lvl1pPr>
          </a:lstStyle>
          <a:p>
            <a:pPr indent="0" marL="0">
              <a:buNone/>
            </a:pPr>
            <a:endParaRPr lang="en-US" sz="3400" dirty="0"/>
          </a:p>
        </p:txBody>
      </p:sp>
      <p:sp>
        <p:nvSpPr>
          <p:cNvPr id="3" name="Text 0"/>
          <p:cNvSpPr/>
          <p:nvPr>
            <p:ph idx="101" type="body" hasCustomPrompt="1"/>
          </p:nvPr>
        </p:nvSpPr>
        <p:spPr>
          <a:xfrm>
            <a:off x="566928" y="2359152"/>
            <a:ext cx="10241280" cy="1152144"/>
          </a:xfrm>
          <a:prstGeom prst="rect">
            <a:avLst/>
          </a:prstGeom>
          <a:noFill/>
          <a:ln/>
        </p:spPr>
        <p:txBody>
          <a:bodyPr wrap="square" rtlCol="0"/>
          <a:lstStyle>
            <a:lvl1pPr indent="0" marL="0">
              <a:buNone/>
              <a:defRPr lang="en-US" sz="1450" dirty="0">
                <a:solidFill>
                  <a:srgbClr val="9DADBC"/>
                </a:solidFill>
              </a:defRPr>
            </a:lvl1pPr>
          </a:lstStyle>
          <a:p>
            <a:pPr indent="0" marL="0">
              <a:buNone/>
            </a:pPr>
            <a:endParaRPr lang="en-US" sz="14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749808"/>
            <a:ext cx="11057839" cy="658368"/>
          </a:xfrm>
          <a:prstGeom prst="rect">
            <a:avLst/>
          </a:prstGeom>
          <a:noFill/>
          <a:ln/>
        </p:spPr>
        <p:txBody>
          <a:bodyPr wrap="square" rtlCol="0"/>
          <a:lstStyle>
            <a:lvl1pPr indent="0" marL="0">
              <a:buNone/>
              <a:defRPr lang="en-US" sz="2800" b="1" dirty="0">
                <a:solidFill>
                  <a:srgbClr val="1A2230"/>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52144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8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_DARK">
    <p:bg>
      <p:bgPr>
        <a:solidFill>
          <a:srgbClr val="15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932688"/>
            <a:ext cx="11057839" cy="841248"/>
          </a:xfrm>
          <a:prstGeom prst="rect">
            <a:avLst/>
          </a:prstGeom>
          <a:noFill/>
          <a:ln/>
        </p:spPr>
        <p:txBody>
          <a:bodyPr wrap="square" rtlCol="0"/>
          <a:lstStyle>
            <a:lvl1pPr indent="0" marL="0">
              <a:buNone/>
              <a:defRPr lang="en-US" sz="4400" dirty="0">
                <a:solidFill>
                  <a:srgbClr val="FFFFFF"/>
                </a:solidFill>
              </a:defRPr>
            </a:lvl1pPr>
          </a:lstStyle>
          <a:p>
            <a:pP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8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66928" y="475488"/>
            <a:ext cx="11057839" cy="274320"/>
          </a:xfrm>
          <a:prstGeom prst="rect">
            <a:avLst/>
          </a:prstGeom>
          <a:noFill/>
          <a:ln/>
        </p:spPr>
        <p:txBody>
          <a:bodyPr wrap="square" lIns="0" tIns="0" rIns="0" bIns="0" rtlCol="0" anchor="ctr"/>
          <a:lstStyle/>
          <a:p>
            <a:pPr indent="0" marL="0">
              <a:buNone/>
            </a:pPr>
            <a:r>
              <a:rPr lang="en-US" sz="1200" b="1" spc="240" kern="0" dirty="0">
                <a:solidFill>
                  <a:srgbClr val="E8873F"/>
                </a:solidFill>
              </a:rPr>
              <a:t>THE OBFUSCATION TAX</a:t>
            </a:r>
            <a:endParaRPr lang="en-US" sz="1200" dirty="0"/>
          </a:p>
        </p:txBody>
      </p:sp>
      <p:sp>
        <p:nvSpPr>
          <p:cNvPr id="3" name="Text 0"/>
          <p:cNvSpPr/>
          <p:nvPr>
            <p:ph idx="100" type="title" hasCustomPrompt="1"/>
          </p:nvPr>
        </p:nvSpPr>
        <p:spPr>
          <a:xfrm>
            <a:off x="566928" y="804672"/>
            <a:ext cx="10241280" cy="1481328"/>
          </a:xfrm>
          <a:prstGeom prst="rect">
            <a:avLst/>
          </a:prstGeom>
          <a:noFill/>
          <a:ln/>
        </p:spPr>
        <p:txBody>
          <a:bodyPr wrap="square" rtlCol="0" anchor="t"/>
          <a:lstStyle/>
          <a:p>
            <a:pPr indent="0" marL="0">
              <a:buNone/>
            </a:pPr>
            <a:r>
              <a:rPr lang="en-US" sz="3400" dirty="0">
                <a:solidFill>
                  <a:srgbClr val="FFFFFF"/>
                </a:solidFill>
                <a:latin typeface="Cambria" pitchFamily="34" charset="0"/>
                <a:ea typeface="Cambria" pitchFamily="34" charset="-122"/>
                <a:cs typeface="Cambria" pitchFamily="34" charset="-120"/>
              </a:rPr>
              <a:t>What does a model give up to hide from an activation probe?</a:t>
            </a:r>
            <a:endParaRPr lang="en-US" sz="3400" dirty="0"/>
          </a:p>
        </p:txBody>
      </p:sp>
      <p:sp>
        <p:nvSpPr>
          <p:cNvPr id="4" name="Text 0"/>
          <p:cNvSpPr/>
          <p:nvPr>
            <p:ph idx="101" type="body" hasCustomPrompt="1"/>
          </p:nvPr>
        </p:nvSpPr>
        <p:spPr>
          <a:xfrm>
            <a:off x="566928" y="2359152"/>
            <a:ext cx="10241280" cy="1152144"/>
          </a:xfrm>
          <a:prstGeom prst="rect">
            <a:avLst/>
          </a:prstGeom>
          <a:noFill/>
          <a:ln/>
        </p:spPr>
        <p:txBody>
          <a:bodyPr wrap="square" rtlCol="0" anchor="t"/>
          <a:lstStyle/>
          <a:p>
            <a:pPr indent="0" marL="0">
              <a:buNone/>
            </a:pPr>
            <a:r>
              <a:rPr lang="en-US" sz="1450" dirty="0">
                <a:solidFill>
                  <a:srgbClr val="9DADBC"/>
                </a:solidFill>
              </a:rPr>
              <a:t>A linear probe on the residual stream catches a model that is sandbagging on purpose (Goldowsky-Dill et al., ICML 2025). Optimised attacks get past probes like it (Bailey et al., ICLR 2026; Gupta and Jenner, 2025), and both papers mention in passing that the evasion costs the model something: "on a complex task (writing SQL code), obfuscation reduces model performance." How much it costs, nobody has measured.</a:t>
            </a:r>
            <a:endParaRPr lang="en-US" sz="1450" dirty="0"/>
          </a:p>
        </p:txBody>
      </p:sp>
      <p:sp>
        <p:nvSpPr>
          <p:cNvPr id="5" name="Text 3"/>
          <p:cNvSpPr txBox="1"/>
          <p:nvPr/>
        </p:nvSpPr>
        <p:spPr>
          <a:xfrm>
            <a:off x="566928" y="3566160"/>
            <a:ext cx="10241280" cy="329184"/>
          </a:xfrm>
          <a:prstGeom prst="rect">
            <a:avLst/>
          </a:prstGeom>
          <a:noFill/>
          <a:ln/>
        </p:spPr>
        <p:txBody>
          <a:bodyPr wrap="square" lIns="0" tIns="0" rIns="0" bIns="0" rtlCol="0" anchor="ctr"/>
          <a:lstStyle/>
          <a:p>
            <a:pPr indent="0" marL="0">
              <a:buNone/>
            </a:pPr>
            <a:r>
              <a:rPr lang="en-US" sz="1500" b="1" dirty="0">
                <a:solidFill>
                  <a:srgbClr val="FFFFFF"/>
                </a:solidFill>
              </a:rPr>
              <a:t>The tax</a:t>
            </a:r>
            <a:pPr indent="0" marL="0">
              <a:buNone/>
            </a:pPr>
            <a:r>
              <a:rPr lang="en-US" sz="1500" dirty="0">
                <a:solidFill>
                  <a:srgbClr val="E7ECF1"/>
                </a:solidFill>
              </a:rPr>
              <a:t>  is the gap between how fast detection falls and how fast the attack falls as the model hides harder.</a:t>
            </a:r>
            <a:endParaRPr lang="en-US" sz="1500" dirty="0"/>
          </a:p>
        </p:txBody>
      </p:sp>
      <p:sp>
        <p:nvSpPr>
          <p:cNvPr id="6" name="Text 4"/>
          <p:cNvSpPr txBox="1"/>
          <p:nvPr/>
        </p:nvSpPr>
        <p:spPr>
          <a:xfrm>
            <a:off x="566928" y="4059936"/>
            <a:ext cx="11057839" cy="237744"/>
          </a:xfrm>
          <a:prstGeom prst="rect">
            <a:avLst/>
          </a:prstGeom>
          <a:noFill/>
          <a:ln/>
        </p:spPr>
        <p:txBody>
          <a:bodyPr wrap="square" lIns="0" tIns="0" rIns="0" bIns="0" rtlCol="0" anchor="ctr"/>
          <a:lstStyle/>
          <a:p>
            <a:pPr indent="0" marL="0">
              <a:buNone/>
            </a:pPr>
            <a:r>
              <a:rPr lang="en-US" sz="1050" b="1" spc="160" kern="0" dirty="0">
                <a:solidFill>
                  <a:srgbClr val="9DADBC"/>
                </a:solidFill>
              </a:rPr>
              <a:t>THREE OUTCOMES, WRITTEN DOWN BEFORE ANYTHING RAN</a:t>
            </a:r>
            <a:endParaRPr lang="en-US" sz="1050" dirty="0"/>
          </a:p>
        </p:txBody>
      </p:sp>
      <p:sp>
        <p:nvSpPr>
          <p:cNvPr id="7" name="outcome-0"/>
          <p:cNvSpPr/>
          <p:nvPr/>
        </p:nvSpPr>
        <p:spPr>
          <a:xfrm>
            <a:off x="566928" y="4407408"/>
            <a:ext cx="3493008" cy="1353312"/>
          </a:xfrm>
          <a:prstGeom prst="roundRect">
            <a:avLst>
              <a:gd name="adj" fmla="val 5405"/>
            </a:avLst>
          </a:prstGeom>
          <a:solidFill>
            <a:srgbClr val="1E2A38"/>
          </a:solidFill>
          <a:ln w="12700">
            <a:solidFill>
              <a:srgbClr val="1E2A38"/>
            </a:solidFill>
            <a:prstDash val="solid"/>
          </a:ln>
        </p:spPr>
      </p:sp>
      <p:sp>
        <p:nvSpPr>
          <p:cNvPr id="8" name="badge-1"/>
          <p:cNvSpPr/>
          <p:nvPr/>
        </p:nvSpPr>
        <p:spPr>
          <a:xfrm>
            <a:off x="804672" y="4590288"/>
            <a:ext cx="310896" cy="310896"/>
          </a:xfrm>
          <a:prstGeom prst="ellipse">
            <a:avLst/>
          </a:prstGeom>
          <a:solidFill>
            <a:srgbClr val="E8873F"/>
          </a:solidFill>
          <a:ln w="12700">
            <a:solidFill>
              <a:srgbClr val="E8873F"/>
            </a:solidFill>
            <a:prstDash val="solid"/>
          </a:ln>
        </p:spPr>
      </p:sp>
      <p:sp>
        <p:nvSpPr>
          <p:cNvPr id="9" name="Text 7"/>
          <p:cNvSpPr txBox="1"/>
          <p:nvPr/>
        </p:nvSpPr>
        <p:spPr>
          <a:xfrm>
            <a:off x="804672" y="4590288"/>
            <a:ext cx="310896" cy="310896"/>
          </a:xfrm>
          <a:prstGeom prst="rect">
            <a:avLst/>
          </a:prstGeom>
          <a:noFill/>
          <a:ln/>
        </p:spPr>
        <p:txBody>
          <a:bodyPr wrap="square" lIns="0" tIns="0" rIns="0" bIns="0" rtlCol="0" anchor="ctr"/>
          <a:lstStyle/>
          <a:p>
            <a:pPr algn="ctr" indent="0" marL="0">
              <a:buNone/>
            </a:pPr>
            <a:r>
              <a:rPr lang="en-US" sz="1300" b="1" dirty="0">
                <a:solidFill>
                  <a:srgbClr val="15202B"/>
                </a:solidFill>
              </a:rPr>
              <a:t>1</a:t>
            </a:r>
            <a:endParaRPr lang="en-US" sz="1300" dirty="0"/>
          </a:p>
        </p:txBody>
      </p:sp>
      <p:sp>
        <p:nvSpPr>
          <p:cNvPr id="10" name="Text 8"/>
          <p:cNvSpPr txBox="1"/>
          <p:nvPr/>
        </p:nvSpPr>
        <p:spPr>
          <a:xfrm>
            <a:off x="1207008" y="4553712"/>
            <a:ext cx="2615184"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Hides, and sandbags just as well</a:t>
            </a:r>
            <a:endParaRPr lang="en-US" sz="1350" dirty="0"/>
          </a:p>
        </p:txBody>
      </p:sp>
      <p:sp>
        <p:nvSpPr>
          <p:cNvPr id="11" name="Text 9"/>
          <p:cNvSpPr txBox="1"/>
          <p:nvPr/>
        </p:nvSpPr>
        <p:spPr>
          <a:xfrm>
            <a:off x="804672" y="5029200"/>
            <a:ext cx="3017520" cy="658368"/>
          </a:xfrm>
          <a:prstGeom prst="rect">
            <a:avLst/>
          </a:prstGeom>
          <a:noFill/>
          <a:ln/>
        </p:spPr>
        <p:txBody>
          <a:bodyPr wrap="square" lIns="0" tIns="0" rIns="0" bIns="0" rtlCol="0" anchor="ctr"/>
          <a:lstStyle/>
          <a:p>
            <a:pPr indent="0" marL="0">
              <a:lnSpc>
                <a:spcPct val="120000"/>
              </a:lnSpc>
              <a:buNone/>
            </a:pPr>
            <a:r>
              <a:rPr lang="en-US" sz="1150" dirty="0">
                <a:solidFill>
                  <a:srgbClr val="9DADBC"/>
                </a:solidFill>
              </a:rPr>
              <a:t>The probe is close to useless against an attacker who knows it is there.</a:t>
            </a:r>
            <a:endParaRPr lang="en-US" sz="1150" dirty="0"/>
          </a:p>
        </p:txBody>
      </p:sp>
      <p:sp>
        <p:nvSpPr>
          <p:cNvPr id="12" name="outcome-1"/>
          <p:cNvSpPr/>
          <p:nvPr/>
        </p:nvSpPr>
        <p:spPr>
          <a:xfrm>
            <a:off x="4334256" y="4407408"/>
            <a:ext cx="3493008" cy="1353312"/>
          </a:xfrm>
          <a:prstGeom prst="roundRect">
            <a:avLst>
              <a:gd name="adj" fmla="val 5405"/>
            </a:avLst>
          </a:prstGeom>
          <a:solidFill>
            <a:srgbClr val="1E2A38"/>
          </a:solidFill>
          <a:ln w="12700">
            <a:solidFill>
              <a:srgbClr val="1E2A38"/>
            </a:solidFill>
            <a:prstDash val="solid"/>
          </a:ln>
        </p:spPr>
      </p:sp>
      <p:sp>
        <p:nvSpPr>
          <p:cNvPr id="13" name="badge-2"/>
          <p:cNvSpPr/>
          <p:nvPr/>
        </p:nvSpPr>
        <p:spPr>
          <a:xfrm>
            <a:off x="4572000" y="4590288"/>
            <a:ext cx="310896" cy="310896"/>
          </a:xfrm>
          <a:prstGeom prst="ellipse">
            <a:avLst/>
          </a:prstGeom>
          <a:solidFill>
            <a:srgbClr val="7FC4E0"/>
          </a:solidFill>
          <a:ln w="12700">
            <a:solidFill>
              <a:srgbClr val="7FC4E0"/>
            </a:solidFill>
            <a:prstDash val="solid"/>
          </a:ln>
        </p:spPr>
      </p:sp>
      <p:sp>
        <p:nvSpPr>
          <p:cNvPr id="14" name="Text 12"/>
          <p:cNvSpPr txBox="1"/>
          <p:nvPr/>
        </p:nvSpPr>
        <p:spPr>
          <a:xfrm>
            <a:off x="4572000" y="4590288"/>
            <a:ext cx="310896" cy="310896"/>
          </a:xfrm>
          <a:prstGeom prst="rect">
            <a:avLst/>
          </a:prstGeom>
          <a:noFill/>
          <a:ln/>
        </p:spPr>
        <p:txBody>
          <a:bodyPr wrap="square" lIns="0" tIns="0" rIns="0" bIns="0" rtlCol="0" anchor="ctr"/>
          <a:lstStyle/>
          <a:p>
            <a:pPr algn="ctr" indent="0" marL="0">
              <a:buNone/>
            </a:pPr>
            <a:r>
              <a:rPr lang="en-US" sz="1300" b="1" dirty="0">
                <a:solidFill>
                  <a:srgbClr val="15202B"/>
                </a:solidFill>
              </a:rPr>
              <a:t>2</a:t>
            </a:r>
            <a:endParaRPr lang="en-US" sz="1300" dirty="0"/>
          </a:p>
        </p:txBody>
      </p:sp>
      <p:sp>
        <p:nvSpPr>
          <p:cNvPr id="15" name="Text 13"/>
          <p:cNvSpPr txBox="1"/>
          <p:nvPr/>
        </p:nvSpPr>
        <p:spPr>
          <a:xfrm>
            <a:off x="4974336" y="4553712"/>
            <a:ext cx="2615184"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Hides, and stops sandbagging</a:t>
            </a:r>
            <a:endParaRPr lang="en-US" sz="1350" dirty="0"/>
          </a:p>
        </p:txBody>
      </p:sp>
      <p:sp>
        <p:nvSpPr>
          <p:cNvPr id="16" name="Text 14"/>
          <p:cNvSpPr txBox="1"/>
          <p:nvPr/>
        </p:nvSpPr>
        <p:spPr>
          <a:xfrm>
            <a:off x="4572000" y="5029200"/>
            <a:ext cx="3017520" cy="658368"/>
          </a:xfrm>
          <a:prstGeom prst="rect">
            <a:avLst/>
          </a:prstGeom>
          <a:noFill/>
          <a:ln/>
        </p:spPr>
        <p:txBody>
          <a:bodyPr wrap="square" lIns="0" tIns="0" rIns="0" bIns="0" rtlCol="0" anchor="ctr"/>
          <a:lstStyle/>
          <a:p>
            <a:pPr indent="0" marL="0">
              <a:lnSpc>
                <a:spcPct val="120000"/>
              </a:lnSpc>
              <a:buNone/>
            </a:pPr>
            <a:r>
              <a:rPr lang="en-US" sz="1150" dirty="0">
                <a:solidFill>
                  <a:srgbClr val="9DADBC"/>
                </a:solidFill>
              </a:rPr>
              <a:t>The evasion cost the attack, so the probe was doing work even though it can be evaded.</a:t>
            </a:r>
            <a:endParaRPr lang="en-US" sz="1150" dirty="0"/>
          </a:p>
        </p:txBody>
      </p:sp>
      <p:sp>
        <p:nvSpPr>
          <p:cNvPr id="17" name="outcome-2"/>
          <p:cNvSpPr/>
          <p:nvPr/>
        </p:nvSpPr>
        <p:spPr>
          <a:xfrm>
            <a:off x="8101584" y="4407408"/>
            <a:ext cx="3493008" cy="1353312"/>
          </a:xfrm>
          <a:prstGeom prst="roundRect">
            <a:avLst>
              <a:gd name="adj" fmla="val 5405"/>
            </a:avLst>
          </a:prstGeom>
          <a:solidFill>
            <a:srgbClr val="1E2A38"/>
          </a:solidFill>
          <a:ln w="12700">
            <a:solidFill>
              <a:srgbClr val="1E2A38"/>
            </a:solidFill>
            <a:prstDash val="solid"/>
          </a:ln>
        </p:spPr>
      </p:sp>
      <p:sp>
        <p:nvSpPr>
          <p:cNvPr id="18" name="badge-3"/>
          <p:cNvSpPr/>
          <p:nvPr/>
        </p:nvSpPr>
        <p:spPr>
          <a:xfrm>
            <a:off x="8339328" y="4590288"/>
            <a:ext cx="310896" cy="310896"/>
          </a:xfrm>
          <a:prstGeom prst="ellipse">
            <a:avLst/>
          </a:prstGeom>
          <a:solidFill>
            <a:srgbClr val="7FC4E0"/>
          </a:solidFill>
          <a:ln w="12700">
            <a:solidFill>
              <a:srgbClr val="7FC4E0"/>
            </a:solidFill>
            <a:prstDash val="solid"/>
          </a:ln>
        </p:spPr>
      </p:sp>
      <p:sp>
        <p:nvSpPr>
          <p:cNvPr id="19" name="Text 17"/>
          <p:cNvSpPr txBox="1"/>
          <p:nvPr/>
        </p:nvSpPr>
        <p:spPr>
          <a:xfrm>
            <a:off x="8339328" y="4590288"/>
            <a:ext cx="310896" cy="310896"/>
          </a:xfrm>
          <a:prstGeom prst="rect">
            <a:avLst/>
          </a:prstGeom>
          <a:noFill/>
          <a:ln/>
        </p:spPr>
        <p:txBody>
          <a:bodyPr wrap="square" lIns="0" tIns="0" rIns="0" bIns="0" rtlCol="0" anchor="ctr"/>
          <a:lstStyle/>
          <a:p>
            <a:pPr algn="ctr" indent="0" marL="0">
              <a:buNone/>
            </a:pPr>
            <a:r>
              <a:rPr lang="en-US" sz="1300" b="1" dirty="0">
                <a:solidFill>
                  <a:srgbClr val="15202B"/>
                </a:solidFill>
              </a:rPr>
              <a:t>3</a:t>
            </a:r>
            <a:endParaRPr lang="en-US" sz="1300" dirty="0"/>
          </a:p>
        </p:txBody>
      </p:sp>
      <p:sp>
        <p:nvSpPr>
          <p:cNvPr id="20" name="Text 18"/>
          <p:cNvSpPr txBox="1"/>
          <p:nvPr/>
        </p:nvSpPr>
        <p:spPr>
          <a:xfrm>
            <a:off x="8741664" y="4553712"/>
            <a:ext cx="2615184"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Hides, and the text monitor lights up</a:t>
            </a:r>
            <a:endParaRPr lang="en-US" sz="1350" dirty="0"/>
          </a:p>
        </p:txBody>
      </p:sp>
      <p:sp>
        <p:nvSpPr>
          <p:cNvPr id="21" name="Text 19"/>
          <p:cNvSpPr txBox="1"/>
          <p:nvPr/>
        </p:nvSpPr>
        <p:spPr>
          <a:xfrm>
            <a:off x="8339328" y="5029200"/>
            <a:ext cx="3017520" cy="658368"/>
          </a:xfrm>
          <a:prstGeom prst="rect">
            <a:avLst/>
          </a:prstGeom>
          <a:noFill/>
          <a:ln/>
        </p:spPr>
        <p:txBody>
          <a:bodyPr wrap="square" lIns="0" tIns="0" rIns="0" bIns="0" rtlCol="0" anchor="ctr"/>
          <a:lstStyle/>
          <a:p>
            <a:pPr indent="0" marL="0">
              <a:lnSpc>
                <a:spcPct val="120000"/>
              </a:lnSpc>
              <a:buNone/>
            </a:pPr>
            <a:r>
              <a:rPr lang="en-US" sz="1150" dirty="0">
                <a:solidFill>
                  <a:srgbClr val="9DADBC"/>
                </a:solidFill>
              </a:rPr>
              <a:t>The probe pushed the attack somewhere a second defence can see it.</a:t>
            </a:r>
            <a:endParaRPr lang="en-US" sz="1150" dirty="0"/>
          </a:p>
        </p:txBody>
      </p:sp>
      <p:sp>
        <p:nvSpPr>
          <p:cNvPr id="22" name="cover-mark"/>
          <p:cNvSpPr/>
          <p:nvPr/>
        </p:nvSpPr>
        <p:spPr>
          <a:xfrm>
            <a:off x="566928" y="5961888"/>
            <a:ext cx="1371600" cy="25603"/>
          </a:xfrm>
          <a:prstGeom prst="rect">
            <a:avLst/>
          </a:prstGeom>
          <a:solidFill>
            <a:srgbClr val="E8873F"/>
          </a:solidFill>
          <a:ln w="12700">
            <a:solidFill>
              <a:srgbClr val="E8873F"/>
            </a:solidFill>
            <a:prstDash val="solid"/>
          </a:ln>
        </p:spPr>
      </p:sp>
      <p:sp>
        <p:nvSpPr>
          <p:cNvPr id="23" name="Text 21"/>
          <p:cNvSpPr txBox="1"/>
          <p:nvPr/>
        </p:nvSpPr>
        <p:spPr>
          <a:xfrm>
            <a:off x="566928" y="6108192"/>
            <a:ext cx="10607040" cy="256032"/>
          </a:xfrm>
          <a:prstGeom prst="rect">
            <a:avLst/>
          </a:prstGeom>
          <a:noFill/>
          <a:ln/>
        </p:spPr>
        <p:txBody>
          <a:bodyPr wrap="square" lIns="0" tIns="0" rIns="0" bIns="0" rtlCol="0" anchor="ctr"/>
          <a:lstStyle/>
          <a:p>
            <a:pPr indent="0" marL="0">
              <a:buNone/>
            </a:pPr>
            <a:r>
              <a:rPr lang="en-US" sz="1100" dirty="0">
                <a:solidFill>
                  <a:srgbClr val="7E8FA0"/>
                </a:solidFill>
              </a:rPr>
              <a:t>One run: mbpp, 300 problems, Qwen3.5-4B, reasoning off, greedy  ·  obsfucation-tax,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66928" y="457200"/>
            <a:ext cx="11057839" cy="237744"/>
          </a:xfrm>
          <a:prstGeom prst="rect">
            <a:avLst/>
          </a:prstGeom>
          <a:noFill/>
          <a:ln/>
        </p:spPr>
        <p:txBody>
          <a:bodyPr wrap="square" lIns="0" tIns="0" rIns="0" bIns="0" rtlCol="0" anchor="ctr"/>
          <a:lstStyle/>
          <a:p>
            <a:pPr indent="0" marL="0">
              <a:buNone/>
            </a:pPr>
            <a:r>
              <a:rPr lang="en-US" sz="1100" b="1" spc="160" kern="0" dirty="0">
                <a:solidFill>
                  <a:srgbClr val="C2541B"/>
                </a:solidFill>
              </a:rPr>
              <a:t>METHOD, END TO END</a:t>
            </a:r>
            <a:endParaRPr lang="en-US" sz="1100" dirty="0"/>
          </a:p>
        </p:txBody>
      </p:sp>
      <p:sp>
        <p:nvSpPr>
          <p:cNvPr id="3" name="Text 0"/>
          <p:cNvSpPr/>
          <p:nvPr>
            <p:ph idx="100" type="title" hasCustomPrompt="1"/>
          </p:nvPr>
        </p:nvSpPr>
        <p:spPr>
          <a:xfrm>
            <a:off x="566928" y="749808"/>
            <a:ext cx="11057839" cy="658368"/>
          </a:xfrm>
          <a:prstGeom prst="rect">
            <a:avLst/>
          </a:prstGeom>
          <a:noFill/>
          <a:ln/>
        </p:spPr>
        <p:txBody>
          <a:bodyPr wrap="square" rtlCol="0" anchor="t"/>
          <a:lstStyle/>
          <a:p>
            <a:pPr indent="0" marL="0">
              <a:buNone/>
            </a:pPr>
            <a:r>
              <a:rPr lang="en-US" sz="2800" b="1" dirty="0">
                <a:solidFill>
                  <a:srgbClr val="1A2230"/>
                </a:solidFill>
              </a:rPr>
              <a:t>How the measurement is built</a:t>
            </a:r>
            <a:endParaRPr lang="en-US" sz="2800" dirty="0"/>
          </a:p>
        </p:txBody>
      </p:sp>
      <p:sp>
        <p:nvSpPr>
          <p:cNvPr id="4" name="step-0"/>
          <p:cNvSpPr/>
          <p:nvPr/>
        </p:nvSpPr>
        <p:spPr>
          <a:xfrm>
            <a:off x="566928" y="1444752"/>
            <a:ext cx="3493008" cy="1481328"/>
          </a:xfrm>
          <a:prstGeom prst="roundRect">
            <a:avLst>
              <a:gd name="adj" fmla="val 4938"/>
            </a:avLst>
          </a:prstGeom>
          <a:solidFill>
            <a:srgbClr val="EEF1F4"/>
          </a:solidFill>
          <a:ln w="12700">
            <a:solidFill>
              <a:srgbClr val="EEF1F4"/>
            </a:solidFill>
            <a:prstDash val="solid"/>
          </a:ln>
        </p:spPr>
      </p:sp>
      <p:sp>
        <p:nvSpPr>
          <p:cNvPr id="5" name="badge-1"/>
          <p:cNvSpPr/>
          <p:nvPr/>
        </p:nvSpPr>
        <p:spPr>
          <a:xfrm>
            <a:off x="786384" y="1664208"/>
            <a:ext cx="329184" cy="329184"/>
          </a:xfrm>
          <a:prstGeom prst="ellipse">
            <a:avLst/>
          </a:prstGeom>
          <a:solidFill>
            <a:srgbClr val="1A2230"/>
          </a:solidFill>
          <a:ln w="12700">
            <a:solidFill>
              <a:srgbClr val="1A2230"/>
            </a:solidFill>
            <a:prstDash val="solid"/>
          </a:ln>
        </p:spPr>
      </p:sp>
      <p:sp>
        <p:nvSpPr>
          <p:cNvPr id="6" name="Text 4"/>
          <p:cNvSpPr txBox="1"/>
          <p:nvPr/>
        </p:nvSpPr>
        <p:spPr>
          <a:xfrm>
            <a:off x="786384" y="16642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07008" y="1645920"/>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300 mbpp problems</a:t>
            </a:r>
            <a:endParaRPr lang="en-US" sz="1400" dirty="0"/>
          </a:p>
        </p:txBody>
      </p:sp>
      <p:sp>
        <p:nvSpPr>
          <p:cNvPr id="8" name="Text 6"/>
          <p:cNvSpPr txBox="1"/>
          <p:nvPr/>
        </p:nvSpPr>
        <p:spPr>
          <a:xfrm>
            <a:off x="786384" y="2029968"/>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A natural-language spec with a visible test. Scoring runs the official tests in a subprocess, so the ground truth is executable and no second model judges it.</a:t>
            </a:r>
            <a:endParaRPr lang="en-US" sz="1150" dirty="0"/>
          </a:p>
        </p:txBody>
      </p:sp>
      <p:sp>
        <p:nvSpPr>
          <p:cNvPr id="9" name="step-1"/>
          <p:cNvSpPr/>
          <p:nvPr/>
        </p:nvSpPr>
        <p:spPr>
          <a:xfrm>
            <a:off x="4334256" y="1444752"/>
            <a:ext cx="3493008" cy="1481328"/>
          </a:xfrm>
          <a:prstGeom prst="roundRect">
            <a:avLst>
              <a:gd name="adj" fmla="val 4938"/>
            </a:avLst>
          </a:prstGeom>
          <a:solidFill>
            <a:srgbClr val="EEF1F4"/>
          </a:solidFill>
          <a:ln w="12700">
            <a:solidFill>
              <a:srgbClr val="EEF1F4"/>
            </a:solidFill>
            <a:prstDash val="solid"/>
          </a:ln>
        </p:spPr>
      </p:sp>
      <p:sp>
        <p:nvSpPr>
          <p:cNvPr id="10" name="badge-2"/>
          <p:cNvSpPr/>
          <p:nvPr/>
        </p:nvSpPr>
        <p:spPr>
          <a:xfrm>
            <a:off x="4553712" y="1664208"/>
            <a:ext cx="329184" cy="329184"/>
          </a:xfrm>
          <a:prstGeom prst="ellipse">
            <a:avLst/>
          </a:prstGeom>
          <a:solidFill>
            <a:srgbClr val="1A2230"/>
          </a:solidFill>
          <a:ln w="12700">
            <a:solidFill>
              <a:srgbClr val="1A2230"/>
            </a:solidFill>
            <a:prstDash val="solid"/>
          </a:ln>
        </p:spPr>
      </p:sp>
      <p:sp>
        <p:nvSpPr>
          <p:cNvPr id="11" name="Text 9"/>
          <p:cNvSpPr txBox="1"/>
          <p:nvPr/>
        </p:nvSpPr>
        <p:spPr>
          <a:xfrm>
            <a:off x="4553712" y="16642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4974336" y="1645920"/>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Two prompts per problem</a:t>
            </a:r>
            <a:endParaRPr lang="en-US" sz="1400" dirty="0"/>
          </a:p>
        </p:txBody>
      </p:sp>
      <p:sp>
        <p:nvSpPr>
          <p:cNvPr id="13" name="Text 11"/>
          <p:cNvSpPr txBox="1"/>
          <p:nvPr/>
        </p:nvSpPr>
        <p:spPr>
          <a:xfrm>
            <a:off x="4553712" y="2029968"/>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One honest, one sandbagging prompt asking for something subtly wrong that still reads as a sincere attempt.</a:t>
            </a:r>
            <a:endParaRPr lang="en-US" sz="1150" dirty="0"/>
          </a:p>
        </p:txBody>
      </p:sp>
      <p:sp>
        <p:nvSpPr>
          <p:cNvPr id="14" name="step-2"/>
          <p:cNvSpPr/>
          <p:nvPr/>
        </p:nvSpPr>
        <p:spPr>
          <a:xfrm>
            <a:off x="8101584" y="1444752"/>
            <a:ext cx="3493008" cy="1481328"/>
          </a:xfrm>
          <a:prstGeom prst="roundRect">
            <a:avLst>
              <a:gd name="adj" fmla="val 4938"/>
            </a:avLst>
          </a:prstGeom>
          <a:solidFill>
            <a:srgbClr val="EEF1F4"/>
          </a:solidFill>
          <a:ln w="12700">
            <a:solidFill>
              <a:srgbClr val="EEF1F4"/>
            </a:solidFill>
            <a:prstDash val="solid"/>
          </a:ln>
        </p:spPr>
      </p:sp>
      <p:sp>
        <p:nvSpPr>
          <p:cNvPr id="15" name="badge-3"/>
          <p:cNvSpPr/>
          <p:nvPr/>
        </p:nvSpPr>
        <p:spPr>
          <a:xfrm>
            <a:off x="8321040" y="1664208"/>
            <a:ext cx="329184" cy="329184"/>
          </a:xfrm>
          <a:prstGeom prst="ellipse">
            <a:avLst/>
          </a:prstGeom>
          <a:solidFill>
            <a:srgbClr val="1A2230"/>
          </a:solidFill>
          <a:ln w="12700">
            <a:solidFill>
              <a:srgbClr val="1A2230"/>
            </a:solidFill>
            <a:prstDash val="solid"/>
          </a:ln>
        </p:spPr>
      </p:sp>
      <p:sp>
        <p:nvSpPr>
          <p:cNvPr id="16" name="Text 14"/>
          <p:cNvSpPr txBox="1"/>
          <p:nvPr/>
        </p:nvSpPr>
        <p:spPr>
          <a:xfrm>
            <a:off x="8321040" y="16642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8741664" y="1645920"/>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An attack is a flip</a:t>
            </a:r>
            <a:endParaRPr lang="en-US" sz="1400" dirty="0"/>
          </a:p>
        </p:txBody>
      </p:sp>
      <p:sp>
        <p:nvSpPr>
          <p:cNvPr id="18" name="Text 16"/>
          <p:cNvSpPr txBox="1"/>
          <p:nvPr/>
        </p:nvSpPr>
        <p:spPr>
          <a:xfrm>
            <a:off x="8321040" y="2029968"/>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Right under the honest prompt and wrong under the sandbagging one, same problem. A validity flag keeps broken output out of the label.</a:t>
            </a:r>
            <a:endParaRPr lang="en-US" sz="1150" dirty="0"/>
          </a:p>
        </p:txBody>
      </p:sp>
      <p:sp>
        <p:nvSpPr>
          <p:cNvPr id="19" name="step-3"/>
          <p:cNvSpPr/>
          <p:nvPr/>
        </p:nvSpPr>
        <p:spPr>
          <a:xfrm>
            <a:off x="566928" y="3145536"/>
            <a:ext cx="3493008" cy="1481328"/>
          </a:xfrm>
          <a:prstGeom prst="roundRect">
            <a:avLst>
              <a:gd name="adj" fmla="val 4938"/>
            </a:avLst>
          </a:prstGeom>
          <a:solidFill>
            <a:srgbClr val="EEF1F4"/>
          </a:solidFill>
          <a:ln w="12700">
            <a:solidFill>
              <a:srgbClr val="EEF1F4"/>
            </a:solidFill>
            <a:prstDash val="solid"/>
          </a:ln>
        </p:spPr>
      </p:sp>
      <p:sp>
        <p:nvSpPr>
          <p:cNvPr id="20" name="badge-4"/>
          <p:cNvSpPr/>
          <p:nvPr/>
        </p:nvSpPr>
        <p:spPr>
          <a:xfrm>
            <a:off x="786384" y="3364992"/>
            <a:ext cx="329184" cy="329184"/>
          </a:xfrm>
          <a:prstGeom prst="ellipse">
            <a:avLst/>
          </a:prstGeom>
          <a:solidFill>
            <a:srgbClr val="2E6E8E"/>
          </a:solidFill>
          <a:ln w="12700">
            <a:solidFill>
              <a:srgbClr val="2E6E8E"/>
            </a:solidFill>
            <a:prstDash val="solid"/>
          </a:ln>
        </p:spPr>
      </p:sp>
      <p:sp>
        <p:nvSpPr>
          <p:cNvPr id="21" name="Text 19"/>
          <p:cNvSpPr txBox="1"/>
          <p:nvPr/>
        </p:nvSpPr>
        <p:spPr>
          <a:xfrm>
            <a:off x="786384" y="3364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1207008" y="3346704"/>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Probe at layer 20</a:t>
            </a:r>
            <a:endParaRPr lang="en-US" sz="1400" dirty="0"/>
          </a:p>
        </p:txBody>
      </p:sp>
      <p:sp>
        <p:nvSpPr>
          <p:cNvPr id="23" name="Text 21"/>
          <p:cNvSpPr txBox="1"/>
          <p:nvPr/>
        </p:nvSpPr>
        <p:spPr>
          <a:xfrm>
            <a:off x="786384" y="3730752"/>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Logistic regression on the residual stream, pooled over answer tokens only, split by problem so the same problem never lands in both folds.</a:t>
            </a:r>
            <a:endParaRPr lang="en-US" sz="1150" dirty="0"/>
          </a:p>
        </p:txBody>
      </p:sp>
      <p:sp>
        <p:nvSpPr>
          <p:cNvPr id="24" name="step-4"/>
          <p:cNvSpPr/>
          <p:nvPr/>
        </p:nvSpPr>
        <p:spPr>
          <a:xfrm>
            <a:off x="4334256" y="3145536"/>
            <a:ext cx="3493008" cy="1481328"/>
          </a:xfrm>
          <a:prstGeom prst="roundRect">
            <a:avLst>
              <a:gd name="adj" fmla="val 4938"/>
            </a:avLst>
          </a:prstGeom>
          <a:solidFill>
            <a:srgbClr val="EEF1F4"/>
          </a:solidFill>
          <a:ln w="12700">
            <a:solidFill>
              <a:srgbClr val="EEF1F4"/>
            </a:solidFill>
            <a:prstDash val="solid"/>
          </a:ln>
        </p:spPr>
      </p:sp>
      <p:sp>
        <p:nvSpPr>
          <p:cNvPr id="25" name="badge-5"/>
          <p:cNvSpPr/>
          <p:nvPr/>
        </p:nvSpPr>
        <p:spPr>
          <a:xfrm>
            <a:off x="4553712" y="3364992"/>
            <a:ext cx="329184" cy="329184"/>
          </a:xfrm>
          <a:prstGeom prst="ellipse">
            <a:avLst/>
          </a:prstGeom>
          <a:solidFill>
            <a:srgbClr val="2E6E8E"/>
          </a:solidFill>
          <a:ln w="12700">
            <a:solidFill>
              <a:srgbClr val="2E6E8E"/>
            </a:solidFill>
            <a:prstDash val="solid"/>
          </a:ln>
        </p:spPr>
      </p:sp>
      <p:sp>
        <p:nvSpPr>
          <p:cNvPr id="26" name="Text 24"/>
          <p:cNvSpPr txBox="1"/>
          <p:nvPr/>
        </p:nvSpPr>
        <p:spPr>
          <a:xfrm>
            <a:off x="4553712" y="3364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Text 25"/>
          <p:cNvSpPr txBox="1"/>
          <p:nvPr/>
        </p:nvSpPr>
        <p:spPr>
          <a:xfrm>
            <a:off x="4974336" y="3346704"/>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Steer during generation</a:t>
            </a:r>
            <a:endParaRPr lang="en-US" sz="1400" dirty="0"/>
          </a:p>
        </p:txBody>
      </p:sp>
      <p:sp>
        <p:nvSpPr>
          <p:cNvPr id="28" name="Text 26"/>
          <p:cNvSpPr txBox="1"/>
          <p:nvPr/>
        </p:nvSpPr>
        <p:spPr>
          <a:xfrm>
            <a:off x="4553712" y="3730752"/>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Subtract alpha times unit(w) at every answer position, with alpha as the dial. Features are re-read under the same hook that applies the shift.</a:t>
            </a:r>
            <a:endParaRPr lang="en-US" sz="1150" dirty="0"/>
          </a:p>
        </p:txBody>
      </p:sp>
      <p:sp>
        <p:nvSpPr>
          <p:cNvPr id="29" name="step-5"/>
          <p:cNvSpPr/>
          <p:nvPr/>
        </p:nvSpPr>
        <p:spPr>
          <a:xfrm>
            <a:off x="8101584" y="3145536"/>
            <a:ext cx="3493008" cy="1481328"/>
          </a:xfrm>
          <a:prstGeom prst="roundRect">
            <a:avLst>
              <a:gd name="adj" fmla="val 4938"/>
            </a:avLst>
          </a:prstGeom>
          <a:solidFill>
            <a:srgbClr val="EEF1F4"/>
          </a:solidFill>
          <a:ln w="12700">
            <a:solidFill>
              <a:srgbClr val="EEF1F4"/>
            </a:solidFill>
            <a:prstDash val="solid"/>
          </a:ln>
        </p:spPr>
      </p:sp>
      <p:sp>
        <p:nvSpPr>
          <p:cNvPr id="30" name="badge-6"/>
          <p:cNvSpPr/>
          <p:nvPr/>
        </p:nvSpPr>
        <p:spPr>
          <a:xfrm>
            <a:off x="8321040" y="3364992"/>
            <a:ext cx="329184" cy="329184"/>
          </a:xfrm>
          <a:prstGeom prst="ellipse">
            <a:avLst/>
          </a:prstGeom>
          <a:solidFill>
            <a:srgbClr val="2E6E8E"/>
          </a:solidFill>
          <a:ln w="12700">
            <a:solidFill>
              <a:srgbClr val="2E6E8E"/>
            </a:solidFill>
            <a:prstDash val="solid"/>
          </a:ln>
        </p:spPr>
      </p:sp>
      <p:sp>
        <p:nvSpPr>
          <p:cNvPr id="31" name="Text 29"/>
          <p:cNvSpPr txBox="1"/>
          <p:nvPr/>
        </p:nvSpPr>
        <p:spPr>
          <a:xfrm>
            <a:off x="8321040" y="3364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2" name="Text 30"/>
          <p:cNvSpPr txBox="1"/>
          <p:nvPr/>
        </p:nvSpPr>
        <p:spPr>
          <a:xfrm>
            <a:off x="8741664" y="3346704"/>
            <a:ext cx="2615184" cy="310896"/>
          </a:xfrm>
          <a:prstGeom prst="rect">
            <a:avLst/>
          </a:prstGeom>
          <a:noFill/>
          <a:ln/>
        </p:spPr>
        <p:txBody>
          <a:bodyPr wrap="square" lIns="0" tIns="0" rIns="0" bIns="0" rtlCol="0" anchor="ctr"/>
          <a:lstStyle/>
          <a:p>
            <a:pPr indent="0" marL="0">
              <a:buNone/>
            </a:pPr>
            <a:r>
              <a:rPr lang="en-US" sz="1400" b="1" dirty="0">
                <a:solidFill>
                  <a:srgbClr val="1A2230"/>
                </a:solidFill>
                <a:latin typeface="Cambria" pitchFamily="34" charset="0"/>
                <a:ea typeface="Cambria" pitchFamily="34" charset="-122"/>
                <a:cs typeface="Cambria" pitchFamily="34" charset="-120"/>
              </a:rPr>
              <a:t>Four columns per setting</a:t>
            </a:r>
            <a:endParaRPr lang="en-US" sz="1400" dirty="0"/>
          </a:p>
        </p:txBody>
      </p:sp>
      <p:sp>
        <p:nvSpPr>
          <p:cNvPr id="33" name="Text 31"/>
          <p:cNvSpPr txBox="1"/>
          <p:nvPr/>
        </p:nvSpPr>
        <p:spPr>
          <a:xfrm>
            <a:off x="8321040" y="3730752"/>
            <a:ext cx="3054096" cy="841248"/>
          </a:xfrm>
          <a:prstGeom prst="rect">
            <a:avLst/>
          </a:prstGeom>
          <a:noFill/>
          <a:ln/>
        </p:spPr>
        <p:txBody>
          <a:bodyPr wrap="square" lIns="0" tIns="0" rIns="0" bIns="0" rtlCol="0" anchor="ctr"/>
          <a:lstStyle/>
          <a:p>
            <a:pPr indent="0" marL="0">
              <a:lnSpc>
                <a:spcPct val="120000"/>
              </a:lnSpc>
              <a:buNone/>
            </a:pPr>
            <a:r>
              <a:rPr lang="en-US" sz="1150" dirty="0">
                <a:solidFill>
                  <a:srgbClr val="4A5663"/>
                </a:solidFill>
              </a:rPr>
              <a:t>The attacked probe, a transfer probe at layer 28 that is never steered, the accuracy drop, and a text-only monitor that sees the question and the answer.</a:t>
            </a:r>
            <a:endParaRPr lang="en-US" sz="1150" dirty="0"/>
          </a:p>
        </p:txBody>
      </p:sp>
      <p:sp>
        <p:nvSpPr>
          <p:cNvPr id="34" name="gates"/>
          <p:cNvSpPr/>
          <p:nvPr/>
        </p:nvSpPr>
        <p:spPr>
          <a:xfrm>
            <a:off x="566928" y="4773168"/>
            <a:ext cx="11057839" cy="749808"/>
          </a:xfrm>
          <a:prstGeom prst="roundRect">
            <a:avLst>
              <a:gd name="adj" fmla="val 9756"/>
            </a:avLst>
          </a:prstGeom>
          <a:solidFill>
            <a:srgbClr val="15202B"/>
          </a:solidFill>
          <a:ln w="12700">
            <a:solidFill>
              <a:srgbClr val="15202B"/>
            </a:solidFill>
            <a:prstDash val="solid"/>
          </a:ln>
        </p:spPr>
      </p:sp>
      <p:sp>
        <p:nvSpPr>
          <p:cNvPr id="35" name="Text 33"/>
          <p:cNvSpPr txBox="1"/>
          <p:nvPr/>
        </p:nvSpPr>
        <p:spPr>
          <a:xfrm>
            <a:off x="877824" y="4773168"/>
            <a:ext cx="10436047" cy="749808"/>
          </a:xfrm>
          <a:prstGeom prst="rect">
            <a:avLst/>
          </a:prstGeom>
          <a:noFill/>
          <a:ln/>
        </p:spPr>
        <p:txBody>
          <a:bodyPr wrap="square" lIns="0" tIns="0" rIns="0" bIns="0" rtlCol="0" anchor="ctr"/>
          <a:lstStyle/>
          <a:p>
            <a:pPr indent="0" marL="0">
              <a:buNone/>
            </a:pPr>
            <a:r>
              <a:rPr lang="en-US" sz="1400" dirty="0">
                <a:solidFill>
                  <a:srgbClr val="9DADBC"/>
                </a:solidFill>
              </a:rPr>
              <a:t>Gated before any steering runs:  </a:t>
            </a:r>
            <a:pPr indent="0" marL="0">
              <a:buNone/>
            </a:pPr>
            <a:r>
              <a:rPr lang="en-US" sz="1400" b="1" dirty="0">
                <a:solidFill>
                  <a:srgbClr val="FFFFFF"/>
                </a:solidFill>
              </a:rPr>
              <a:t>at least 40 successful attacks</a:t>
            </a:r>
            <a:pPr indent="0" marL="0">
              <a:buNone/>
            </a:pPr>
            <a:r>
              <a:rPr lang="en-US" sz="1400" dirty="0">
                <a:solidFill>
                  <a:srgbClr val="9DADBC"/>
                </a:solidFill>
              </a:rPr>
              <a:t>  and  </a:t>
            </a:r>
            <a:pPr indent="0" marL="0">
              <a:buNone/>
            </a:pPr>
            <a:r>
              <a:rPr lang="en-US" sz="1400" b="1" dirty="0">
                <a:solidFill>
                  <a:srgbClr val="FFFFFF"/>
                </a:solidFill>
              </a:rPr>
              <a:t>a headline AUROC above 0.65</a:t>
            </a:r>
            <a:endParaRPr lang="en-US" sz="1400" dirty="0"/>
          </a:p>
        </p:txBody>
      </p:sp>
      <p:sp>
        <p:nvSpPr>
          <p:cNvPr id="36" name="Text 34"/>
          <p:cNvSpPr txBox="1"/>
          <p:nvPr/>
        </p:nvSpPr>
        <p:spPr>
          <a:xfrm>
            <a:off x="566928" y="5687568"/>
            <a:ext cx="10607040" cy="512064"/>
          </a:xfrm>
          <a:prstGeom prst="rect">
            <a:avLst/>
          </a:prstGeom>
          <a:noFill/>
          <a:ln/>
        </p:spPr>
        <p:txBody>
          <a:bodyPr wrap="square" lIns="0" tIns="0" rIns="0" bIns="0" rtlCol="0" anchor="ctr"/>
          <a:lstStyle/>
          <a:p>
            <a:pPr indent="0" marL="0">
              <a:lnSpc>
                <a:spcPct val="120000"/>
              </a:lnSpc>
              <a:buNone/>
            </a:pPr>
            <a:r>
              <a:rPr lang="en-US" sz="1200" dirty="0">
                <a:solidFill>
                  <a:srgbClr val="4A5663"/>
                </a:solidFill>
              </a:rPr>
              <a:t>The transfer check varies the layer rather than the probe, because moving the read-out one layer is the cheap move for a defender, and Goldowsky-Dill et al. report recall collapsing two layers away while ordinary accuracy holds.</a:t>
            </a:r>
            <a:endParaRPr lang="en-US" sz="1200" dirty="0"/>
          </a:p>
        </p:txBody>
      </p:sp>
      <p:sp>
        <p:nvSpPr>
          <p:cNvPr id="37" name="source"/>
          <p:cNvSpPr txBox="1"/>
          <p:nvPr/>
        </p:nvSpPr>
        <p:spPr>
          <a:xfrm>
            <a:off x="566928" y="6382512"/>
            <a:ext cx="10607040" cy="256032"/>
          </a:xfrm>
          <a:prstGeom prst="rect">
            <a:avLst/>
          </a:prstGeom>
          <a:noFill/>
          <a:ln/>
        </p:spPr>
        <p:txBody>
          <a:bodyPr wrap="square" lIns="0" tIns="0" rIns="0" bIns="0" rtlCol="0" anchor="ctr"/>
          <a:lstStyle/>
          <a:p>
            <a:pPr indent="0" marL="0">
              <a:buNone/>
            </a:pPr>
            <a:r>
              <a:rPr lang="en-US" sz="1000" dirty="0">
                <a:solidFill>
                  <a:srgbClr val="6B7A88"/>
                </a:solidFill>
              </a:rPr>
              <a:t>Qwen/Qwen3.5-4B, reasoning off, greedy. A reasoning trace costs 68.5 s per generation, which is 11.4 hours for one pass, so this run has none.</a:t>
            </a:r>
            <a:endParaRPr lang="en-US" sz="1000" dirty="0"/>
          </a:p>
        </p:txBody>
      </p:sp>
      <p:sp>
        <p:nvSpPr>
          <p:cNvPr id="25" name="Slide Number Placeholder 0"/>
          <p:cNvSpPr>
            <a:spLocks noGrp="1"/>
          </p:cNvSpPr>
          <p:nvPr>
            <p:ph type="sldNum" sz="quarter" idx="4294967295"/>
          </p:nvPr>
        </p:nvSpPr>
        <p:spPr>
          <a:xfrm>
            <a:off x="1152144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8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66928" y="457200"/>
            <a:ext cx="11057839" cy="237744"/>
          </a:xfrm>
          <a:prstGeom prst="rect">
            <a:avLst/>
          </a:prstGeom>
          <a:noFill/>
          <a:ln/>
        </p:spPr>
        <p:txBody>
          <a:bodyPr wrap="square" lIns="0" tIns="0" rIns="0" bIns="0" rtlCol="0" anchor="ctr"/>
          <a:lstStyle/>
          <a:p>
            <a:pPr indent="0" marL="0">
              <a:buNone/>
            </a:pPr>
            <a:r>
              <a:rPr lang="en-US" sz="1100" b="1" spc="160" kern="0" dirty="0">
                <a:solidFill>
                  <a:srgbClr val="C2541B"/>
                </a:solidFill>
              </a:rPr>
              <a:t>PRECONDITIONS AND CONTROLS</a:t>
            </a:r>
            <a:endParaRPr lang="en-US" sz="1100" dirty="0"/>
          </a:p>
        </p:txBody>
      </p:sp>
      <p:sp>
        <p:nvSpPr>
          <p:cNvPr id="3" name="Text 0"/>
          <p:cNvSpPr/>
          <p:nvPr>
            <p:ph idx="100" type="title" hasCustomPrompt="1"/>
          </p:nvPr>
        </p:nvSpPr>
        <p:spPr>
          <a:xfrm>
            <a:off x="566928" y="749808"/>
            <a:ext cx="11057839" cy="658368"/>
          </a:xfrm>
          <a:prstGeom prst="rect">
            <a:avLst/>
          </a:prstGeom>
          <a:noFill/>
          <a:ln/>
        </p:spPr>
        <p:txBody>
          <a:bodyPr wrap="square" rtlCol="0" anchor="t"/>
          <a:lstStyle/>
          <a:p>
            <a:pPr indent="0" marL="0">
              <a:buNone/>
            </a:pPr>
            <a:r>
              <a:rPr lang="en-US" sz="2800" b="1" dirty="0">
                <a:solidFill>
                  <a:srgbClr val="1A2230"/>
                </a:solidFill>
              </a:rPr>
              <a:t>What the probe turned out to be reading</a:t>
            </a:r>
            <a:endParaRPr lang="en-US" sz="2800" dirty="0"/>
          </a:p>
        </p:txBody>
      </p:sp>
      <p:sp>
        <p:nvSpPr>
          <p:cNvPr id="4" name="pre-0"/>
          <p:cNvSpPr/>
          <p:nvPr/>
        </p:nvSpPr>
        <p:spPr>
          <a:xfrm>
            <a:off x="566928" y="1444752"/>
            <a:ext cx="2066544" cy="1335024"/>
          </a:xfrm>
          <a:prstGeom prst="roundRect">
            <a:avLst>
              <a:gd name="adj" fmla="val 5479"/>
            </a:avLst>
          </a:prstGeom>
          <a:solidFill>
            <a:srgbClr val="EEF1F4"/>
          </a:solidFill>
          <a:ln w="12700">
            <a:solidFill>
              <a:srgbClr val="EEF1F4"/>
            </a:solidFill>
            <a:prstDash val="solid"/>
          </a:ln>
        </p:spPr>
      </p:sp>
      <p:sp>
        <p:nvSpPr>
          <p:cNvPr id="5" name="stat-accuracy drop under the sandbagging prompt, 48.7% to 44.0%"/>
          <p:cNvSpPr txBox="1"/>
          <p:nvPr/>
        </p:nvSpPr>
        <p:spPr>
          <a:xfrm>
            <a:off x="768096" y="1609344"/>
            <a:ext cx="1664208" cy="566928"/>
          </a:xfrm>
          <a:prstGeom prst="rect">
            <a:avLst/>
          </a:prstGeom>
          <a:noFill/>
          <a:ln/>
        </p:spPr>
        <p:txBody>
          <a:bodyPr wrap="square" lIns="0" tIns="0" rIns="0" bIns="0" rtlCol="0" anchor="ctr"/>
          <a:lstStyle/>
          <a:p>
            <a:pPr indent="0" marL="0">
              <a:buNone/>
            </a:pPr>
            <a:r>
              <a:rPr lang="en-US" sz="2100" b="1" dirty="0">
                <a:solidFill>
                  <a:srgbClr val="1A2230"/>
                </a:solidFill>
                <a:latin typeface="Cambria" pitchFamily="34" charset="0"/>
                <a:ea typeface="Cambria" pitchFamily="34" charset="-122"/>
                <a:cs typeface="Cambria" pitchFamily="34" charset="-120"/>
              </a:rPr>
              <a:t>4.67 pts</a:t>
            </a:r>
            <a:endParaRPr lang="en-US" sz="2100" dirty="0"/>
          </a:p>
        </p:txBody>
      </p:sp>
      <p:sp>
        <p:nvSpPr>
          <p:cNvPr id="6" name="Text 4"/>
          <p:cNvSpPr txBox="1"/>
          <p:nvPr/>
        </p:nvSpPr>
        <p:spPr>
          <a:xfrm>
            <a:off x="768096" y="2194560"/>
            <a:ext cx="1664208" cy="512064"/>
          </a:xfrm>
          <a:prstGeom prst="rect">
            <a:avLst/>
          </a:prstGeom>
          <a:noFill/>
          <a:ln/>
        </p:spPr>
        <p:txBody>
          <a:bodyPr wrap="square" lIns="0" tIns="0" rIns="0" bIns="0" rtlCol="0" anchor="ctr"/>
          <a:lstStyle/>
          <a:p>
            <a:pPr indent="0" marL="0">
              <a:buNone/>
            </a:pPr>
            <a:r>
              <a:rPr lang="en-US" sz="1100" dirty="0">
                <a:solidFill>
                  <a:srgbClr val="4A5663"/>
                </a:solidFill>
              </a:rPr>
              <a:t>accuracy drop under the sandbagging prompt, 48.7% to 44.0%</a:t>
            </a:r>
            <a:endParaRPr lang="en-US" sz="1100" dirty="0"/>
          </a:p>
        </p:txBody>
      </p:sp>
      <p:sp>
        <p:nvSpPr>
          <p:cNvPr id="7" name="pre-1"/>
          <p:cNvSpPr/>
          <p:nvPr/>
        </p:nvSpPr>
        <p:spPr>
          <a:xfrm>
            <a:off x="2807208" y="1444752"/>
            <a:ext cx="2066544" cy="1335024"/>
          </a:xfrm>
          <a:prstGeom prst="roundRect">
            <a:avLst>
              <a:gd name="adj" fmla="val 5479"/>
            </a:avLst>
          </a:prstGeom>
          <a:solidFill>
            <a:srgbClr val="EEF1F4"/>
          </a:solidFill>
          <a:ln w="12700">
            <a:solidFill>
              <a:srgbClr val="EEF1F4"/>
            </a:solidFill>
            <a:prstDash val="solid"/>
          </a:ln>
        </p:spPr>
      </p:sp>
      <p:sp>
        <p:nvSpPr>
          <p:cNvPr id="8" name="stat-McNemar on the paired flips"/>
          <p:cNvSpPr txBox="1"/>
          <p:nvPr/>
        </p:nvSpPr>
        <p:spPr>
          <a:xfrm>
            <a:off x="3008376" y="1609344"/>
            <a:ext cx="1664208" cy="566928"/>
          </a:xfrm>
          <a:prstGeom prst="rect">
            <a:avLst/>
          </a:prstGeom>
          <a:noFill/>
          <a:ln/>
        </p:spPr>
        <p:txBody>
          <a:bodyPr wrap="square" lIns="0" tIns="0" rIns="0" bIns="0" rtlCol="0" anchor="ctr"/>
          <a:lstStyle/>
          <a:p>
            <a:pPr indent="0" marL="0">
              <a:buNone/>
            </a:pPr>
            <a:r>
              <a:rPr lang="en-US" sz="2100" b="1" dirty="0">
                <a:solidFill>
                  <a:srgbClr val="1A2230"/>
                </a:solidFill>
                <a:latin typeface="Cambria" pitchFamily="34" charset="0"/>
                <a:ea typeface="Cambria" pitchFamily="34" charset="-122"/>
                <a:cs typeface="Cambria" pitchFamily="34" charset="-120"/>
              </a:rPr>
              <a:t>p = 0.092</a:t>
            </a:r>
            <a:endParaRPr lang="en-US" sz="2100" dirty="0"/>
          </a:p>
        </p:txBody>
      </p:sp>
      <p:sp>
        <p:nvSpPr>
          <p:cNvPr id="9" name="Text 7"/>
          <p:cNvSpPr txBox="1"/>
          <p:nvPr/>
        </p:nvSpPr>
        <p:spPr>
          <a:xfrm>
            <a:off x="3008376" y="2194560"/>
            <a:ext cx="1664208" cy="512064"/>
          </a:xfrm>
          <a:prstGeom prst="rect">
            <a:avLst/>
          </a:prstGeom>
          <a:noFill/>
          <a:ln/>
        </p:spPr>
        <p:txBody>
          <a:bodyPr wrap="square" lIns="0" tIns="0" rIns="0" bIns="0" rtlCol="0" anchor="ctr"/>
          <a:lstStyle/>
          <a:p>
            <a:pPr indent="0" marL="0">
              <a:buNone/>
            </a:pPr>
            <a:r>
              <a:rPr lang="en-US" sz="1100" dirty="0">
                <a:solidFill>
                  <a:srgbClr val="4A5663"/>
                </a:solidFill>
              </a:rPr>
              <a:t>McNemar on the paired flips</a:t>
            </a:r>
            <a:endParaRPr lang="en-US" sz="1100" dirty="0"/>
          </a:p>
        </p:txBody>
      </p:sp>
      <p:sp>
        <p:nvSpPr>
          <p:cNvPr id="10" name="pre-2"/>
          <p:cNvSpPr/>
          <p:nvPr/>
        </p:nvSpPr>
        <p:spPr>
          <a:xfrm>
            <a:off x="5047488" y="1444752"/>
            <a:ext cx="2066544" cy="1335024"/>
          </a:xfrm>
          <a:prstGeom prst="roundRect">
            <a:avLst>
              <a:gd name="adj" fmla="val 5479"/>
            </a:avLst>
          </a:prstGeom>
          <a:solidFill>
            <a:srgbClr val="EEF1F4"/>
          </a:solidFill>
          <a:ln w="12700">
            <a:solidFill>
              <a:srgbClr val="EEF1F4"/>
            </a:solidFill>
            <a:prstDash val="solid"/>
          </a:ln>
        </p:spPr>
      </p:sp>
      <p:sp>
        <p:nvSpPr>
          <p:cNvPr id="11" name="stat-answerable problems of 300"/>
          <p:cNvSpPr txBox="1"/>
          <p:nvPr/>
        </p:nvSpPr>
        <p:spPr>
          <a:xfrm>
            <a:off x="5248656" y="1609344"/>
            <a:ext cx="1664208" cy="566928"/>
          </a:xfrm>
          <a:prstGeom prst="rect">
            <a:avLst/>
          </a:prstGeom>
          <a:noFill/>
          <a:ln/>
        </p:spPr>
        <p:txBody>
          <a:bodyPr wrap="square" lIns="0" tIns="0" rIns="0" bIns="0" rtlCol="0" anchor="ctr"/>
          <a:lstStyle/>
          <a:p>
            <a:pPr indent="0" marL="0">
              <a:buNone/>
            </a:pPr>
            <a:r>
              <a:rPr lang="en-US" sz="2100" b="1" dirty="0">
                <a:solidFill>
                  <a:srgbClr val="1A2230"/>
                </a:solidFill>
                <a:latin typeface="Cambria" pitchFamily="34" charset="0"/>
                <a:ea typeface="Cambria" pitchFamily="34" charset="-122"/>
                <a:cs typeface="Cambria" pitchFamily="34" charset="-120"/>
              </a:rPr>
              <a:t>146</a:t>
            </a:r>
            <a:endParaRPr lang="en-US" sz="2100" dirty="0"/>
          </a:p>
        </p:txBody>
      </p:sp>
      <p:sp>
        <p:nvSpPr>
          <p:cNvPr id="12" name="Text 10"/>
          <p:cNvSpPr txBox="1"/>
          <p:nvPr/>
        </p:nvSpPr>
        <p:spPr>
          <a:xfrm>
            <a:off x="5248656" y="2194560"/>
            <a:ext cx="1664208" cy="512064"/>
          </a:xfrm>
          <a:prstGeom prst="rect">
            <a:avLst/>
          </a:prstGeom>
          <a:noFill/>
          <a:ln/>
        </p:spPr>
        <p:txBody>
          <a:bodyPr wrap="square" lIns="0" tIns="0" rIns="0" bIns="0" rtlCol="0" anchor="ctr"/>
          <a:lstStyle/>
          <a:p>
            <a:pPr indent="0" marL="0">
              <a:buNone/>
            </a:pPr>
            <a:r>
              <a:rPr lang="en-US" sz="1100" dirty="0">
                <a:solidFill>
                  <a:srgbClr val="4A5663"/>
                </a:solidFill>
              </a:rPr>
              <a:t>answerable problems of 300</a:t>
            </a:r>
            <a:endParaRPr lang="en-US" sz="1100" dirty="0"/>
          </a:p>
        </p:txBody>
      </p:sp>
      <p:sp>
        <p:nvSpPr>
          <p:cNvPr id="13" name="pre-3"/>
          <p:cNvSpPr/>
          <p:nvPr/>
        </p:nvSpPr>
        <p:spPr>
          <a:xfrm>
            <a:off x="7287768" y="1444752"/>
            <a:ext cx="2066544" cy="1335024"/>
          </a:xfrm>
          <a:prstGeom prst="roundRect">
            <a:avLst>
              <a:gd name="adj" fmla="val 5479"/>
            </a:avLst>
          </a:prstGeom>
          <a:solidFill>
            <a:srgbClr val="EEF1F4"/>
          </a:solidFill>
          <a:ln w="12700">
            <a:solidFill>
              <a:srgbClr val="EEF1F4"/>
            </a:solidFill>
            <a:prstDash val="solid"/>
          </a:ln>
        </p:spPr>
      </p:sp>
      <p:sp>
        <p:nvSpPr>
          <p:cNvPr id="14" name="stat-attack rate on answerable"/>
          <p:cNvSpPr txBox="1"/>
          <p:nvPr/>
        </p:nvSpPr>
        <p:spPr>
          <a:xfrm>
            <a:off x="7488936" y="1609344"/>
            <a:ext cx="1664208" cy="566928"/>
          </a:xfrm>
          <a:prstGeom prst="rect">
            <a:avLst/>
          </a:prstGeom>
          <a:noFill/>
          <a:ln/>
        </p:spPr>
        <p:txBody>
          <a:bodyPr wrap="square" lIns="0" tIns="0" rIns="0" bIns="0" rtlCol="0" anchor="ctr"/>
          <a:lstStyle/>
          <a:p>
            <a:pPr indent="0" marL="0">
              <a:buNone/>
            </a:pPr>
            <a:r>
              <a:rPr lang="en-US" sz="2100" b="1" dirty="0">
                <a:solidFill>
                  <a:srgbClr val="1A2230"/>
                </a:solidFill>
                <a:latin typeface="Cambria" pitchFamily="34" charset="0"/>
                <a:ea typeface="Cambria" pitchFamily="34" charset="-122"/>
                <a:cs typeface="Cambria" pitchFamily="34" charset="-120"/>
              </a:rPr>
              <a:t>25.3%</a:t>
            </a:r>
            <a:endParaRPr lang="en-US" sz="2100" dirty="0"/>
          </a:p>
        </p:txBody>
      </p:sp>
      <p:sp>
        <p:nvSpPr>
          <p:cNvPr id="15" name="Text 13"/>
          <p:cNvSpPr txBox="1"/>
          <p:nvPr/>
        </p:nvSpPr>
        <p:spPr>
          <a:xfrm>
            <a:off x="7488936" y="2194560"/>
            <a:ext cx="1664208" cy="512064"/>
          </a:xfrm>
          <a:prstGeom prst="rect">
            <a:avLst/>
          </a:prstGeom>
          <a:noFill/>
          <a:ln/>
        </p:spPr>
        <p:txBody>
          <a:bodyPr wrap="square" lIns="0" tIns="0" rIns="0" bIns="0" rtlCol="0" anchor="ctr"/>
          <a:lstStyle/>
          <a:p>
            <a:pPr indent="0" marL="0">
              <a:buNone/>
            </a:pPr>
            <a:r>
              <a:rPr lang="en-US" sz="1100" dirty="0">
                <a:solidFill>
                  <a:srgbClr val="4A5663"/>
                </a:solidFill>
              </a:rPr>
              <a:t>attack rate on answerable</a:t>
            </a:r>
            <a:endParaRPr lang="en-US" sz="1100" dirty="0"/>
          </a:p>
        </p:txBody>
      </p:sp>
      <p:sp>
        <p:nvSpPr>
          <p:cNvPr id="16" name="pre-4"/>
          <p:cNvSpPr/>
          <p:nvPr/>
        </p:nvSpPr>
        <p:spPr>
          <a:xfrm>
            <a:off x="9528048" y="1444752"/>
            <a:ext cx="2066544" cy="1335024"/>
          </a:xfrm>
          <a:prstGeom prst="roundRect">
            <a:avLst>
              <a:gd name="adj" fmla="val 5479"/>
            </a:avLst>
          </a:prstGeom>
          <a:solidFill>
            <a:srgbClr val="F7E9E1"/>
          </a:solidFill>
          <a:ln w="12700">
            <a:solidFill>
              <a:srgbClr val="F7E9E1"/>
            </a:solidFill>
            <a:prstDash val="solid"/>
          </a:ln>
        </p:spPr>
      </p:sp>
      <p:sp>
        <p:nvSpPr>
          <p:cNvPr id="17" name="stat-attacks against the gate minimum"/>
          <p:cNvSpPr txBox="1"/>
          <p:nvPr/>
        </p:nvSpPr>
        <p:spPr>
          <a:xfrm>
            <a:off x="9729216" y="1609344"/>
            <a:ext cx="1664208" cy="566928"/>
          </a:xfrm>
          <a:prstGeom prst="rect">
            <a:avLst/>
          </a:prstGeom>
          <a:noFill/>
          <a:ln/>
        </p:spPr>
        <p:txBody>
          <a:bodyPr wrap="square" lIns="0" tIns="0" rIns="0" bIns="0" rtlCol="0" anchor="ctr"/>
          <a:lstStyle/>
          <a:p>
            <a:pPr indent="0" marL="0">
              <a:buNone/>
            </a:pPr>
            <a:r>
              <a:rPr lang="en-US" sz="2100" b="1" dirty="0">
                <a:solidFill>
                  <a:srgbClr val="C2541B"/>
                </a:solidFill>
                <a:latin typeface="Cambria" pitchFamily="34" charset="0"/>
                <a:ea typeface="Cambria" pitchFamily="34" charset="-122"/>
                <a:cs typeface="Cambria" pitchFamily="34" charset="-120"/>
              </a:rPr>
              <a:t>37 of 40</a:t>
            </a:r>
            <a:endParaRPr lang="en-US" sz="2100" dirty="0"/>
          </a:p>
        </p:txBody>
      </p:sp>
      <p:sp>
        <p:nvSpPr>
          <p:cNvPr id="18" name="Text 16"/>
          <p:cNvSpPr txBox="1"/>
          <p:nvPr/>
        </p:nvSpPr>
        <p:spPr>
          <a:xfrm>
            <a:off x="9729216" y="2194560"/>
            <a:ext cx="1664208" cy="512064"/>
          </a:xfrm>
          <a:prstGeom prst="rect">
            <a:avLst/>
          </a:prstGeom>
          <a:noFill/>
          <a:ln/>
        </p:spPr>
        <p:txBody>
          <a:bodyPr wrap="square" lIns="0" tIns="0" rIns="0" bIns="0" rtlCol="0" anchor="ctr"/>
          <a:lstStyle/>
          <a:p>
            <a:pPr indent="0" marL="0">
              <a:buNone/>
            </a:pPr>
            <a:r>
              <a:rPr lang="en-US" sz="1100" dirty="0">
                <a:solidFill>
                  <a:srgbClr val="4A5663"/>
                </a:solidFill>
              </a:rPr>
              <a:t>attacks against the gate minimum</a:t>
            </a:r>
            <a:endParaRPr lang="en-US" sz="1100" dirty="0"/>
          </a:p>
        </p:txBody>
      </p:sp>
      <p:graphicFrame>
        <p:nvGraphicFramePr>
          <p:cNvPr id="4" name="controls-table"/>
          <p:cNvGraphicFramePr>
            <a:graphicFrameLocks noGrp="1"/>
          </p:cNvGraphicFramePr>
          <p:nvPr>
            <p:extLst>
              <p:ext uri="{D42A27DB-BD31-4B8C-83A1-F6EECF244321}">
                <p14:modId xmlns:p14="http://schemas.microsoft.com/office/powerpoint/2010/main" val="1579011935"/>
              </p:ext>
            </p:extLst>
          </p:nvPr>
        </p:nvGraphicFramePr>
        <p:xfrm>
          <a:off x="566928" y="2944368"/>
          <a:ext cx="6035040" cy="914400"/>
        </p:xfrm>
        <a:graphic>
          <a:graphicData uri="http://schemas.openxmlformats.org/drawingml/2006/table">
            <a:tbl>
              <a:tblPr/>
              <a:tblGrid>
                <a:gridCol w="2834640"/>
                <a:gridCol w="1097280"/>
                <a:gridCol w="1188720"/>
                <a:gridCol w="914400"/>
              </a:tblGrid>
              <a:tr h="310896">
                <a:tc>
                  <a:txBody>
                    <a:bodyPr/>
                    <a:lstStyle/>
                    <a:p>
                      <a:pPr indent="0" marL="0">
                        <a:buNone/>
                      </a:pPr>
                      <a:r>
                        <a:rPr lang="en-US" sz="1100" b="1" dirty="0">
                          <a:solidFill>
                            <a:srgbClr val="6B7A88"/>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indent="0" marL="0">
                        <a:buNone/>
                      </a:pPr>
                      <a:r>
                        <a:rPr lang="en-US" sz="1100" b="1" dirty="0">
                          <a:solidFill>
                            <a:srgbClr val="6B7A88"/>
                          </a:solidFill>
                          <a:latin typeface="Calibri" pitchFamily="34" charset="0"/>
                          <a:ea typeface="Calibri" pitchFamily="34" charset="-122"/>
                          <a:cs typeface="Calibri" pitchFamily="34" charset="-120"/>
                        </a:rPr>
                        <a:t>AUROC</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indent="0" marL="0">
                        <a:buNone/>
                      </a:pPr>
                      <a:r>
                        <a:rPr lang="en-US" sz="1100" b="1" dirty="0">
                          <a:solidFill>
                            <a:srgbClr val="6B7A88"/>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indent="0" marL="0">
                        <a:buNone/>
                      </a:pPr>
                      <a:r>
                        <a:rPr lang="en-US" sz="1100" b="1" dirty="0">
                          <a:solidFill>
                            <a:srgbClr val="6B7A88"/>
                          </a:solidFill>
                          <a:latin typeface="Calibri" pitchFamily="34" charset="0"/>
                          <a:ea typeface="Calibri" pitchFamily="34" charset="-122"/>
                          <a:cs typeface="Calibri" pitchFamily="34" charset="-120"/>
                        </a:rPr>
                        <a:t>Wanted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Headline: honest-correct vs attack</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b="1"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146 / 37</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6B7A88"/>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10896">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Text only</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0.774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183</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6B7A88"/>
                          </a:solidFill>
                          <a:latin typeface="Calibri" pitchFamily="34" charset="0"/>
                          <a:ea typeface="Calibri" pitchFamily="34" charset="-122"/>
                          <a:cs typeface="Calibri" pitchFamily="34" charset="-120"/>
                        </a:rPr>
                        <a:t>near 0.5</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10896">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Answer length alone</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0.672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146 / 35</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6B7A88"/>
                          </a:solidFill>
                          <a:latin typeface="Calibri" pitchFamily="34" charset="0"/>
                          <a:ea typeface="Calibri" pitchFamily="34" charset="-122"/>
                          <a:cs typeface="Calibri" pitchFamily="34" charset="-120"/>
                        </a:rPr>
                        <a:t>near 0.5</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10896">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Prompt, not behaviour</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b="1" dirty="0">
                          <a:solidFill>
                            <a:srgbClr val="C2541B"/>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146 / 109</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6B7A88"/>
                          </a:solidFill>
                          <a:latin typeface="Calibri" pitchFamily="34" charset="0"/>
                          <a:ea typeface="Calibri" pitchFamily="34" charset="-122"/>
                          <a:cs typeface="Calibri" pitchFamily="34" charset="-120"/>
                        </a:rPr>
                        <a:t>near 0.5</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10896">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Wrongness, not intent</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0.789</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1A2230"/>
                          </a:solidFill>
                          <a:latin typeface="Calibri" pitchFamily="34" charset="0"/>
                          <a:ea typeface="Calibri" pitchFamily="34" charset="-122"/>
                          <a:cs typeface="Calibri" pitchFamily="34" charset="-120"/>
                        </a:rPr>
                        <a:t>146 / 154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indent="0" marL="0">
                        <a:buNone/>
                      </a:pPr>
                      <a:r>
                        <a:rPr lang="en-US" sz="1300" dirty="0">
                          <a:solidFill>
                            <a:srgbClr val="6B7A88"/>
                          </a:solidFill>
                          <a:latin typeface="Calibri" pitchFamily="34" charset="0"/>
                          <a:ea typeface="Calibri" pitchFamily="34" charset="-122"/>
                          <a:cs typeface="Calibri" pitchFamily="34" charset="-120"/>
                        </a:rPr>
                        <a:t>near 0.5</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bl>
          </a:graphicData>
        </a:graphic>
      </p:graphicFrame>
      <p:sp>
        <p:nvSpPr>
          <p:cNvPr id="20" name="means"/>
          <p:cNvSpPr/>
          <p:nvPr/>
        </p:nvSpPr>
        <p:spPr>
          <a:xfrm>
            <a:off x="6967728" y="2944368"/>
            <a:ext cx="4654296" cy="1865376"/>
          </a:xfrm>
          <a:prstGeom prst="roundRect">
            <a:avLst>
              <a:gd name="adj" fmla="val 3922"/>
            </a:avLst>
          </a:prstGeom>
          <a:solidFill>
            <a:srgbClr val="EEF1F4"/>
          </a:solidFill>
          <a:ln w="12700">
            <a:solidFill>
              <a:srgbClr val="EEF1F4"/>
            </a:solidFill>
            <a:prstDash val="solid"/>
          </a:ln>
        </p:spPr>
      </p:sp>
      <p:sp>
        <p:nvSpPr>
          <p:cNvPr id="21" name="Text 18"/>
          <p:cNvSpPr txBox="1"/>
          <p:nvPr/>
        </p:nvSpPr>
        <p:spPr>
          <a:xfrm>
            <a:off x="7242048" y="3108960"/>
            <a:ext cx="4114800" cy="256032"/>
          </a:xfrm>
          <a:prstGeom prst="rect">
            <a:avLst/>
          </a:prstGeom>
          <a:noFill/>
          <a:ln/>
        </p:spPr>
        <p:txBody>
          <a:bodyPr wrap="square" lIns="0" tIns="0" rIns="0" bIns="0" rtlCol="0" anchor="ctr"/>
          <a:lstStyle/>
          <a:p>
            <a:pPr indent="0" marL="0">
              <a:buNone/>
            </a:pPr>
            <a:r>
              <a:rPr lang="en-US" sz="1200" b="1" dirty="0">
                <a:solidFill>
                  <a:srgbClr val="6B7A88"/>
                </a:solidFill>
              </a:rPr>
              <a:t>Group means at layer 20</a:t>
            </a:r>
            <a:endParaRPr lang="en-US" sz="1200" dirty="0"/>
          </a:p>
        </p:txBody>
      </p:sp>
      <p:sp>
        <p:nvSpPr>
          <p:cNvPr id="22" name="Text 19"/>
          <p:cNvSpPr txBox="1"/>
          <p:nvPr/>
        </p:nvSpPr>
        <p:spPr>
          <a:xfrm>
            <a:off x="7242048" y="3438144"/>
            <a:ext cx="3017520" cy="274320"/>
          </a:xfrm>
          <a:prstGeom prst="rect">
            <a:avLst/>
          </a:prstGeom>
          <a:noFill/>
          <a:ln/>
        </p:spPr>
        <p:txBody>
          <a:bodyPr wrap="square" lIns="0" tIns="0" rIns="0" bIns="0" rtlCol="0" anchor="ctr"/>
          <a:lstStyle/>
          <a:p>
            <a:pPr indent="0" marL="0">
              <a:buNone/>
            </a:pPr>
            <a:r>
              <a:rPr lang="en-US" sz="1200" dirty="0">
                <a:solidFill>
                  <a:srgbClr val="4A5663"/>
                </a:solidFill>
              </a:rPr>
              <a:t>attack</a:t>
            </a:r>
            <a:endParaRPr lang="en-US" sz="1200" dirty="0"/>
          </a:p>
        </p:txBody>
      </p:sp>
      <p:sp>
        <p:nvSpPr>
          <p:cNvPr id="23" name="Text 20"/>
          <p:cNvSpPr txBox="1"/>
          <p:nvPr/>
        </p:nvSpPr>
        <p:spPr>
          <a:xfrm>
            <a:off x="10259568" y="3438144"/>
            <a:ext cx="1005840" cy="274320"/>
          </a:xfrm>
          <a:prstGeom prst="rect">
            <a:avLst/>
          </a:prstGeom>
          <a:noFill/>
          <a:ln/>
        </p:spPr>
        <p:txBody>
          <a:bodyPr wrap="square" lIns="0" tIns="0" rIns="0" bIns="0" rtlCol="0" anchor="ctr"/>
          <a:lstStyle/>
          <a:p>
            <a:pPr algn="r" indent="0" marL="0">
              <a:buNone/>
            </a:pPr>
            <a:r>
              <a:rPr lang="en-US" sz="1300" b="1" dirty="0">
                <a:solidFill>
                  <a:srgbClr val="C2541B"/>
                </a:solidFill>
              </a:rPr>
              <a:t>+7.92</a:t>
            </a:r>
            <a:endParaRPr lang="en-US" sz="1300" dirty="0"/>
          </a:p>
        </p:txBody>
      </p:sp>
      <p:sp>
        <p:nvSpPr>
          <p:cNvPr id="24" name="Text 21"/>
          <p:cNvSpPr txBox="1"/>
          <p:nvPr/>
        </p:nvSpPr>
        <p:spPr>
          <a:xfrm>
            <a:off x="7242048" y="3758184"/>
            <a:ext cx="3017520" cy="274320"/>
          </a:xfrm>
          <a:prstGeom prst="rect">
            <a:avLst/>
          </a:prstGeom>
          <a:noFill/>
          <a:ln/>
        </p:spPr>
        <p:txBody>
          <a:bodyPr wrap="square" lIns="0" tIns="0" rIns="0" bIns="0" rtlCol="0" anchor="ctr"/>
          <a:lstStyle/>
          <a:p>
            <a:pPr indent="0" marL="0">
              <a:buNone/>
            </a:pPr>
            <a:r>
              <a:rPr lang="en-US" sz="1200" dirty="0">
                <a:solidFill>
                  <a:srgbClr val="4A5663"/>
                </a:solidFill>
              </a:rPr>
              <a:t>sandbag-prompted, still correct</a:t>
            </a:r>
            <a:endParaRPr lang="en-US" sz="1200" dirty="0"/>
          </a:p>
        </p:txBody>
      </p:sp>
      <p:sp>
        <p:nvSpPr>
          <p:cNvPr id="25" name="Text 22"/>
          <p:cNvSpPr txBox="1"/>
          <p:nvPr/>
        </p:nvSpPr>
        <p:spPr>
          <a:xfrm>
            <a:off x="10259568" y="3758184"/>
            <a:ext cx="1005840" cy="274320"/>
          </a:xfrm>
          <a:prstGeom prst="rect">
            <a:avLst/>
          </a:prstGeom>
          <a:noFill/>
          <a:ln/>
        </p:spPr>
        <p:txBody>
          <a:bodyPr wrap="square" lIns="0" tIns="0" rIns="0" bIns="0" rtlCol="0" anchor="ctr"/>
          <a:lstStyle/>
          <a:p>
            <a:pPr algn="r" indent="0" marL="0">
              <a:buNone/>
            </a:pPr>
            <a:r>
              <a:rPr lang="en-US" sz="1300" b="1" dirty="0">
                <a:solidFill>
                  <a:srgbClr val="C2541B"/>
                </a:solidFill>
              </a:rPr>
              <a:t>+7.74</a:t>
            </a:r>
            <a:endParaRPr lang="en-US" sz="1300" dirty="0"/>
          </a:p>
        </p:txBody>
      </p:sp>
      <p:sp>
        <p:nvSpPr>
          <p:cNvPr id="26" name="Text 23"/>
          <p:cNvSpPr txBox="1"/>
          <p:nvPr/>
        </p:nvSpPr>
        <p:spPr>
          <a:xfrm>
            <a:off x="7242048" y="4078224"/>
            <a:ext cx="3017520" cy="274320"/>
          </a:xfrm>
          <a:prstGeom prst="rect">
            <a:avLst/>
          </a:prstGeom>
          <a:noFill/>
          <a:ln/>
        </p:spPr>
        <p:txBody>
          <a:bodyPr wrap="square" lIns="0" tIns="0" rIns="0" bIns="0" rtlCol="0" anchor="ctr"/>
          <a:lstStyle/>
          <a:p>
            <a:pPr indent="0" marL="0">
              <a:buNone/>
            </a:pPr>
            <a:r>
              <a:rPr lang="en-US" sz="1200" dirty="0">
                <a:solidFill>
                  <a:srgbClr val="4A5663"/>
                </a:solidFill>
              </a:rPr>
              <a:t>honest, correct</a:t>
            </a:r>
            <a:endParaRPr lang="en-US" sz="1200" dirty="0"/>
          </a:p>
        </p:txBody>
      </p:sp>
      <p:sp>
        <p:nvSpPr>
          <p:cNvPr id="27" name="Text 24"/>
          <p:cNvSpPr txBox="1"/>
          <p:nvPr/>
        </p:nvSpPr>
        <p:spPr>
          <a:xfrm>
            <a:off x="10259568" y="4078224"/>
            <a:ext cx="1005840" cy="274320"/>
          </a:xfrm>
          <a:prstGeom prst="rect">
            <a:avLst/>
          </a:prstGeom>
          <a:noFill/>
          <a:ln/>
        </p:spPr>
        <p:txBody>
          <a:bodyPr wrap="square" lIns="0" tIns="0" rIns="0" bIns="0" rtlCol="0" anchor="ctr"/>
          <a:lstStyle/>
          <a:p>
            <a:pPr algn="r" indent="0" marL="0">
              <a:buNone/>
            </a:pPr>
            <a:r>
              <a:rPr lang="en-US" sz="1300" b="1" dirty="0">
                <a:solidFill>
                  <a:srgbClr val="2E6E8E"/>
                </a:solidFill>
              </a:rPr>
              <a:t>−7.71</a:t>
            </a:r>
            <a:endParaRPr lang="en-US" sz="1300" dirty="0"/>
          </a:p>
        </p:txBody>
      </p:sp>
      <p:sp>
        <p:nvSpPr>
          <p:cNvPr id="28" name="Text 25"/>
          <p:cNvSpPr txBox="1"/>
          <p:nvPr/>
        </p:nvSpPr>
        <p:spPr>
          <a:xfrm>
            <a:off x="7242048" y="4398264"/>
            <a:ext cx="3017520" cy="274320"/>
          </a:xfrm>
          <a:prstGeom prst="rect">
            <a:avLst/>
          </a:prstGeom>
          <a:noFill/>
          <a:ln/>
        </p:spPr>
        <p:txBody>
          <a:bodyPr wrap="square" lIns="0" tIns="0" rIns="0" bIns="0" rtlCol="0" anchor="ctr"/>
          <a:lstStyle/>
          <a:p>
            <a:pPr indent="0" marL="0">
              <a:buNone/>
            </a:pPr>
            <a:r>
              <a:rPr lang="en-US" sz="1200" dirty="0">
                <a:solidFill>
                  <a:srgbClr val="4A5663"/>
                </a:solidFill>
              </a:rPr>
              <a:t>honest, wrong</a:t>
            </a:r>
            <a:endParaRPr lang="en-US" sz="1200" dirty="0"/>
          </a:p>
        </p:txBody>
      </p:sp>
      <p:sp>
        <p:nvSpPr>
          <p:cNvPr id="29" name="Text 26"/>
          <p:cNvSpPr txBox="1"/>
          <p:nvPr/>
        </p:nvSpPr>
        <p:spPr>
          <a:xfrm>
            <a:off x="10259568" y="4398264"/>
            <a:ext cx="1005840" cy="274320"/>
          </a:xfrm>
          <a:prstGeom prst="rect">
            <a:avLst/>
          </a:prstGeom>
          <a:noFill/>
          <a:ln/>
        </p:spPr>
        <p:txBody>
          <a:bodyPr wrap="square" lIns="0" tIns="0" rIns="0" bIns="0" rtlCol="0" anchor="ctr"/>
          <a:lstStyle/>
          <a:p>
            <a:pPr algn="r" indent="0" marL="0">
              <a:buNone/>
            </a:pPr>
            <a:r>
              <a:rPr lang="en-US" sz="1300" b="1" dirty="0">
                <a:solidFill>
                  <a:srgbClr val="2E6E8E"/>
                </a:solidFill>
              </a:rPr>
              <a:t>−5.41</a:t>
            </a:r>
            <a:endParaRPr lang="en-US" sz="1300" dirty="0"/>
          </a:p>
        </p:txBody>
      </p:sp>
      <p:sp>
        <p:nvSpPr>
          <p:cNvPr id="30" name="verdict-controls"/>
          <p:cNvSpPr/>
          <p:nvPr/>
        </p:nvSpPr>
        <p:spPr>
          <a:xfrm>
            <a:off x="566928" y="4882896"/>
            <a:ext cx="11057839" cy="1408176"/>
          </a:xfrm>
          <a:prstGeom prst="roundRect">
            <a:avLst>
              <a:gd name="adj" fmla="val 5195"/>
            </a:avLst>
          </a:prstGeom>
          <a:solidFill>
            <a:srgbClr val="15202B"/>
          </a:solidFill>
          <a:ln w="12700">
            <a:solidFill>
              <a:srgbClr val="15202B"/>
            </a:solidFill>
            <a:prstDash val="solid"/>
          </a:ln>
        </p:spPr>
      </p:sp>
      <p:sp>
        <p:nvSpPr>
          <p:cNvPr id="31" name="Text 28"/>
          <p:cNvSpPr txBox="1"/>
          <p:nvPr/>
        </p:nvSpPr>
        <p:spPr>
          <a:xfrm>
            <a:off x="896112" y="5010912"/>
            <a:ext cx="10399471"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probe tells the two prompts apart and cannot see the sabotage</a:t>
            </a:r>
            <a:endParaRPr lang="en-US" sz="1800" dirty="0"/>
          </a:p>
        </p:txBody>
      </p:sp>
      <p:sp>
        <p:nvSpPr>
          <p:cNvPr id="32" name="Text 29"/>
          <p:cNvSpPr txBox="1"/>
          <p:nvPr/>
        </p:nvSpPr>
        <p:spPr>
          <a:xfrm>
            <a:off x="896112" y="5394960"/>
            <a:ext cx="10399471" cy="859536"/>
          </a:xfrm>
          <a:prstGeom prst="rect">
            <a:avLst/>
          </a:prstGeom>
          <a:noFill/>
          <a:ln/>
        </p:spPr>
        <p:txBody>
          <a:bodyPr wrap="square" lIns="0" tIns="0" rIns="0" bIns="0" rtlCol="0" anchor="ctr"/>
          <a:lstStyle/>
          <a:p>
            <a:pPr indent="0" marL="0">
              <a:lnSpc>
                <a:spcPct val="116000"/>
              </a:lnSpc>
              <a:buNone/>
            </a:pPr>
            <a:r>
              <a:rPr lang="en-US" sz="1150" dirty="0">
                <a:solidFill>
                  <a:srgbClr val="9DADBC"/>
                </a:solidFill>
              </a:rPr>
              <a:t>An attack and a sandbag-prompted answer that came out correct sit 0.18 apart on a scale spanning 15.6. Hold the prompt constant and the headline cell falls from 1.000 to 0.644, against a shuffled-label null that reaches 0.634; answer length does much of the rest, scoring 0.672 across prompts and 0.516 within. The across-prompt grid reads 1.000 at every layer and every pooling, so it cannot say which layer to attack either. Both warnings went in the log and we carried on, because the headline was 1.000 and the attack machinery was built.</a:t>
            </a:r>
            <a:endParaRPr lang="en-US" sz="1150" dirty="0"/>
          </a:p>
        </p:txBody>
      </p:sp>
      <p:sp>
        <p:nvSpPr>
          <p:cNvPr id="33" name="source"/>
          <p:cNvSpPr txBox="1"/>
          <p:nvPr/>
        </p:nvSpPr>
        <p:spPr>
          <a:xfrm>
            <a:off x="566928" y="6382512"/>
            <a:ext cx="10607040" cy="256032"/>
          </a:xfrm>
          <a:prstGeom prst="rect">
            <a:avLst/>
          </a:prstGeom>
          <a:noFill/>
          <a:ln/>
        </p:spPr>
        <p:txBody>
          <a:bodyPr wrap="square" lIns="0" tIns="0" rIns="0" bIns="0" rtlCol="0" anchor="ctr"/>
          <a:lstStyle/>
          <a:p>
            <a:pPr indent="0" marL="0">
              <a:buNone/>
            </a:pPr>
            <a:r>
              <a:rPr lang="en-US" sz="1000" dirty="0">
                <a:solidFill>
                  <a:srgbClr val="6B7A88"/>
                </a:solidFill>
              </a:rPr>
              <a:t>Mean answer tokens: honest-correct 43.8, sabotaged 59.1, instruction ignored 57.1, and mean pooling sees length. Source: results/pre_qwen35_4b_thinking_off_summary.json</a:t>
            </a:r>
            <a:endParaRPr lang="en-US" sz="1000" dirty="0"/>
          </a:p>
        </p:txBody>
      </p:sp>
      <p:sp>
        <p:nvSpPr>
          <p:cNvPr id="25" name="Slide Number Placeholder 0"/>
          <p:cNvSpPr>
            <a:spLocks noGrp="1"/>
          </p:cNvSpPr>
          <p:nvPr>
            <p:ph type="sldNum" sz="quarter" idx="4294967295"/>
          </p:nvPr>
        </p:nvSpPr>
        <p:spPr>
          <a:xfrm>
            <a:off x="1152144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8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66928" y="457200"/>
            <a:ext cx="11057839" cy="237744"/>
          </a:xfrm>
          <a:prstGeom prst="rect">
            <a:avLst/>
          </a:prstGeom>
          <a:noFill/>
          <a:ln/>
        </p:spPr>
        <p:txBody>
          <a:bodyPr wrap="square" lIns="0" tIns="0" rIns="0" bIns="0" rtlCol="0" anchor="ctr"/>
          <a:lstStyle/>
          <a:p>
            <a:pPr indent="0" marL="0">
              <a:buNone/>
            </a:pPr>
            <a:r>
              <a:rPr lang="en-US" sz="1100" b="1" spc="160" kern="0" dirty="0">
                <a:solidFill>
                  <a:srgbClr val="C2541B"/>
                </a:solidFill>
              </a:rPr>
              <a:t>THE SWEEP</a:t>
            </a:r>
            <a:endParaRPr lang="en-US" sz="1100" dirty="0"/>
          </a:p>
        </p:txBody>
      </p:sp>
      <p:sp>
        <p:nvSpPr>
          <p:cNvPr id="3" name="Text 0"/>
          <p:cNvSpPr/>
          <p:nvPr>
            <p:ph idx="100" type="title" hasCustomPrompt="1"/>
          </p:nvPr>
        </p:nvSpPr>
        <p:spPr>
          <a:xfrm>
            <a:off x="566928" y="749808"/>
            <a:ext cx="11057839" cy="658368"/>
          </a:xfrm>
          <a:prstGeom prst="rect">
            <a:avLst/>
          </a:prstGeom>
          <a:noFill/>
          <a:ln/>
        </p:spPr>
        <p:txBody>
          <a:bodyPr wrap="square" rtlCol="0" anchor="t"/>
          <a:lstStyle/>
          <a:p>
            <a:pPr indent="0" marL="0">
              <a:buNone/>
            </a:pPr>
            <a:r>
              <a:rPr lang="en-US" sz="2800" b="1" dirty="0">
                <a:solidFill>
                  <a:srgbClr val="1A2230"/>
                </a:solidFill>
              </a:rPr>
              <a:t>The attack ran, and the probe column was arithmetic</a:t>
            </a:r>
            <a:endParaRPr lang="en-US" sz="2800" dirty="0"/>
          </a:p>
        </p:txBody>
      </p:sp>
      <p:graphicFrame>
        <p:nvGraphicFramePr>
          <p:cNvPr id="5" name="sweep-table"/>
          <p:cNvGraphicFramePr>
            <a:graphicFrameLocks noGrp="1"/>
          </p:cNvGraphicFramePr>
          <p:nvPr>
            <p:extLst>
              <p:ext uri="{D42A27DB-BD31-4B8C-83A1-F6EECF244321}">
                <p14:modId xmlns:p14="http://schemas.microsoft.com/office/powerpoint/2010/main" val="1579011935"/>
              </p:ext>
            </p:extLst>
          </p:nvPr>
        </p:nvGraphicFramePr>
        <p:xfrm>
          <a:off x="566928" y="1426464"/>
          <a:ext cx="11057839" cy="914400"/>
        </p:xfrm>
        <a:graphic>
          <a:graphicData uri="http://schemas.openxmlformats.org/drawingml/2006/table">
            <a:tbl>
              <a:tblPr/>
              <a:tblGrid>
                <a:gridCol w="1005840"/>
                <a:gridCol w="1691640"/>
                <a:gridCol w="1783080"/>
                <a:gridCol w="1965960"/>
                <a:gridCol w="1463040"/>
                <a:gridCol w="1316736"/>
                <a:gridCol w="1828800"/>
              </a:tblGrid>
              <a:tr h="347472">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alpha</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probe L20</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transfer L28</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accuracy drop</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monitor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valid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88"/>
                          </a:solidFill>
                          <a:latin typeface="Calibri" pitchFamily="34" charset="0"/>
                          <a:ea typeface="Calibri" pitchFamily="34" charset="-122"/>
                          <a:cs typeface="Calibri" pitchFamily="34" charset="-120"/>
                        </a:rPr>
                        <a:t>mean probe score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0.129</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6B7A88"/>
                          </a:solidFill>
                          <a:latin typeface="Calibri" pitchFamily="34" charset="0"/>
                          <a:ea typeface="Calibri" pitchFamily="34" charset="-122"/>
                          <a:cs typeface="Calibri" pitchFamily="34" charset="-120"/>
                        </a:rPr>
                        <a:t>+8.04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47472">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0.288</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0.129</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6B7A88"/>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47472">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b="1" dirty="0">
                          <a:solidFill>
                            <a:srgbClr val="C2541B"/>
                          </a:solidFill>
                          <a:latin typeface="Calibri" pitchFamily="34" charset="0"/>
                          <a:ea typeface="Calibri" pitchFamily="34" charset="-122"/>
                          <a:cs typeface="Calibri" pitchFamily="34" charset="-120"/>
                        </a:rPr>
                        <a:t>0.572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0.993</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0.342</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0.131</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6B7A88"/>
                          </a:solidFill>
                          <a:latin typeface="Calibri" pitchFamily="34" charset="0"/>
                          <a:ea typeface="Calibri" pitchFamily="34" charset="-122"/>
                          <a:cs typeface="Calibri" pitchFamily="34" charset="-120"/>
                        </a:rPr>
                        <a:t>−6.16</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47472">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b="1" dirty="0">
                          <a:solidFill>
                            <a:srgbClr val="C2541B"/>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0.718</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0.117</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6B7A88"/>
                          </a:solidFill>
                          <a:latin typeface="Calibri" pitchFamily="34" charset="0"/>
                          <a:ea typeface="Calibri" pitchFamily="34" charset="-122"/>
                          <a:cs typeface="Calibri" pitchFamily="34" charset="-120"/>
                        </a:rPr>
                        <a:t>−20.14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r h="347472">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b="1" dirty="0">
                          <a:solidFill>
                            <a:srgbClr val="C2541B"/>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0.126</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1A22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c>
                  <a:txBody>
                    <a:bodyPr/>
                    <a:lstStyle/>
                    <a:p>
                      <a:pPr algn="l" indent="0" marL="0">
                        <a:buNone/>
                      </a:pPr>
                      <a:r>
                        <a:rPr lang="en-US" sz="1300" dirty="0">
                          <a:solidFill>
                            <a:srgbClr val="6B7A88"/>
                          </a:solidFill>
                          <a:latin typeface="Calibri" pitchFamily="34" charset="0"/>
                          <a:ea typeface="Calibri" pitchFamily="34" charset="-122"/>
                          <a:cs typeface="Calibri" pitchFamily="34" charset="-120"/>
                        </a:rPr>
                        <a:t>−48.60</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6350" cap="flat" cmpd="sng" algn="ctr">
                      <a:solidFill>
                        <a:srgbClr val="D7DEE4"/>
                      </a:solidFill>
                      <a:prstDash val="solid"/>
                      <a:round/>
                      <a:headEnd type="none" w="med" len="med"/>
                      <a:tailEnd type="none" w="med" len="med"/>
                    </a:lnB>
                  </a:tcPr>
                </a:tc>
              </a:tr>
            </a:tbl>
          </a:graphicData>
        </a:graphic>
      </p:graphicFrame>
      <p:sp>
        <p:nvSpPr>
          <p:cNvPr id="5" name="Text 2"/>
          <p:cNvSpPr txBox="1"/>
          <p:nvPr/>
        </p:nvSpPr>
        <p:spPr>
          <a:xfrm>
            <a:off x="566928" y="3584448"/>
            <a:ext cx="11057839" cy="402336"/>
          </a:xfrm>
          <a:prstGeom prst="rect">
            <a:avLst/>
          </a:prstGeom>
          <a:noFill/>
          <a:ln/>
        </p:spPr>
        <p:txBody>
          <a:bodyPr wrap="square" lIns="0" tIns="0" rIns="0" bIns="0" rtlCol="0" anchor="ctr"/>
          <a:lstStyle/>
          <a:p>
            <a:pPr indent="0" marL="0">
              <a:buNone/>
            </a:pPr>
            <a:r>
              <a:rPr lang="en-US" sz="1250" dirty="0">
                <a:solidFill>
                  <a:srgbClr val="4A5663"/>
                </a:solidFill>
              </a:rPr>
              <a:t>Read at face value that is outcome 1, and we read it that way for about ten minutes: detection gone, the accuracy drop holding between 0.27 and 0.34, the monitor flat, nothing broken.</a:t>
            </a:r>
            <a:endParaRPr lang="en-US" sz="1250" dirty="0"/>
          </a:p>
        </p:txBody>
      </p:sp>
      <p:sp>
        <p:nvSpPr>
          <p:cNvPr id="6" name="arithmetic"/>
          <p:cNvSpPr/>
          <p:nvPr/>
        </p:nvSpPr>
        <p:spPr>
          <a:xfrm>
            <a:off x="566928" y="4023360"/>
            <a:ext cx="5385816" cy="2139696"/>
          </a:xfrm>
          <a:prstGeom prst="roundRect">
            <a:avLst>
              <a:gd name="adj" fmla="val 3419"/>
            </a:avLst>
          </a:prstGeom>
          <a:solidFill>
            <a:srgbClr val="15202B"/>
          </a:solidFill>
          <a:ln w="12700">
            <a:solidFill>
              <a:srgbClr val="15202B"/>
            </a:solidFill>
            <a:prstDash val="solid"/>
          </a:ln>
        </p:spPr>
      </p:sp>
      <p:sp>
        <p:nvSpPr>
          <p:cNvPr id="7" name="Text 4"/>
          <p:cNvSpPr txBox="1"/>
          <p:nvPr/>
        </p:nvSpPr>
        <p:spPr>
          <a:xfrm>
            <a:off x="859536" y="4169664"/>
            <a:ext cx="4754880" cy="256032"/>
          </a:xfrm>
          <a:prstGeom prst="rect">
            <a:avLst/>
          </a:prstGeom>
          <a:noFill/>
          <a:ln/>
        </p:spPr>
        <p:txBody>
          <a:bodyPr wrap="square" lIns="0" tIns="0" rIns="0" bIns="0" rtlCol="0" anchor="ctr"/>
          <a:lstStyle/>
          <a:p>
            <a:pPr indent="0" marL="0">
              <a:buNone/>
            </a:pPr>
            <a:r>
              <a:rPr lang="en-US" sz="1200" b="1" dirty="0">
                <a:solidFill>
                  <a:srgbClr val="9DADBC"/>
                </a:solidFill>
              </a:rPr>
              <a:t>Where it came apart</a:t>
            </a:r>
            <a:endParaRPr lang="en-US" sz="1200" dirty="0"/>
          </a:p>
        </p:txBody>
      </p:sp>
      <p:sp>
        <p:nvSpPr>
          <p:cNvPr id="8" name="Text 5"/>
          <p:cNvSpPr txBox="1"/>
          <p:nvPr/>
        </p:nvSpPr>
        <p:spPr>
          <a:xfrm>
            <a:off x="859536" y="4462272"/>
            <a:ext cx="4800600" cy="1645920"/>
          </a:xfrm>
          <a:prstGeom prst="rect">
            <a:avLst/>
          </a:prstGeom>
          <a:noFill/>
          <a:ln/>
        </p:spPr>
        <p:txBody>
          <a:bodyPr wrap="square" lIns="0" tIns="0" rIns="0" bIns="0" rtlCol="0" anchor="ctr"/>
          <a:lstStyle/>
          <a:p>
            <a:pPr indent="0" marL="0">
              <a:lnSpc>
                <a:spcPct val="116000"/>
              </a:lnSpc>
              <a:buNone/>
            </a:pPr>
            <a:r>
              <a:rPr lang="en-US" sz="2600" b="1" dirty="0">
                <a:solidFill>
                  <a:srgbClr val="E8873F"/>
                </a:solidFill>
                <a:latin typeface="Cambria" pitchFamily="34" charset="0"/>
                <a:ea typeface="Cambria" pitchFamily="34" charset="-122"/>
                <a:cs typeface="Cambria" pitchFamily="34" charset="-120"/>
              </a:rPr>
              <a:t>6.9907</a:t>
            </a:r>
            <a:pPr indent="0" marL="0">
              <a:lnSpc>
                <a:spcPct val="116000"/>
              </a:lnSpc>
              <a:buNone/>
            </a:pPr>
            <a:r>
              <a:rPr lang="en-US" sz="1250" dirty="0">
                <a:solidFill>
                  <a:srgbClr val="E7ECF1"/>
                </a:solidFill>
              </a:rPr>
              <a:t>  units of probe score per alpha, predicted.
</a:t>
            </a:r>
            <a:pPr indent="0" marL="0">
              <a:lnSpc>
                <a:spcPct val="116000"/>
              </a:lnSpc>
              <a:buNone/>
            </a:pPr>
            <a:endParaRPr lang="en-US" sz="2600" dirty="0"/>
          </a:p>
          <a:p>
            <a:pPr indent="0" marL="0">
              <a:lnSpc>
                <a:spcPct val="116000"/>
              </a:lnSpc>
              <a:buNone/>
            </a:pPr>
            <a:r>
              <a:rPr lang="en-US" sz="1100" dirty="0">
                <a:solidFill>
                  <a:srgbClr val="9DADBC"/>
                </a:solidFill>
              </a:rPr>
              <a:t>A logistic regression is affine in its input, so subtracting the direction moves the score by a known amount. The run delivers 7.019 to 7.100 per alpha, a residual under 1.6% of the shift we imposed. Only that residual reflects the model responding, so the whole AUROC column was computable before a token was generated. We spent a GPU pass measuring a subtraction.</a:t>
            </a:r>
            <a:endParaRPr lang="en-US" sz="2600" dirty="0"/>
          </a:p>
        </p:txBody>
      </p:sp>
      <p:sp>
        <p:nvSpPr>
          <p:cNvPr id="9" name="twosided"/>
          <p:cNvSpPr/>
          <p:nvPr/>
        </p:nvSpPr>
        <p:spPr>
          <a:xfrm>
            <a:off x="6236208" y="4023360"/>
            <a:ext cx="5385816" cy="2139696"/>
          </a:xfrm>
          <a:prstGeom prst="roundRect">
            <a:avLst>
              <a:gd name="adj" fmla="val 3419"/>
            </a:avLst>
          </a:prstGeom>
          <a:solidFill>
            <a:srgbClr val="EEF1F4"/>
          </a:solidFill>
          <a:ln w="12700">
            <a:solidFill>
              <a:srgbClr val="EEF1F4"/>
            </a:solidFill>
            <a:prstDash val="solid"/>
          </a:ln>
        </p:spPr>
      </p:sp>
      <p:sp>
        <p:nvSpPr>
          <p:cNvPr id="10" name="Text 7"/>
          <p:cNvSpPr txBox="1"/>
          <p:nvPr/>
        </p:nvSpPr>
        <p:spPr>
          <a:xfrm>
            <a:off x="6528816" y="4169664"/>
            <a:ext cx="4754880" cy="256032"/>
          </a:xfrm>
          <a:prstGeom prst="rect">
            <a:avLst/>
          </a:prstGeom>
          <a:noFill/>
          <a:ln/>
        </p:spPr>
        <p:txBody>
          <a:bodyPr wrap="square" lIns="0" tIns="0" rIns="0" bIns="0" rtlCol="0" anchor="ctr"/>
          <a:lstStyle/>
          <a:p>
            <a:pPr indent="0" marL="0">
              <a:buNone/>
            </a:pPr>
            <a:r>
              <a:rPr lang="en-US" sz="1200" b="1" dirty="0">
                <a:solidFill>
                  <a:srgbClr val="6B7A88"/>
                </a:solidFill>
              </a:rPr>
              <a:t>And what a defender actually reads</a:t>
            </a:r>
            <a:endParaRPr lang="en-US" sz="1200" dirty="0"/>
          </a:p>
        </p:txBody>
      </p:sp>
      <p:sp>
        <p:nvSpPr>
          <p:cNvPr id="11" name="Text 8"/>
          <p:cNvSpPr txBox="1"/>
          <p:nvPr/>
        </p:nvSpPr>
        <p:spPr>
          <a:xfrm>
            <a:off x="6528816" y="4462272"/>
            <a:ext cx="4800600" cy="1645920"/>
          </a:xfrm>
          <a:prstGeom prst="rect">
            <a:avLst/>
          </a:prstGeom>
          <a:noFill/>
          <a:ln/>
        </p:spPr>
        <p:txBody>
          <a:bodyPr wrap="square" lIns="0" tIns="0" rIns="0" bIns="0" rtlCol="0" anchor="ctr"/>
          <a:lstStyle/>
          <a:p>
            <a:pPr indent="0" marL="0">
              <a:lnSpc>
                <a:spcPct val="118000"/>
              </a:lnSpc>
              <a:buNone/>
            </a:pPr>
            <a:r>
              <a:rPr lang="en-US" sz="1250" b="1" dirty="0">
                <a:solidFill>
                  <a:srgbClr val="1A2230"/>
                </a:solidFill>
              </a:rPr>
              <a:t>0.000 is the dial overshooting. </a:t>
            </a:r>
            <a:pPr indent="0" marL="0">
              <a:lnSpc>
                <a:spcPct val="118000"/>
              </a:lnSpc>
              <a:buNone/>
            </a:pPr>
            <a:r>
              <a:rPr lang="en-US" sz="1250" dirty="0">
                <a:solidFill>
                  <a:srgbClr val="4A5663"/>
                </a:solidFill>
              </a:rPr>
              <a:t>Below 0.5 the two classes are still perfectly separable with the sign reversed, so a threshold on distance from the honest median scores 1.000 again at alpha 4 and 8. One setting hides: </a:t>
            </a:r>
            <a:pPr indent="0" marL="0">
              <a:lnSpc>
                <a:spcPct val="118000"/>
              </a:lnSpc>
              <a:buNone/>
            </a:pPr>
            <a:r>
              <a:rPr lang="en-US" sz="1250" dirty="0">
                <a:solidFill>
                  <a:srgbClr val="C2541B"/>
                </a:solidFill>
              </a:rPr>
              <a:t>alpha 2, at 0.604 two-sided, CI [0.48, 0.74] on 25 attacks, where TPR at 1% FPR drops to 0.08. </a:t>
            </a:r>
            <a:pPr indent="0" marL="0">
              <a:lnSpc>
                <a:spcPct val="118000"/>
              </a:lnSpc>
              <a:buNone/>
            </a:pPr>
            <a:r>
              <a:rPr lang="en-US" sz="1250" dirty="0">
                <a:solidFill>
                  <a:srgbClr val="4A5663"/>
                </a:solidFill>
              </a:rPr>
              <a:t>The probe geometry puts the informative window at alpha 0.94 to 3.22, and the grid 0, 1, 2, 4, 8 put two of its five points inside it.</a:t>
            </a:r>
            <a:endParaRPr lang="en-US" sz="1250" dirty="0"/>
          </a:p>
        </p:txBody>
      </p:sp>
      <p:sp>
        <p:nvSpPr>
          <p:cNvPr id="12" name="source"/>
          <p:cNvSpPr txBox="1"/>
          <p:nvPr/>
        </p:nvSpPr>
        <p:spPr>
          <a:xfrm>
            <a:off x="566928" y="6382512"/>
            <a:ext cx="10607040" cy="256032"/>
          </a:xfrm>
          <a:prstGeom prst="rect">
            <a:avLst/>
          </a:prstGeom>
          <a:noFill/>
          <a:ln/>
        </p:spPr>
        <p:txBody>
          <a:bodyPr wrap="square" lIns="0" tIns="0" rIns="0" bIns="0" rtlCol="0" anchor="ctr"/>
          <a:lstStyle/>
          <a:p>
            <a:pPr indent="0" marL="0">
              <a:buNone/>
            </a:pPr>
            <a:r>
              <a:rPr lang="en-US" sz="1000" dirty="0">
                <a:solidFill>
                  <a:srgbClr val="6B7A88"/>
                </a:solidFill>
              </a:rPr>
              <a:t>Derived from results/attack_qwen35_4b_thinking_off_mbpp_feats.npz against the refit probe. Intervals: stratified bootstrap, 2000 resamples.</a:t>
            </a:r>
            <a:endParaRPr lang="en-US" sz="1000" dirty="0"/>
          </a:p>
        </p:txBody>
      </p:sp>
      <p:sp>
        <p:nvSpPr>
          <p:cNvPr id="25" name="Slide Number Placeholder 0"/>
          <p:cNvSpPr>
            <a:spLocks noGrp="1"/>
          </p:cNvSpPr>
          <p:nvPr>
            <p:ph type="sldNum" sz="quarter" idx="4294967295"/>
          </p:nvPr>
        </p:nvSpPr>
        <p:spPr>
          <a:xfrm>
            <a:off x="1152144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8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66928" y="566928"/>
            <a:ext cx="11057839" cy="274320"/>
          </a:xfrm>
          <a:prstGeom prst="rect">
            <a:avLst/>
          </a:prstGeom>
          <a:noFill/>
          <a:ln/>
        </p:spPr>
        <p:txBody>
          <a:bodyPr wrap="square" lIns="0" tIns="0" rIns="0" bIns="0" rtlCol="0" anchor="ctr"/>
          <a:lstStyle/>
          <a:p>
            <a:pPr indent="0" marL="0">
              <a:buNone/>
            </a:pPr>
            <a:r>
              <a:rPr lang="en-US" sz="1200" b="1" spc="240" kern="0" dirty="0">
                <a:solidFill>
                  <a:srgbClr val="E8873F"/>
                </a:solidFill>
              </a:rPr>
              <a:t>WHAT THE RUN STILL SUPPORTS</a:t>
            </a:r>
            <a:endParaRPr lang="en-US" sz="1200" dirty="0"/>
          </a:p>
        </p:txBody>
      </p:sp>
      <p:sp>
        <p:nvSpPr>
          <p:cNvPr id="3" name="Text 0"/>
          <p:cNvSpPr/>
          <p:nvPr>
            <p:ph idx="100" type="title" hasCustomPrompt="1"/>
          </p:nvPr>
        </p:nvSpPr>
        <p:spPr>
          <a:xfrm>
            <a:off x="566928" y="932688"/>
            <a:ext cx="11057839" cy="841248"/>
          </a:xfrm>
          <a:prstGeom prst="rect">
            <a:avLst/>
          </a:prstGeom>
          <a:noFill/>
          <a:ln/>
        </p:spPr>
        <p:txBody>
          <a:bodyPr wrap="square" rtlCol="0" anchor="t"/>
          <a:lstStyle/>
          <a:p>
            <a:pPr indent="0" marL="0">
              <a:buNone/>
            </a:pPr>
            <a:r>
              <a:rPr lang="en-US" sz="4400" dirty="0">
                <a:solidFill>
                  <a:srgbClr val="FFFFFF"/>
                </a:solidFill>
                <a:latin typeface="Cambria" pitchFamily="34" charset="0"/>
                <a:ea typeface="Cambria" pitchFamily="34" charset="-122"/>
                <a:cs typeface="Cambria" pitchFamily="34" charset="-120"/>
              </a:rPr>
              <a:t>Naive steering does not evade</a:t>
            </a:r>
            <a:endParaRPr lang="en-US" sz="4400" dirty="0"/>
          </a:p>
        </p:txBody>
      </p:sp>
      <p:sp>
        <p:nvSpPr>
          <p:cNvPr id="4" name="Text 2"/>
          <p:cNvSpPr txBox="1"/>
          <p:nvPr/>
        </p:nvSpPr>
        <p:spPr>
          <a:xfrm>
            <a:off x="566928" y="1810512"/>
            <a:ext cx="10424160" cy="585216"/>
          </a:xfrm>
          <a:prstGeom prst="rect">
            <a:avLst/>
          </a:prstGeom>
          <a:noFill/>
          <a:ln/>
        </p:spPr>
        <p:txBody>
          <a:bodyPr wrap="square" lIns="0" tIns="0" rIns="0" bIns="0" rtlCol="0" anchor="ctr"/>
          <a:lstStyle/>
          <a:p>
            <a:pPr indent="0" marL="0">
              <a:lnSpc>
                <a:spcPct val="120000"/>
              </a:lnSpc>
              <a:buNone/>
            </a:pPr>
            <a:r>
              <a:rPr lang="en-US" sz="1550" dirty="0">
                <a:solidFill>
                  <a:srgbClr val="E7ECF1"/>
                </a:solidFill>
              </a:rPr>
              <a:t>It overshoots into a region a two-sided threshold catches, it fails to carry one layer, and the sabotage that survives it is a different sabotage.</a:t>
            </a:r>
            <a:endParaRPr lang="en-US" sz="1550" dirty="0"/>
          </a:p>
        </p:txBody>
      </p:sp>
      <p:sp>
        <p:nvSpPr>
          <p:cNvPr id="5" name="Text 3"/>
          <p:cNvSpPr txBox="1"/>
          <p:nvPr/>
        </p:nvSpPr>
        <p:spPr>
          <a:xfrm>
            <a:off x="566928" y="2395728"/>
            <a:ext cx="10424160" cy="475488"/>
          </a:xfrm>
          <a:prstGeom prst="rect">
            <a:avLst/>
          </a:prstGeom>
          <a:noFill/>
          <a:ln/>
        </p:spPr>
        <p:txBody>
          <a:bodyPr wrap="square" lIns="0" tIns="0" rIns="0" bIns="0" rtlCol="0" anchor="ctr"/>
          <a:lstStyle/>
          <a:p>
            <a:pPr indent="0" marL="0">
              <a:lnSpc>
                <a:spcPct val="120000"/>
              </a:lnSpc>
              <a:buNone/>
            </a:pPr>
            <a:r>
              <a:rPr lang="en-US" sz="1300" dirty="0">
                <a:solidFill>
                  <a:srgbClr val="9DADBC"/>
                </a:solidFill>
              </a:rPr>
              <a:t>The tax itself is still unmeasured, because the direction we attacked marks which instruction sat in the context while the sabotage is computed somewhere else.</a:t>
            </a:r>
            <a:endParaRPr lang="en-US" sz="1300" dirty="0"/>
          </a:p>
        </p:txBody>
      </p:sp>
      <p:sp>
        <p:nvSpPr>
          <p:cNvPr id="6" name="holds-0"/>
          <p:cNvSpPr/>
          <p:nvPr/>
        </p:nvSpPr>
        <p:spPr>
          <a:xfrm>
            <a:off x="566928" y="2871216"/>
            <a:ext cx="3493008" cy="1792224"/>
          </a:xfrm>
          <a:prstGeom prst="roundRect">
            <a:avLst>
              <a:gd name="adj" fmla="val 4082"/>
            </a:avLst>
          </a:prstGeom>
          <a:solidFill>
            <a:srgbClr val="1E2A38"/>
          </a:solidFill>
          <a:ln w="12700">
            <a:solidFill>
              <a:srgbClr val="1E2A38"/>
            </a:solidFill>
            <a:prstDash val="solid"/>
          </a:ln>
        </p:spPr>
      </p:sp>
      <p:sp>
        <p:nvSpPr>
          <p:cNvPr id="7" name="Text 5"/>
          <p:cNvSpPr txBox="1"/>
          <p:nvPr/>
        </p:nvSpPr>
        <p:spPr>
          <a:xfrm>
            <a:off x="804672" y="3017520"/>
            <a:ext cx="3017520" cy="475488"/>
          </a:xfrm>
          <a:prstGeom prst="rect">
            <a:avLst/>
          </a:prstGeom>
          <a:noFill/>
          <a:ln/>
        </p:spPr>
        <p:txBody>
          <a:bodyPr wrap="square" lIns="0" tIns="0" rIns="0" bIns="0" rtlCol="0" anchor="ctr"/>
          <a:lstStyle/>
          <a:p>
            <a:pPr indent="0" marL="0">
              <a:buNone/>
            </a:pPr>
            <a:r>
              <a:rPr lang="en-US" sz="2800" b="1" dirty="0">
                <a:solidFill>
                  <a:srgbClr val="7FC4E0"/>
                </a:solidFill>
                <a:latin typeface="Cambria" pitchFamily="34" charset="0"/>
                <a:ea typeface="Cambria" pitchFamily="34" charset="-122"/>
                <a:cs typeface="Cambria" pitchFamily="34" charset="-120"/>
              </a:rPr>
              <a:t>0.993</a:t>
            </a:r>
            <a:endParaRPr lang="en-US" sz="2800" dirty="0"/>
          </a:p>
        </p:txBody>
      </p:sp>
      <p:sp>
        <p:nvSpPr>
          <p:cNvPr id="8" name="Text 6"/>
          <p:cNvSpPr txBox="1"/>
          <p:nvPr/>
        </p:nvSpPr>
        <p:spPr>
          <a:xfrm>
            <a:off x="804672" y="3511296"/>
            <a:ext cx="30175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The defender's number</a:t>
            </a:r>
            <a:endParaRPr lang="en-US" sz="1300" dirty="0"/>
          </a:p>
        </p:txBody>
      </p:sp>
      <p:sp>
        <p:nvSpPr>
          <p:cNvPr id="9" name="Text 7"/>
          <p:cNvSpPr txBox="1"/>
          <p:nvPr/>
        </p:nvSpPr>
        <p:spPr>
          <a:xfrm>
            <a:off x="804672" y="3822192"/>
            <a:ext cx="3017520" cy="768096"/>
          </a:xfrm>
          <a:prstGeom prst="rect">
            <a:avLst/>
          </a:prstGeom>
          <a:noFill/>
          <a:ln/>
        </p:spPr>
        <p:txBody>
          <a:bodyPr wrap="square" lIns="0" tIns="0" rIns="0" bIns="0" rtlCol="0" anchor="ctr"/>
          <a:lstStyle/>
          <a:p>
            <a:pPr indent="0" marL="0">
              <a:lnSpc>
                <a:spcPct val="118000"/>
              </a:lnSpc>
              <a:buNone/>
            </a:pPr>
            <a:r>
              <a:rPr lang="en-US" sz="1100" dirty="0">
                <a:solidFill>
                  <a:srgbClr val="9DADBC"/>
                </a:solidFill>
              </a:rPr>
              <a:t>Two probes read two-sided, minimised over the whole grid. No alpha is quiet at layer 20 and at the untouched layer 28 at once.</a:t>
            </a:r>
            <a:endParaRPr lang="en-US" sz="1100" dirty="0"/>
          </a:p>
        </p:txBody>
      </p:sp>
      <p:sp>
        <p:nvSpPr>
          <p:cNvPr id="10" name="holds-1"/>
          <p:cNvSpPr/>
          <p:nvPr/>
        </p:nvSpPr>
        <p:spPr>
          <a:xfrm>
            <a:off x="4334256" y="2871216"/>
            <a:ext cx="3493008" cy="1792224"/>
          </a:xfrm>
          <a:prstGeom prst="roundRect">
            <a:avLst>
              <a:gd name="adj" fmla="val 4082"/>
            </a:avLst>
          </a:prstGeom>
          <a:solidFill>
            <a:srgbClr val="1E2A38"/>
          </a:solidFill>
          <a:ln w="12700">
            <a:solidFill>
              <a:srgbClr val="1E2A38"/>
            </a:solidFill>
            <a:prstDash val="solid"/>
          </a:ln>
        </p:spPr>
      </p:sp>
      <p:sp>
        <p:nvSpPr>
          <p:cNvPr id="11" name="Text 9"/>
          <p:cNvSpPr txBox="1"/>
          <p:nvPr/>
        </p:nvSpPr>
        <p:spPr>
          <a:xfrm>
            <a:off x="4572000" y="3017520"/>
            <a:ext cx="3017520" cy="475488"/>
          </a:xfrm>
          <a:prstGeom prst="rect">
            <a:avLst/>
          </a:prstGeom>
          <a:noFill/>
          <a:ln/>
        </p:spPr>
        <p:txBody>
          <a:bodyPr wrap="square" lIns="0" tIns="0" rIns="0" bIns="0" rtlCol="0" anchor="ctr"/>
          <a:lstStyle/>
          <a:p>
            <a:pPr indent="0" marL="0">
              <a:buNone/>
            </a:pPr>
            <a:r>
              <a:rPr lang="en-US" sz="2800" b="1" dirty="0">
                <a:solidFill>
                  <a:srgbClr val="7FC4E0"/>
                </a:solidFill>
                <a:latin typeface="Cambria" pitchFamily="34" charset="0"/>
                <a:ea typeface="Cambria" pitchFamily="34" charset="-122"/>
                <a:cs typeface="Cambria" pitchFamily="34" charset="-120"/>
              </a:rPr>
              <a:t>0.859</a:t>
            </a:r>
            <a:endParaRPr lang="en-US" sz="2800" dirty="0"/>
          </a:p>
        </p:txBody>
      </p:sp>
      <p:sp>
        <p:nvSpPr>
          <p:cNvPr id="12" name="Text 10"/>
          <p:cNvSpPr txBox="1"/>
          <p:nvPr/>
        </p:nvSpPr>
        <p:spPr>
          <a:xfrm>
            <a:off x="4572000" y="3511296"/>
            <a:ext cx="30175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Behavioural signal at layer 20</a:t>
            </a:r>
            <a:endParaRPr lang="en-US" sz="1300" dirty="0"/>
          </a:p>
        </p:txBody>
      </p:sp>
      <p:sp>
        <p:nvSpPr>
          <p:cNvPr id="13" name="Text 11"/>
          <p:cNvSpPr txBox="1"/>
          <p:nvPr/>
        </p:nvSpPr>
        <p:spPr>
          <a:xfrm>
            <a:off x="4572000" y="3822192"/>
            <a:ext cx="3017520" cy="768096"/>
          </a:xfrm>
          <a:prstGeom prst="rect">
            <a:avLst/>
          </a:prstGeom>
          <a:noFill/>
          <a:ln/>
        </p:spPr>
        <p:txBody>
          <a:bodyPr wrap="square" lIns="0" tIns="0" rIns="0" bIns="0" rtlCol="0" anchor="ctr"/>
          <a:lstStyle/>
          <a:p>
            <a:pPr indent="0" marL="0">
              <a:lnSpc>
                <a:spcPct val="118000"/>
              </a:lnSpc>
              <a:buNone/>
            </a:pPr>
            <a:r>
              <a:rPr lang="en-US" sz="1100" dirty="0">
                <a:solidFill>
                  <a:srgbClr val="9DADBC"/>
                </a:solidFill>
              </a:rPr>
              <a:t>Within prompt, out of fold, last-pooled, against a null whose 95th percentile is 0.628 over 500 shuffles. Mean-pooled reads 0.644, so the sweep attacked the weaker direction.</a:t>
            </a:r>
            <a:endParaRPr lang="en-US" sz="1100" dirty="0"/>
          </a:p>
        </p:txBody>
      </p:sp>
      <p:sp>
        <p:nvSpPr>
          <p:cNvPr id="14" name="holds-2"/>
          <p:cNvSpPr/>
          <p:nvPr/>
        </p:nvSpPr>
        <p:spPr>
          <a:xfrm>
            <a:off x="8101584" y="2871216"/>
            <a:ext cx="3493008" cy="1792224"/>
          </a:xfrm>
          <a:prstGeom prst="roundRect">
            <a:avLst>
              <a:gd name="adj" fmla="val 4082"/>
            </a:avLst>
          </a:prstGeom>
          <a:solidFill>
            <a:srgbClr val="1E2A38"/>
          </a:solidFill>
          <a:ln w="12700">
            <a:solidFill>
              <a:srgbClr val="1E2A38"/>
            </a:solidFill>
            <a:prstDash val="solid"/>
          </a:ln>
        </p:spPr>
      </p:sp>
      <p:sp>
        <p:nvSpPr>
          <p:cNvPr id="15" name="Text 13"/>
          <p:cNvSpPr txBox="1"/>
          <p:nvPr/>
        </p:nvSpPr>
        <p:spPr>
          <a:xfrm>
            <a:off x="8339328" y="3017520"/>
            <a:ext cx="3017520" cy="475488"/>
          </a:xfrm>
          <a:prstGeom prst="rect">
            <a:avLst/>
          </a:prstGeom>
          <a:noFill/>
          <a:ln/>
        </p:spPr>
        <p:txBody>
          <a:bodyPr wrap="square" lIns="0" tIns="0" rIns="0" bIns="0" rtlCol="0" anchor="ctr"/>
          <a:lstStyle/>
          <a:p>
            <a:pPr indent="0" marL="0">
              <a:buNone/>
            </a:pPr>
            <a:r>
              <a:rPr lang="en-US" sz="2800" b="1" dirty="0">
                <a:solidFill>
                  <a:srgbClr val="E8873F"/>
                </a:solidFill>
                <a:latin typeface="Cambria" pitchFamily="34" charset="0"/>
                <a:ea typeface="Cambria" pitchFamily="34" charset="-122"/>
                <a:cs typeface="Cambria" pitchFamily="34" charset="-120"/>
              </a:rPr>
              <a:t>0.29</a:t>
            </a:r>
            <a:endParaRPr lang="en-US" sz="2800" dirty="0"/>
          </a:p>
        </p:txBody>
      </p:sp>
      <p:sp>
        <p:nvSpPr>
          <p:cNvPr id="16" name="Text 14"/>
          <p:cNvSpPr txBox="1"/>
          <p:nvPr/>
        </p:nvSpPr>
        <p:spPr>
          <a:xfrm>
            <a:off x="8339328" y="3511296"/>
            <a:ext cx="30175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Flip-set overlap at alpha 8</a:t>
            </a:r>
            <a:endParaRPr lang="en-US" sz="1300" dirty="0"/>
          </a:p>
        </p:txBody>
      </p:sp>
      <p:sp>
        <p:nvSpPr>
          <p:cNvPr id="17" name="Text 15"/>
          <p:cNvSpPr txBox="1"/>
          <p:nvPr/>
        </p:nvSpPr>
        <p:spPr>
          <a:xfrm>
            <a:off x="8339328" y="3822192"/>
            <a:ext cx="3017520" cy="768096"/>
          </a:xfrm>
          <a:prstGeom prst="rect">
            <a:avLst/>
          </a:prstGeom>
          <a:noFill/>
          <a:ln/>
        </p:spPr>
        <p:txBody>
          <a:bodyPr wrap="square" lIns="0" tIns="0" rIns="0" bIns="0" rtlCol="0" anchor="ctr"/>
          <a:lstStyle/>
          <a:p>
            <a:pPr indent="0" marL="0">
              <a:lnSpc>
                <a:spcPct val="118000"/>
              </a:lnSpc>
              <a:buNone/>
            </a:pPr>
            <a:r>
              <a:rPr lang="en-US" sz="1100" dirty="0">
                <a:solidFill>
                  <a:srgbClr val="9DADBC"/>
                </a:solidFill>
              </a:rPr>
              <a:t>Nine of the original twenty failures remain and eleven are new, with the valid rate at 1.000. The failure rate holds while the set of failing problems turns over.</a:t>
            </a:r>
            <a:endParaRPr lang="en-US" sz="1100" dirty="0"/>
          </a:p>
        </p:txBody>
      </p:sp>
      <p:sp>
        <p:nvSpPr>
          <p:cNvPr id="18" name="mirror"/>
          <p:cNvSpPr/>
          <p:nvPr/>
        </p:nvSpPr>
        <p:spPr>
          <a:xfrm>
            <a:off x="566928" y="4773168"/>
            <a:ext cx="11057839" cy="786384"/>
          </a:xfrm>
          <a:prstGeom prst="roundRect">
            <a:avLst>
              <a:gd name="adj" fmla="val 9302"/>
            </a:avLst>
          </a:prstGeom>
          <a:solidFill>
            <a:srgbClr val="1E2A38"/>
          </a:solidFill>
          <a:ln w="12700">
            <a:solidFill>
              <a:srgbClr val="1E2A38"/>
            </a:solidFill>
            <a:prstDash val="solid"/>
          </a:ln>
        </p:spPr>
      </p:sp>
      <p:sp>
        <p:nvSpPr>
          <p:cNvPr id="19" name="Text 17"/>
          <p:cNvSpPr txBox="1"/>
          <p:nvPr/>
        </p:nvSpPr>
        <p:spPr>
          <a:xfrm>
            <a:off x="896112" y="4773168"/>
            <a:ext cx="10399471" cy="786384"/>
          </a:xfrm>
          <a:prstGeom prst="rect">
            <a:avLst/>
          </a:prstGeom>
          <a:noFill/>
          <a:ln/>
        </p:spPr>
        <p:txBody>
          <a:bodyPr wrap="square" lIns="0" tIns="0" rIns="0" bIns="0" rtlCol="0" anchor="ctr"/>
          <a:lstStyle/>
          <a:p>
            <a:pPr indent="0" marL="0">
              <a:buNone/>
            </a:pPr>
            <a:r>
              <a:rPr lang="en-US" sz="1500" dirty="0">
                <a:solidFill>
                  <a:srgbClr val="9DADBC"/>
                </a:solidFill>
              </a:rPr>
              <a:t>The mirror image of the obfuscated-activations result:  </a:t>
            </a:r>
            <a:pPr indent="0" marL="0">
              <a:buNone/>
            </a:pPr>
            <a:r>
              <a:rPr lang="en-US" sz="1500" b="1" dirty="0">
                <a:solidFill>
                  <a:srgbClr val="FFFFFF"/>
                </a:solidFill>
              </a:rPr>
              <a:t>optimised attacks evade latent monitors, and the unoptimised one does not evade at all.</a:t>
            </a:r>
            <a:endParaRPr lang="en-US" sz="1500" dirty="0"/>
          </a:p>
        </p:txBody>
      </p:sp>
      <p:sp>
        <p:nvSpPr>
          <p:cNvPr id="20" name="close-mark"/>
          <p:cNvSpPr/>
          <p:nvPr/>
        </p:nvSpPr>
        <p:spPr>
          <a:xfrm>
            <a:off x="566928" y="5669280"/>
            <a:ext cx="1371600" cy="25603"/>
          </a:xfrm>
          <a:prstGeom prst="rect">
            <a:avLst/>
          </a:prstGeom>
          <a:solidFill>
            <a:srgbClr val="E8873F"/>
          </a:solidFill>
          <a:ln w="12700">
            <a:solidFill>
              <a:srgbClr val="E8873F"/>
            </a:solidFill>
            <a:prstDash val="solid"/>
          </a:ln>
        </p:spPr>
      </p:sp>
      <p:sp>
        <p:nvSpPr>
          <p:cNvPr id="21" name="Text 19"/>
          <p:cNvSpPr txBox="1"/>
          <p:nvPr/>
        </p:nvSpPr>
        <p:spPr>
          <a:xfrm>
            <a:off x="566928" y="5760720"/>
            <a:ext cx="10607040" cy="365760"/>
          </a:xfrm>
          <a:prstGeom prst="rect">
            <a:avLst/>
          </a:prstGeom>
          <a:noFill/>
          <a:ln/>
        </p:spPr>
        <p:txBody>
          <a:bodyPr wrap="square" lIns="0" tIns="0" rIns="0" bIns="0" rtlCol="0" anchor="ctr"/>
          <a:lstStyle/>
          <a:p>
            <a:pPr indent="0" marL="0">
              <a:buNone/>
            </a:pPr>
            <a:r>
              <a:rPr lang="en-US" sz="1050" dirty="0">
                <a:solidFill>
                  <a:srgbClr val="9DADBC"/>
                </a:solidFill>
              </a:rPr>
              <a:t>Seven fixes are already in from the data on disk. Four need a re-run: an alpha grid inside the informative window, the monitor's per-row scores kept, the monitor given its own weights, and the gate honoured at about 800 problems.</a:t>
            </a:r>
            <a:endParaRPr lang="en-US" sz="1050" dirty="0"/>
          </a:p>
        </p:txBody>
      </p:sp>
      <p:sp>
        <p:nvSpPr>
          <p:cNvPr id="22" name="Text 20"/>
          <p:cNvSpPr txBox="1"/>
          <p:nvPr/>
        </p:nvSpPr>
        <p:spPr>
          <a:xfrm>
            <a:off x="566928" y="6144768"/>
            <a:ext cx="10607040" cy="237744"/>
          </a:xfrm>
          <a:prstGeom prst="rect">
            <a:avLst/>
          </a:prstGeom>
          <a:noFill/>
          <a:ln/>
        </p:spPr>
        <p:txBody>
          <a:bodyPr wrap="square" lIns="0" tIns="0" rIns="0" bIns="0" rtlCol="0" anchor="ctr"/>
          <a:lstStyle/>
          <a:p>
            <a:pPr indent="0" marL="0">
              <a:buNone/>
            </a:pPr>
            <a:r>
              <a:rPr lang="en-US" sz="1050" dirty="0">
                <a:solidFill>
                  <a:srgbClr val="7E8FA0"/>
                </a:solidFill>
              </a:rPr>
              <a:t>Corrected numbers in RESULTS.md, the narrative in ANALYSIS.md.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obsfucation-tax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Obfuscation Tax</dc:title>
  <dc:subject>What does a model give up to hide from an activation probe?</dc:subject>
  <dc:creator>obsfucation-tax</dc:creator>
  <cp:lastModifiedBy>obsfucation-tax</cp:lastModifiedBy>
  <cp:revision>1</cp:revision>
  <dcterms:created xsi:type="dcterms:W3CDTF">2026-10-30T14:37:59Z</dcterms:created>
  <dcterms:modified xsi:type="dcterms:W3CDTF">2026-10-30T14:37:59Z</dcterms:modified>
</cp:coreProperties>
</file>