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ckground" id="{7959da8d-bed4-20f0-b775-7c35305cb882}">
          <p14:sldIdLst>
            <p14:sldId id="256"/>
            <p14:sldId id="257"/>
            <p14:sldId id="258"/>
          </p14:sldIdLst>
        </p14:section>
        <p14:section name="Design and preconditions" id="{9d94a8bd-67db-e6e0-b8ca-641b6e66d0b2}">
          <p14:sldIdLst>
            <p14:sldId id="259"/>
            <p14:sldId id="260"/>
            <p14:sldId id="261"/>
          </p14:sldIdLst>
        </p14:section>
        <p14:section name="The sweep and the turn" id="{9a3189db-202b-fd99-0602-95c48902783e}">
          <p14:sldIdLst>
            <p14:sldId id="262"/>
            <p14:sldId id="263"/>
            <p14:sldId id="264"/>
            <p14:sldId id="265"/>
            <p14:sldId id="266"/>
            <p14:sldId id="267"/>
          </p14:sldIdLst>
        </p14:section>
        <p14:section name="What it means" id="{634a47c0-142d-94fb-d00a-2d59f5dac7f8}">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What the defender sees as alpha rises</a:t>
            </a:r>
          </a:p>
        </c:rich>
      </c:tx>
      <c:layout/>
      <c:overlay val="0"/>
    </c:title>
    <c:autoTitleDeleted val="0"/>
    <c:plotArea>
      <c:layout/>
      <c:lineChart>
        <c:varyColors val="0"/>
        <c:ser>
          <c:idx val="0"/>
          <c:order val="0"/>
          <c:tx>
            <c:strRef>
              <c:f>Sheet1!$B$1</c:f>
              <c:strCache>
                <c:ptCount val="1"/>
                <c:pt idx="0">
                  <c:v>One-sided AUROC</c:v>
                </c:pt>
              </c:strCache>
            </c:strRef>
          </c:tx>
          <c:spPr>
            <a:solidFill>
              <a:srgbClr val="C2541B"/>
            </a:solidFill>
            <a:ln w="38100" cap="flat">
              <a:solidFill>
                <a:srgbClr val="C254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2541B"/>
              </a:solidFill>
              <a:ln w="9525" cap="flat">
                <a:solidFill>
                  <a:srgbClr val="C2541B"/>
                </a:solidFill>
                <a:prstDash val="solid"/>
                <a:round/>
              </a:ln>
              <a:effectLst/>
            </c:spPr>
          </c:marker>
          <c:cat>
            <c:multiLvlStrRef>
              <c:f>Sheet1!$A$2:$A$6</c:f>
              <c:multiLvlStrCache>
                <c:ptCount val="5"/>
                <c:lvl>
                  <c:pt idx="0">
                    <c:v>0</c:v>
                  </c:pt>
                  <c:pt idx="1">
                    <c:v>1</c:v>
                  </c:pt>
                  <c:pt idx="2">
                    <c:v>2</c:v>
                  </c:pt>
                  <c:pt idx="3">
                    <c:v>4</c:v>
                  </c:pt>
                  <c:pt idx="4">
                    <c:v>8</c:v>
                  </c:pt>
                </c:lvl>
              </c:multiLvlStrCache>
            </c:multiLvlStrRef>
          </c:cat>
          <c:val>
            <c:numRef>
              <c:f>Sheet1!$B$2:$B$6</c:f>
              <c:numCache>
                <c:formatCode>General</c:formatCode>
                <c:ptCount val="5"/>
                <c:pt idx="0">
                  <c:v>1</c:v>
                </c:pt>
                <c:pt idx="1">
                  <c:v>0.999</c:v>
                </c:pt>
                <c:pt idx="2">
                  <c:v>0.572</c:v>
                </c:pt>
                <c:pt idx="3">
                  <c:v>0</c:v>
                </c:pt>
                <c:pt idx="4">
                  <c:v>0</c:v>
                </c:pt>
              </c:numCache>
            </c:numRef>
          </c:val>
          <c:smooth val="0"/>
        </c:ser>
        <c:ser>
          <c:idx val="1"/>
          <c:order val="1"/>
          <c:tx>
            <c:strRef>
              <c:f>Sheet1!$C$1</c:f>
              <c:strCache>
                <c:ptCount val="1"/>
                <c:pt idx="0">
                  <c:v>Two-sided AUROC</c:v>
                </c:pt>
              </c:strCache>
            </c:strRef>
          </c:tx>
          <c:spPr>
            <a:solidFill>
              <a:srgbClr val="2E6E8E"/>
            </a:solidFill>
            <a:ln w="38100" cap="flat">
              <a:solidFill>
                <a:srgbClr val="2E6E8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6E8E"/>
              </a:solidFill>
              <a:ln w="9525" cap="flat">
                <a:solidFill>
                  <a:srgbClr val="2E6E8E"/>
                </a:solidFill>
                <a:prstDash val="solid"/>
                <a:round/>
              </a:ln>
              <a:effectLst/>
            </c:spPr>
          </c:marker>
          <c:cat>
            <c:multiLvlStrRef>
              <c:f>Sheet1!$A$2:$A$6</c:f>
              <c:multiLvlStrCache>
                <c:ptCount val="5"/>
                <c:lvl>
                  <c:pt idx="0">
                    <c:v>0</c:v>
                  </c:pt>
                  <c:pt idx="1">
                    <c:v>1</c:v>
                  </c:pt>
                  <c:pt idx="2">
                    <c:v>2</c:v>
                  </c:pt>
                  <c:pt idx="3">
                    <c:v>4</c:v>
                  </c:pt>
                  <c:pt idx="4">
                    <c:v>8</c:v>
                  </c:pt>
                </c:lvl>
              </c:multiLvlStrCache>
            </c:multiLvlStrRef>
          </c:cat>
          <c:val>
            <c:numRef>
              <c:f>Sheet1!$C$2:$C$6</c:f>
              <c:numCache>
                <c:formatCode>General</c:formatCode>
                <c:ptCount val="5"/>
                <c:pt idx="0">
                  <c:v>1</c:v>
                </c:pt>
                <c:pt idx="1">
                  <c:v>0.999</c:v>
                </c:pt>
                <c:pt idx="2">
                  <c:v>0.604</c:v>
                </c:pt>
                <c:pt idx="3">
                  <c:v>1</c:v>
                </c:pt>
                <c:pt idx="4">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7A88"/>
                    </a:solidFill>
                    <a:latin typeface="+mn-lt"/>
                  </a:defRPr>
                </a:pPr>
                <a:r>
                  <a:rPr sz="1100" b="0" i="0" u="none" strike="noStrike">
                    <a:solidFill>
                      <a:srgbClr val="6B7A88"/>
                    </a:solidFill>
                    <a:latin typeface="+mn-lt"/>
                  </a:rPr>
                  <a:t>alpha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56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Jaccard overlap of the failing problems, against alpha 0</a:t>
            </a:r>
          </a:p>
        </c:rich>
      </c:tx>
      <c:layout/>
      <c:overlay val="0"/>
    </c:title>
    <c:autoTitleDeleted val="0"/>
    <c:plotArea>
      <c:layout/>
      <c:barChart>
        <c:barDir val="col"/>
        <c:grouping val="clustered"/>
        <c:varyColors val="0"/>
        <c:ser>
          <c:idx val="0"/>
          <c:order val="0"/>
          <c:tx>
            <c:strRef>
              <c:f>Sheet1!$B$1</c:f>
              <c:strCache>
                <c:ptCount val="1"/>
                <c:pt idx="0">
                  <c:v>Overlap with the unsteered failure set</c:v>
                </c:pt>
              </c:strCache>
            </c:strRef>
          </c:tx>
          <c:spPr>
            <a:solidFill>
              <a:srgbClr val="2E6E8E"/>
            </a:solidFill>
            <a:effectLst/>
          </c:spPr>
          <c:invertIfNegative val="0"/>
          <c:dLbls>
            <c:numFmt formatCode="0.00" sourceLinked="0"/>
            <c:txPr>
              <a:bodyPr/>
              <a:lstStyle/>
              <a:p>
                <a:pPr>
                  <a:defRPr b="0" i="0" strike="noStrike" sz="1100" u="none">
                    <a:solidFill>
                      <a:srgbClr val="1A2230"/>
                    </a:solidFill>
                    <a:latin typeface="+mn-lt"/>
                  </a:defRPr>
                </a:pPr>
              </a:p>
            </c:txPr>
            <c:showLegendKey val="0"/>
            <c:showVal val="1"/>
            <c:showCatName val="0"/>
            <c:showSerName val="0"/>
            <c:showPercent val="0"/>
            <c:showBubbleSize val="0"/>
            <c:showLeaderLines val="0"/>
          </c:dLbls>
          <c:cat>
            <c:multiLvlStrRef>
              <c:f>Sheet1!$A$2:$A$6</c:f>
              <c:multiLvlStrCache>
                <c:ptCount val="5"/>
                <c:lvl>
                  <c:pt idx="0">
                    <c:v>0</c:v>
                  </c:pt>
                  <c:pt idx="1">
                    <c:v>1</c:v>
                  </c:pt>
                  <c:pt idx="2">
                    <c:v>2</c:v>
                  </c:pt>
                  <c:pt idx="3">
                    <c:v>4</c:v>
                  </c:pt>
                  <c:pt idx="4">
                    <c:v>8</c:v>
                  </c:pt>
                </c:lvl>
              </c:multiLvlStrCache>
            </c:multiLvlStrRef>
          </c:cat>
          <c:val>
            <c:numRef>
              <c:f>Sheet1!$B$2:$B$6</c:f>
              <c:numCache>
                <c:formatCode>General</c:formatCode>
                <c:ptCount val="5"/>
                <c:pt idx="0">
                  <c:v>1</c:v>
                </c:pt>
                <c:pt idx="1">
                  <c:v>0.86</c:v>
                </c:pt>
                <c:pt idx="2">
                  <c:v>0.67</c:v>
                </c:pt>
                <c:pt idx="3">
                  <c:v>0.48</c:v>
                </c:pt>
                <c:pt idx="4">
                  <c:v>0.29</c:v>
                </c:pt>
              </c:numCache>
            </c:numRef>
          </c:val>
        </c:ser>
        <c:dLbls>
          <c:numFmt formatCode="0.00" sourceLinked="0"/>
          <c:txPr>
            <a:bodyPr/>
            <a:lstStyle/>
            <a:p>
              <a:pPr>
                <a:defRPr b="0" i="0" strike="noStrike" sz="1100" u="none">
                  <a:solidFill>
                    <a:srgbClr val="1A223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B7A88"/>
                    </a:solidFill>
                    <a:latin typeface="+mn-lt"/>
                  </a:defRPr>
                </a:pPr>
                <a:r>
                  <a:rPr sz="1100" b="0" i="0" u="none" strike="noStrike">
                    <a:solidFill>
                      <a:srgbClr val="6B7A88"/>
                    </a:solidFill>
                    <a:latin typeface="+mn-lt"/>
                  </a:rPr>
                  <a:t>alpha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Both classes under the sandbagging prompt, out of fold</a:t>
            </a:r>
          </a:p>
        </c:rich>
      </c:tx>
      <c:layout/>
      <c:overlay val="0"/>
    </c:title>
    <c:autoTitleDeleted val="0"/>
    <c:plotArea>
      <c:layout/>
      <c:barChart>
        <c:barDir val="col"/>
        <c:grouping val="clustered"/>
        <c:varyColors val="0"/>
        <c:ser>
          <c:idx val="0"/>
          <c:order val="0"/>
          <c:tx>
            <c:strRef>
              <c:f>Sheet1!$B$1</c:f>
              <c:strCache>
                <c:ptCount val="1"/>
                <c:pt idx="0">
                  <c:v>Within-prompt AUROC</c:v>
                </c:pt>
              </c:strCache>
            </c:strRef>
          </c:tx>
          <c:spPr>
            <a:solidFill>
              <a:srgbClr val="2E6E8E"/>
            </a:solidFill>
            <a:effectLst/>
          </c:spPr>
          <c:invertIfNegative val="0"/>
          <c:dLbls>
            <c:numFmt formatCode="0.000" sourceLinked="0"/>
            <c:txPr>
              <a:bodyPr/>
              <a:lstStyle/>
              <a:p>
                <a:pPr>
                  <a:defRPr b="0" i="0" strike="noStrike" sz="1000" u="none">
                    <a:solidFill>
                      <a:srgbClr val="1A2230"/>
                    </a:solidFill>
                    <a:latin typeface="+mn-lt"/>
                  </a:defRPr>
                </a:pPr>
              </a:p>
            </c:txPr>
            <c:showLegendKey val="0"/>
            <c:showVal val="1"/>
            <c:showCatName val="0"/>
            <c:showSerName val="0"/>
            <c:showPercent val="0"/>
            <c:showBubbleSize val="0"/>
            <c:showLeaderLines val="0"/>
          </c:dLbls>
          <c:cat>
            <c:multiLvlStrRef>
              <c:f>Sheet1!$A$2:$A$6</c:f>
              <c:multiLvlStrCache>
                <c:ptCount val="5"/>
                <c:lvl>
                  <c:pt idx="0">
                    <c:v>L12</c:v>
                  </c:pt>
                  <c:pt idx="1">
                    <c:v>L16</c:v>
                  </c:pt>
                  <c:pt idx="2">
                    <c:v>L20</c:v>
                  </c:pt>
                  <c:pt idx="3">
                    <c:v>L24</c:v>
                  </c:pt>
                  <c:pt idx="4">
                    <c:v>L28</c:v>
                  </c:pt>
                </c:lvl>
              </c:multiLvlStrCache>
            </c:multiLvlStrRef>
          </c:cat>
          <c:val>
            <c:numRef>
              <c:f>Sheet1!$B$2:$B$6</c:f>
              <c:numCache>
                <c:formatCode>General</c:formatCode>
                <c:ptCount val="5"/>
                <c:pt idx="0">
                  <c:v>0.579</c:v>
                </c:pt>
                <c:pt idx="1">
                  <c:v>0.771</c:v>
                </c:pt>
                <c:pt idx="2">
                  <c:v>0.677</c:v>
                </c:pt>
                <c:pt idx="3">
                  <c:v>0.669</c:v>
                </c:pt>
                <c:pt idx="4">
                  <c:v>0.638</c:v>
                </c:pt>
              </c:numCache>
            </c:numRef>
          </c:val>
        </c:ser>
        <c:ser>
          <c:idx val="1"/>
          <c:order val="1"/>
          <c:tx>
            <c:strRef>
              <c:f>Sheet1!$C$1</c:f>
              <c:strCache>
                <c:ptCount val="1"/>
                <c:pt idx="0">
                  <c:v>Label-shuffled null</c:v>
                </c:pt>
              </c:strCache>
            </c:strRef>
          </c:tx>
          <c:spPr>
            <a:solidFill>
              <a:srgbClr val="C8D3DC"/>
            </a:solidFill>
            <a:effectLst/>
          </c:spPr>
          <c:invertIfNegative val="0"/>
          <c:dLbls>
            <c:numFmt formatCode="0.000" sourceLinked="0"/>
            <c:txPr>
              <a:bodyPr/>
              <a:lstStyle/>
              <a:p>
                <a:pPr>
                  <a:defRPr b="0" i="0" strike="noStrike" sz="1000" u="none">
                    <a:solidFill>
                      <a:srgbClr val="1A2230"/>
                    </a:solidFill>
                    <a:latin typeface="+mn-lt"/>
                  </a:defRPr>
                </a:pPr>
              </a:p>
            </c:txPr>
            <c:showLegendKey val="0"/>
            <c:showVal val="1"/>
            <c:showCatName val="0"/>
            <c:showSerName val="0"/>
            <c:showPercent val="0"/>
            <c:showBubbleSize val="0"/>
            <c:showLeaderLines val="0"/>
          </c:dLbls>
          <c:cat>
            <c:multiLvlStrRef>
              <c:f>Sheet1!$A$2:$A$6</c:f>
              <c:multiLvlStrCache>
                <c:ptCount val="5"/>
                <c:lvl>
                  <c:pt idx="0">
                    <c:v>L12</c:v>
                  </c:pt>
                  <c:pt idx="1">
                    <c:v>L16</c:v>
                  </c:pt>
                  <c:pt idx="2">
                    <c:v>L20</c:v>
                  </c:pt>
                  <c:pt idx="3">
                    <c:v>L24</c:v>
                  </c:pt>
                  <c:pt idx="4">
                    <c:v>L28</c:v>
                  </c:pt>
                </c:lvl>
              </c:multiLvlStrCache>
            </c:multiLvlStrRef>
          </c:cat>
          <c:val>
            <c:numRef>
              <c:f>Sheet1!$C$2:$C$6</c:f>
              <c:numCache>
                <c:formatCode>General</c:formatCode>
                <c:ptCount val="5"/>
                <c:pt idx="0">
                  <c:v>0.499</c:v>
                </c:pt>
                <c:pt idx="1">
                  <c:v>0.499</c:v>
                </c:pt>
                <c:pt idx="2">
                  <c:v>0.504</c:v>
                </c:pt>
                <c:pt idx="3">
                  <c:v>0.499</c:v>
                </c:pt>
                <c:pt idx="4">
                  <c:v>0.503</c:v>
                </c:pt>
              </c:numCache>
            </c:numRef>
          </c:val>
        </c:ser>
        <c:dLbls>
          <c:numFmt formatCode="0.000" sourceLinked="0"/>
          <c:txPr>
            <a:bodyPr/>
            <a:lstStyle/>
            <a:p>
              <a:pPr>
                <a:defRPr b="0" i="0" strike="noStrike" sz="1000" u="none">
                  <a:solidFill>
                    <a:srgbClr val="1A22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56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ANALYSIS.md in the order the experiment happened: what we set out to measure, where it went wrong, and what the run still supports. Every number traces to a file 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Bailey finds performance drops on the one task where performance is measurable. Gupta and Jenner have to add a scoring term to stop completions degrading. Neither measures what evasion costs the attacker.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outcomes are the measurement's whole design. Outcome 1 is what the table appeared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is off because a trace costs 68.5 s per generation, which was not affordable on the hardware to hand. The write-up carries it as a limitation of this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warnings were ignored. We wrote the gate in advance so that continuing would be awkward if the preconditions did not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control is the one that should have stopped us. It reads 1.000, which means the probe cannot tell a landed sabotage from an instruction that was ignored.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as it came back. Taken at face value it is a clean publishable result, and we read it that way for about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text does change: mean answer tokens fall from 60.4 to 54.2 and the failing problems churn. The representation along the probe direction moves by the constant we imposed and almost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table reporting only the one-sided number reads this backwards and calls alpha 8 a complete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claim the run supports, and it is a defence result rather than the tax we went looking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table reports the rate, and the rate cannot see this. A Jaccard column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across-prompt grid was saturated at 1.000, so it could not choose a layer. This is the validation set we should have been sweeping.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cannot test the hypothesis. What it does give us is the specific design choice that blocked it, which is worth more than a vague sense that something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defence result and the within-prompt number are what to carry forward. Everything in the right-hand column is reusable as it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have a fix on the next slide. Only the first one changes what the run is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of these would have changed what we concluded without costing a single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one is the only one that needs running before deciding anything else. It is one pass and it settles whether the rest is worth doing.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is defensible. The defence result is real and cheap to strengthen, and the tax measurement needs a different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2148840"/>
            <a:ext cx="11057839" cy="2103120"/>
          </a:xfrm>
          <a:prstGeom prst="rect">
            <a:avLst/>
          </a:prstGeom>
          <a:noFill/>
          <a:ln/>
        </p:spPr>
        <p:txBody>
          <a:bodyPr wrap="square" rtlCol="0"/>
          <a:lstStyle>
            <a:lvl1pPr indent="0" marL="0">
              <a:buNone/>
              <a:defRPr lang="en-US" sz="4000" dirty="0">
                <a:solidFill>
                  <a:srgbClr val="FFFFFF"/>
                </a:solidFill>
              </a:defRPr>
            </a:lvl1pPr>
          </a:lstStyle>
          <a:p>
            <a:pPr indent="0" marL="0">
              <a:buNone/>
            </a:pPr>
            <a:endParaRPr lang="en-US" sz="4000" dirty="0"/>
          </a:p>
        </p:txBody>
      </p:sp>
      <p:sp>
        <p:nvSpPr>
          <p:cNvPr id="3" name="Text 0"/>
          <p:cNvSpPr/>
          <p:nvPr>
            <p:ph idx="101" type="body" hasCustomPrompt="1"/>
          </p:nvPr>
        </p:nvSpPr>
        <p:spPr>
          <a:xfrm>
            <a:off x="566928" y="4343400"/>
            <a:ext cx="8595360" cy="1097280"/>
          </a:xfrm>
          <a:prstGeom prst="rect">
            <a:avLst/>
          </a:prstGeom>
          <a:noFill/>
          <a:ln/>
        </p:spPr>
        <p:txBody>
          <a:bodyPr wrap="square" rtlCol="0"/>
          <a:lstStyle>
            <a:lvl1pPr indent="0" marL="0">
              <a:buNone/>
              <a:defRPr lang="en-US" sz="1600" dirty="0">
                <a:solidFill>
                  <a:srgbClr val="9DADBC"/>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749808"/>
            <a:ext cx="11057839" cy="658368"/>
          </a:xfrm>
          <a:prstGeom prst="rect">
            <a:avLst/>
          </a:prstGeom>
          <a:noFill/>
          <a:ln/>
        </p:spPr>
        <p:txBody>
          <a:bodyPr wrap="square" rtlCol="0"/>
          <a:lstStyle>
            <a:lvl1pPr indent="0" marL="0">
              <a:buNone/>
              <a:defRPr lang="en-US" sz="2800" b="1" dirty="0">
                <a:solidFill>
                  <a:srgbClr val="1A2230"/>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1335024"/>
            <a:ext cx="11057839" cy="932688"/>
          </a:xfrm>
          <a:prstGeom prst="rect">
            <a:avLst/>
          </a:prstGeom>
          <a:noFill/>
          <a:ln/>
        </p:spPr>
        <p:txBody>
          <a:bodyPr wrap="square" rtlCol="0"/>
          <a:lstStyle>
            <a:lvl1pPr indent="0" marL="0">
              <a:buNone/>
              <a:defRPr lang="en-US" sz="5400" dirty="0">
                <a:solidFill>
                  <a:srgbClr val="FFFFFF"/>
                </a:solidFill>
              </a:defRPr>
            </a:lvl1pPr>
          </a:lstStyle>
          <a:p>
            <a:pPr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1572768"/>
            <a:ext cx="11057839" cy="310896"/>
          </a:xfrm>
          <a:prstGeom prst="rect">
            <a:avLst/>
          </a:prstGeom>
          <a:noFill/>
          <a:ln/>
        </p:spPr>
        <p:txBody>
          <a:bodyPr wrap="square" lIns="0" tIns="0" rIns="0" bIns="0" rtlCol="0" anchor="ctr"/>
          <a:lstStyle/>
          <a:p>
            <a:pPr indent="0" marL="0">
              <a:buNone/>
            </a:pPr>
            <a:r>
              <a:rPr lang="en-US" sz="1200" b="1" spc="240" kern="0" dirty="0">
                <a:solidFill>
                  <a:srgbClr val="E8873F"/>
                </a:solidFill>
              </a:rPr>
              <a:t>THE OBFUSCATION TAX</a:t>
            </a:r>
            <a:endParaRPr lang="en-US" sz="1200" dirty="0"/>
          </a:p>
        </p:txBody>
      </p:sp>
      <p:sp>
        <p:nvSpPr>
          <p:cNvPr id="3" name="Text 0"/>
          <p:cNvSpPr/>
          <p:nvPr>
            <p:ph idx="100" type="title" hasCustomPrompt="1"/>
          </p:nvPr>
        </p:nvSpPr>
        <p:spPr>
          <a:xfrm>
            <a:off x="566928" y="2148840"/>
            <a:ext cx="11057839" cy="2103120"/>
          </a:xfrm>
          <a:prstGeom prst="rect">
            <a:avLst/>
          </a:prstGeom>
          <a:noFill/>
          <a:ln/>
        </p:spPr>
        <p:txBody>
          <a:bodyPr wrap="square" rtlCol="0" anchor="t"/>
          <a:lstStyle/>
          <a:p>
            <a:pPr indent="0" marL="0">
              <a:buNone/>
            </a:pPr>
            <a:r>
              <a:rPr lang="en-US" sz="4000" dirty="0">
                <a:solidFill>
                  <a:srgbClr val="FFFFFF"/>
                </a:solidFill>
                <a:latin typeface="Cambria" pitchFamily="34" charset="0"/>
                <a:ea typeface="Cambria" pitchFamily="34" charset="-122"/>
                <a:cs typeface="Cambria" pitchFamily="34" charset="-120"/>
              </a:rPr>
              <a:t>What does a model give up to hide from an activation probe?</a:t>
            </a:r>
            <a:endParaRPr lang="en-US" sz="4000" dirty="0"/>
          </a:p>
        </p:txBody>
      </p:sp>
      <p:sp>
        <p:nvSpPr>
          <p:cNvPr id="4" name="Text 0"/>
          <p:cNvSpPr/>
          <p:nvPr>
            <p:ph idx="101" type="body" hasCustomPrompt="1"/>
          </p:nvPr>
        </p:nvSpPr>
        <p:spPr>
          <a:xfrm>
            <a:off x="566928" y="4343400"/>
            <a:ext cx="8595360" cy="1097280"/>
          </a:xfrm>
          <a:prstGeom prst="rect">
            <a:avLst/>
          </a:prstGeom>
          <a:noFill/>
          <a:ln/>
        </p:spPr>
        <p:txBody>
          <a:bodyPr wrap="square" rtlCol="0" anchor="t"/>
          <a:lstStyle/>
          <a:p>
            <a:pPr indent="0" marL="0">
              <a:buNone/>
            </a:pPr>
            <a:r>
              <a:rPr lang="en-US" sz="1600" dirty="0">
                <a:solidFill>
                  <a:srgbClr val="9DADBC"/>
                </a:solidFill>
              </a:rPr>
              <a:t>One run on mbpp with Qwen3.5-4B. It could not measure the tax we came for, and working out why produced a defence result instead.</a:t>
            </a:r>
            <a:endParaRPr lang="en-US" sz="1600" dirty="0"/>
          </a:p>
        </p:txBody>
      </p:sp>
      <p:sp>
        <p:nvSpPr>
          <p:cNvPr id="5" name="cover-mark"/>
          <p:cNvSpPr/>
          <p:nvPr/>
        </p:nvSpPr>
        <p:spPr>
          <a:xfrm>
            <a:off x="566928" y="5888736"/>
            <a:ext cx="1371600" cy="25603"/>
          </a:xfrm>
          <a:prstGeom prst="rect">
            <a:avLst/>
          </a:prstGeom>
          <a:solidFill>
            <a:srgbClr val="E8873F"/>
          </a:solidFill>
          <a:ln w="12700">
            <a:solidFill>
              <a:srgbClr val="E8873F"/>
            </a:solidFill>
            <a:prstDash val="solid"/>
          </a:ln>
        </p:spPr>
      </p:sp>
      <p:sp>
        <p:nvSpPr>
          <p:cNvPr id="6" name="Text 4"/>
          <p:cNvSpPr txBox="1"/>
          <p:nvPr/>
        </p:nvSpPr>
        <p:spPr>
          <a:xfrm>
            <a:off x="566928" y="6089904"/>
            <a:ext cx="7315200" cy="274320"/>
          </a:xfrm>
          <a:prstGeom prst="rect">
            <a:avLst/>
          </a:prstGeom>
          <a:noFill/>
          <a:ln/>
        </p:spPr>
        <p:txBody>
          <a:bodyPr wrap="square" lIns="0" tIns="0" rIns="0" bIns="0" rtlCol="0" anchor="ctr"/>
          <a:lstStyle/>
          <a:p>
            <a:pPr indent="0" marL="0">
              <a:buNone/>
            </a:pPr>
            <a:r>
              <a:rPr lang="en-US" sz="1100" dirty="0">
                <a:solidFill>
                  <a:srgbClr val="7E8FA0"/>
                </a:solidFill>
              </a:rPr>
              <a:t>obsfucation-tax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WHERE THE QUESTION COMES FROM</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Three papers, and the thing none of them measures</a:t>
            </a:r>
            <a:endParaRPr lang="en-US" sz="2800" dirty="0"/>
          </a:p>
        </p:txBody>
      </p:sp>
      <p:sp>
        <p:nvSpPr>
          <p:cNvPr id="4" name="paper-0"/>
          <p:cNvSpPr/>
          <p:nvPr/>
        </p:nvSpPr>
        <p:spPr>
          <a:xfrm>
            <a:off x="566928" y="1499616"/>
            <a:ext cx="3493008" cy="3255264"/>
          </a:xfrm>
          <a:prstGeom prst="roundRect">
            <a:avLst>
              <a:gd name="adj" fmla="val 2247"/>
            </a:avLst>
          </a:prstGeom>
          <a:solidFill>
            <a:srgbClr val="EEF1F4"/>
          </a:solidFill>
          <a:ln w="12700">
            <a:solidFill>
              <a:srgbClr val="EEF1F4"/>
            </a:solidFill>
            <a:prstDash val="solid"/>
          </a:ln>
        </p:spPr>
      </p:sp>
      <p:sp>
        <p:nvSpPr>
          <p:cNvPr id="5" name="Text 3"/>
          <p:cNvSpPr txBox="1"/>
          <p:nvPr/>
        </p:nvSpPr>
        <p:spPr>
          <a:xfrm>
            <a:off x="804672"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Goldowsky-Dill et al.  ·  ICML 2025</a:t>
            </a:r>
            <a:endParaRPr lang="en-US" sz="1050" dirty="0"/>
          </a:p>
        </p:txBody>
      </p:sp>
      <p:sp>
        <p:nvSpPr>
          <p:cNvPr id="6" name="Text 4"/>
          <p:cNvSpPr txBox="1"/>
          <p:nvPr/>
        </p:nvSpPr>
        <p:spPr>
          <a:xfrm>
            <a:off x="804672" y="1938528"/>
            <a:ext cx="3017520" cy="365760"/>
          </a:xfrm>
          <a:prstGeom prst="rect">
            <a:avLst/>
          </a:prstGeom>
          <a:noFill/>
          <a:ln/>
        </p:spPr>
        <p:txBody>
          <a:bodyPr wrap="square" lIns="0" tIns="0" rIns="0" bIns="0" rtlCol="0" anchor="ctr"/>
          <a:lstStyle/>
          <a:p>
            <a:pPr indent="0" marL="0">
              <a:buNone/>
            </a:pPr>
            <a:r>
              <a:rPr lang="en-US" sz="1900" b="1" dirty="0">
                <a:solidFill>
                  <a:srgbClr val="2E6E8E"/>
                </a:solidFill>
                <a:latin typeface="Cambria" pitchFamily="34" charset="0"/>
                <a:ea typeface="Cambria" pitchFamily="34" charset="-122"/>
                <a:cs typeface="Cambria" pitchFamily="34" charset="-120"/>
              </a:rPr>
              <a:t>The defence works</a:t>
            </a:r>
            <a:endParaRPr lang="en-US" sz="1900" dirty="0"/>
          </a:p>
        </p:txBody>
      </p:sp>
      <p:sp>
        <p:nvSpPr>
          <p:cNvPr id="7" name="Text 5"/>
          <p:cNvSpPr txBox="1"/>
          <p:nvPr/>
        </p:nvSpPr>
        <p:spPr>
          <a:xfrm>
            <a:off x="804672"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Linear probes on the residual stream of Llama-3.3-70B, read after layer 22 of 80. AUROC 0.96 to 0.999. At a 1% false-positive threshold they catch 95 to 99% of deceptive responses.</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Probing two layers later drops recall to nearly zero.</a:t>
            </a:r>
            <a:endParaRPr lang="en-US" sz="1200" dirty="0"/>
          </a:p>
        </p:txBody>
      </p:sp>
      <p:sp>
        <p:nvSpPr>
          <p:cNvPr id="8" name="paper-1"/>
          <p:cNvSpPr/>
          <p:nvPr/>
        </p:nvSpPr>
        <p:spPr>
          <a:xfrm>
            <a:off x="4334256" y="1499616"/>
            <a:ext cx="3493008" cy="3255264"/>
          </a:xfrm>
          <a:prstGeom prst="roundRect">
            <a:avLst>
              <a:gd name="adj" fmla="val 2247"/>
            </a:avLst>
          </a:prstGeom>
          <a:solidFill>
            <a:srgbClr val="EEF1F4"/>
          </a:solidFill>
          <a:ln w="12700">
            <a:solidFill>
              <a:srgbClr val="EEF1F4"/>
            </a:solidFill>
            <a:prstDash val="solid"/>
          </a:ln>
        </p:spPr>
      </p:sp>
      <p:sp>
        <p:nvSpPr>
          <p:cNvPr id="9" name="Text 7"/>
          <p:cNvSpPr txBox="1"/>
          <p:nvPr/>
        </p:nvSpPr>
        <p:spPr>
          <a:xfrm>
            <a:off x="4572000"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Bailey et al.  ·  ICLR 2026</a:t>
            </a:r>
            <a:endParaRPr lang="en-US" sz="1050" dirty="0"/>
          </a:p>
        </p:txBody>
      </p:sp>
      <p:sp>
        <p:nvSpPr>
          <p:cNvPr id="10" name="Text 8"/>
          <p:cNvSpPr txBox="1"/>
          <p:nvPr/>
        </p:nvSpPr>
        <p:spPr>
          <a:xfrm>
            <a:off x="4572000" y="1938528"/>
            <a:ext cx="301752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It can be fooled</a:t>
            </a:r>
            <a:endParaRPr lang="en-US" sz="1900" dirty="0"/>
          </a:p>
        </p:txBody>
      </p:sp>
      <p:sp>
        <p:nvSpPr>
          <p:cNvPr id="11" name="Text 9"/>
          <p:cNvSpPr txBox="1"/>
          <p:nvPr/>
        </p:nvSpPr>
        <p:spPr>
          <a:xfrm>
            <a:off x="4572000"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Monitor recall driven to 0% while keeping a 90% jailbreak rate, and the obfuscated activations carry over to probes they never attacked.</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One limit: “on a complex task (writing SQL code), obfuscation reduces model performance.”</a:t>
            </a:r>
            <a:endParaRPr lang="en-US" sz="1200" dirty="0"/>
          </a:p>
        </p:txBody>
      </p:sp>
      <p:sp>
        <p:nvSpPr>
          <p:cNvPr id="12" name="paper-2"/>
          <p:cNvSpPr/>
          <p:nvPr/>
        </p:nvSpPr>
        <p:spPr>
          <a:xfrm>
            <a:off x="8101584" y="1499616"/>
            <a:ext cx="3493008" cy="3255264"/>
          </a:xfrm>
          <a:prstGeom prst="roundRect">
            <a:avLst>
              <a:gd name="adj" fmla="val 2247"/>
            </a:avLst>
          </a:prstGeom>
          <a:solidFill>
            <a:srgbClr val="EEF1F4"/>
          </a:solidFill>
          <a:ln w="12700">
            <a:solidFill>
              <a:srgbClr val="EEF1F4"/>
            </a:solidFill>
            <a:prstDash val="solid"/>
          </a:ln>
        </p:spPr>
      </p:sp>
      <p:sp>
        <p:nvSpPr>
          <p:cNvPr id="13" name="Text 11"/>
          <p:cNvSpPr txBox="1"/>
          <p:nvPr/>
        </p:nvSpPr>
        <p:spPr>
          <a:xfrm>
            <a:off x="8339328"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Gupta &amp; Jenner  ·  2025</a:t>
            </a:r>
            <a:endParaRPr lang="en-US" sz="1050" dirty="0"/>
          </a:p>
        </p:txBody>
      </p:sp>
      <p:sp>
        <p:nvSpPr>
          <p:cNvPr id="14" name="Text 12"/>
          <p:cNvSpPr txBox="1"/>
          <p:nvPr/>
        </p:nvSpPr>
        <p:spPr>
          <a:xfrm>
            <a:off x="8339328" y="1938528"/>
            <a:ext cx="301752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The strongest attacker</a:t>
            </a:r>
            <a:endParaRPr lang="en-US" sz="1900" dirty="0"/>
          </a:p>
        </p:txBody>
      </p:sp>
      <p:sp>
        <p:nvSpPr>
          <p:cNvPr id="15" name="Text 13"/>
          <p:cNvSpPr txBox="1"/>
          <p:nvPr/>
        </p:nvSpPr>
        <p:spPr>
          <a:xfrm>
            <a:off x="8339328"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RL-Obfuscation finetunes a model to evade latent-space monitors while holding its black-box behaviour steady.</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Holding it steady needs an explicit quality term in the reward. Without paying to hold the output up, evasion degrades it.</a:t>
            </a:r>
            <a:endParaRPr lang="en-US" sz="1200" dirty="0"/>
          </a:p>
        </p:txBody>
      </p:sp>
      <p:sp>
        <p:nvSpPr>
          <p:cNvPr id="16" name="gap"/>
          <p:cNvSpPr/>
          <p:nvPr/>
        </p:nvSpPr>
        <p:spPr>
          <a:xfrm>
            <a:off x="566928" y="5010912"/>
            <a:ext cx="11057839" cy="822960"/>
          </a:xfrm>
          <a:prstGeom prst="roundRect">
            <a:avLst>
              <a:gd name="adj" fmla="val 8889"/>
            </a:avLst>
          </a:prstGeom>
          <a:solidFill>
            <a:srgbClr val="15202B"/>
          </a:solidFill>
          <a:ln w="12700">
            <a:solidFill>
              <a:srgbClr val="15202B"/>
            </a:solidFill>
            <a:prstDash val="solid"/>
          </a:ln>
        </p:spPr>
      </p:sp>
      <p:sp>
        <p:nvSpPr>
          <p:cNvPr id="17" name="gap-text"/>
          <p:cNvSpPr txBox="1"/>
          <p:nvPr/>
        </p:nvSpPr>
        <p:spPr>
          <a:xfrm>
            <a:off x="877824" y="5010912"/>
            <a:ext cx="10436047" cy="822960"/>
          </a:xfrm>
          <a:prstGeom prst="rect">
            <a:avLst/>
          </a:prstGeom>
          <a:noFill/>
          <a:ln/>
        </p:spPr>
        <p:txBody>
          <a:bodyPr wrap="square" lIns="0" tIns="0" rIns="0" bIns="0" rtlCol="0" anchor="ctr"/>
          <a:lstStyle/>
          <a:p>
            <a:pPr indent="0" marL="0">
              <a:buNone/>
            </a:pPr>
            <a:r>
              <a:rPr lang="en-US" sz="1500" b="1" dirty="0">
                <a:solidFill>
                  <a:srgbClr val="FFFFFF"/>
                </a:solidFill>
              </a:rPr>
              <a:t>All three ask whether evasion works, and it does. </a:t>
            </a:r>
            <a:pPr indent="0" marL="0">
              <a:buNone/>
            </a:pPr>
            <a:r>
              <a:rPr lang="en-US" sz="1500" dirty="0">
                <a:solidFill>
                  <a:srgbClr val="9DADBC"/>
                </a:solidFill>
              </a:rPr>
              <a:t>The cost shows up twice as a side condition, and neither paper treats it as the measurement.</a:t>
            </a:r>
            <a:endParaRPr lang="en-US" sz="15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THE BET</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Assume the model can fool the probe. What does that cost?</a:t>
            </a:r>
            <a:endParaRPr lang="en-US" sz="2800" dirty="0"/>
          </a:p>
        </p:txBody>
      </p:sp>
      <p:sp>
        <p:nvSpPr>
          <p:cNvPr id="4" name="Text 2"/>
          <p:cNvSpPr txBox="1"/>
          <p:nvPr/>
        </p:nvSpPr>
        <p:spPr>
          <a:xfrm>
            <a:off x="566928" y="1481328"/>
            <a:ext cx="9509760" cy="475488"/>
          </a:xfrm>
          <a:prstGeom prst="rect">
            <a:avLst/>
          </a:prstGeom>
          <a:noFill/>
          <a:ln/>
        </p:spPr>
        <p:txBody>
          <a:bodyPr wrap="square" lIns="0" tIns="0" rIns="0" bIns="0" rtlCol="0" anchor="ctr"/>
          <a:lstStyle/>
          <a:p>
            <a:pPr indent="0" marL="0">
              <a:buNone/>
            </a:pPr>
            <a:r>
              <a:rPr lang="en-US" sz="1400" dirty="0">
                <a:solidFill>
                  <a:srgbClr val="4A5663"/>
                </a:solidFill>
              </a:rPr>
              <a:t>The probe reads the same internal state the model computes with, so pushing that state around should not be free. Three outcomes, written down before anything ran.</a:t>
            </a:r>
            <a:endParaRPr lang="en-US" sz="1400" dirty="0"/>
          </a:p>
        </p:txBody>
      </p:sp>
      <p:sp>
        <p:nvSpPr>
          <p:cNvPr id="5" name="outcome-0"/>
          <p:cNvSpPr/>
          <p:nvPr/>
        </p:nvSpPr>
        <p:spPr>
          <a:xfrm>
            <a:off x="566928" y="2139696"/>
            <a:ext cx="11057839" cy="914400"/>
          </a:xfrm>
          <a:prstGeom prst="roundRect">
            <a:avLst>
              <a:gd name="adj" fmla="val 8000"/>
            </a:avLst>
          </a:prstGeom>
          <a:solidFill>
            <a:srgbClr val="EEF1F4"/>
          </a:solidFill>
          <a:ln w="12700">
            <a:solidFill>
              <a:srgbClr val="EEF1F4"/>
            </a:solidFill>
            <a:prstDash val="solid"/>
          </a:ln>
        </p:spPr>
      </p:sp>
      <p:sp>
        <p:nvSpPr>
          <p:cNvPr id="6" name="badge-1"/>
          <p:cNvSpPr/>
          <p:nvPr/>
        </p:nvSpPr>
        <p:spPr>
          <a:xfrm>
            <a:off x="841248" y="2404872"/>
            <a:ext cx="384048" cy="384048"/>
          </a:xfrm>
          <a:prstGeom prst="ellipse">
            <a:avLst/>
          </a:prstGeom>
          <a:solidFill>
            <a:srgbClr val="C2541B"/>
          </a:solidFill>
          <a:ln w="12700">
            <a:solidFill>
              <a:srgbClr val="C2541B"/>
            </a:solidFill>
            <a:prstDash val="solid"/>
          </a:ln>
        </p:spPr>
      </p:sp>
      <p:sp>
        <p:nvSpPr>
          <p:cNvPr id="7" name="Text 5"/>
          <p:cNvSpPr txBox="1"/>
          <p:nvPr/>
        </p:nvSpPr>
        <p:spPr>
          <a:xfrm>
            <a:off x="841248" y="24048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6"/>
          <p:cNvSpPr txBox="1"/>
          <p:nvPr/>
        </p:nvSpPr>
        <p:spPr>
          <a:xfrm>
            <a:off x="1444752" y="2286000"/>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and sandbags just as well</a:t>
            </a:r>
            <a:endParaRPr lang="en-US" sz="1500" dirty="0"/>
          </a:p>
        </p:txBody>
      </p:sp>
      <p:sp>
        <p:nvSpPr>
          <p:cNvPr id="9" name="Text 7"/>
          <p:cNvSpPr txBox="1"/>
          <p:nvPr/>
        </p:nvSpPr>
        <p:spPr>
          <a:xfrm>
            <a:off x="1444752" y="2633472"/>
            <a:ext cx="9692640" cy="329184"/>
          </a:xfrm>
          <a:prstGeom prst="rect">
            <a:avLst/>
          </a:prstGeom>
          <a:noFill/>
          <a:ln/>
        </p:spPr>
        <p:txBody>
          <a:bodyPr wrap="square" lIns="0" tIns="0" rIns="0" bIns="0" rtlCol="0" anchor="ctr"/>
          <a:lstStyle/>
          <a:p>
            <a:pPr indent="0" marL="0">
              <a:buNone/>
            </a:pPr>
            <a:r>
              <a:rPr lang="en-US" sz="1250" dirty="0">
                <a:solidFill>
                  <a:srgbClr val="4A5663"/>
                </a:solidFill>
              </a:rPr>
              <a:t>The probe is close to useless against an attacker who knows about it.</a:t>
            </a:r>
            <a:endParaRPr lang="en-US" sz="1250" dirty="0"/>
          </a:p>
        </p:txBody>
      </p:sp>
      <p:sp>
        <p:nvSpPr>
          <p:cNvPr id="10" name="outcome-1"/>
          <p:cNvSpPr/>
          <p:nvPr/>
        </p:nvSpPr>
        <p:spPr>
          <a:xfrm>
            <a:off x="566928" y="3218688"/>
            <a:ext cx="11057839" cy="914400"/>
          </a:xfrm>
          <a:prstGeom prst="roundRect">
            <a:avLst>
              <a:gd name="adj" fmla="val 8000"/>
            </a:avLst>
          </a:prstGeom>
          <a:solidFill>
            <a:srgbClr val="EEF1F4"/>
          </a:solidFill>
          <a:ln w="12700">
            <a:solidFill>
              <a:srgbClr val="EEF1F4"/>
            </a:solidFill>
            <a:prstDash val="solid"/>
          </a:ln>
        </p:spPr>
      </p:sp>
      <p:sp>
        <p:nvSpPr>
          <p:cNvPr id="11" name="badge-2"/>
          <p:cNvSpPr/>
          <p:nvPr/>
        </p:nvSpPr>
        <p:spPr>
          <a:xfrm>
            <a:off x="841248" y="3483864"/>
            <a:ext cx="384048" cy="384048"/>
          </a:xfrm>
          <a:prstGeom prst="ellipse">
            <a:avLst/>
          </a:prstGeom>
          <a:solidFill>
            <a:srgbClr val="2E6E8E"/>
          </a:solidFill>
          <a:ln w="12700">
            <a:solidFill>
              <a:srgbClr val="2E6E8E"/>
            </a:solidFill>
            <a:prstDash val="solid"/>
          </a:ln>
        </p:spPr>
      </p:sp>
      <p:sp>
        <p:nvSpPr>
          <p:cNvPr id="12" name="Text 10"/>
          <p:cNvSpPr txBox="1"/>
          <p:nvPr/>
        </p:nvSpPr>
        <p:spPr>
          <a:xfrm>
            <a:off x="841248" y="3483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1"/>
          <p:cNvSpPr txBox="1"/>
          <p:nvPr/>
        </p:nvSpPr>
        <p:spPr>
          <a:xfrm>
            <a:off x="1444752" y="3364992"/>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and stops sandbagging</a:t>
            </a:r>
            <a:endParaRPr lang="en-US" sz="1500" dirty="0"/>
          </a:p>
        </p:txBody>
      </p:sp>
      <p:sp>
        <p:nvSpPr>
          <p:cNvPr id="14" name="Text 12"/>
          <p:cNvSpPr txBox="1"/>
          <p:nvPr/>
        </p:nvSpPr>
        <p:spPr>
          <a:xfrm>
            <a:off x="1444752" y="3712464"/>
            <a:ext cx="9692640" cy="329184"/>
          </a:xfrm>
          <a:prstGeom prst="rect">
            <a:avLst/>
          </a:prstGeom>
          <a:noFill/>
          <a:ln/>
        </p:spPr>
        <p:txBody>
          <a:bodyPr wrap="square" lIns="0" tIns="0" rIns="0" bIns="0" rtlCol="0" anchor="ctr"/>
          <a:lstStyle/>
          <a:p>
            <a:pPr indent="0" marL="0">
              <a:buNone/>
            </a:pPr>
            <a:r>
              <a:rPr lang="en-US" sz="1250" dirty="0">
                <a:solidFill>
                  <a:srgbClr val="4A5663"/>
                </a:solidFill>
              </a:rPr>
              <a:t>Evasion cost the attack. The probe was doing real work even though it can be evaded.</a:t>
            </a:r>
            <a:endParaRPr lang="en-US" sz="1250" dirty="0"/>
          </a:p>
        </p:txBody>
      </p:sp>
      <p:sp>
        <p:nvSpPr>
          <p:cNvPr id="15" name="outcome-2"/>
          <p:cNvSpPr/>
          <p:nvPr/>
        </p:nvSpPr>
        <p:spPr>
          <a:xfrm>
            <a:off x="566928" y="4297680"/>
            <a:ext cx="11057839" cy="914400"/>
          </a:xfrm>
          <a:prstGeom prst="roundRect">
            <a:avLst>
              <a:gd name="adj" fmla="val 8000"/>
            </a:avLst>
          </a:prstGeom>
          <a:solidFill>
            <a:srgbClr val="EEF1F4"/>
          </a:solidFill>
          <a:ln w="12700">
            <a:solidFill>
              <a:srgbClr val="EEF1F4"/>
            </a:solidFill>
            <a:prstDash val="solid"/>
          </a:ln>
        </p:spPr>
      </p:sp>
      <p:sp>
        <p:nvSpPr>
          <p:cNvPr id="16" name="badge-3"/>
          <p:cNvSpPr/>
          <p:nvPr/>
        </p:nvSpPr>
        <p:spPr>
          <a:xfrm>
            <a:off x="841248" y="4562856"/>
            <a:ext cx="384048" cy="384048"/>
          </a:xfrm>
          <a:prstGeom prst="ellipse">
            <a:avLst/>
          </a:prstGeom>
          <a:solidFill>
            <a:srgbClr val="2E6E8E"/>
          </a:solidFill>
          <a:ln w="12700">
            <a:solidFill>
              <a:srgbClr val="2E6E8E"/>
            </a:solidFill>
            <a:prstDash val="solid"/>
          </a:ln>
        </p:spPr>
      </p:sp>
      <p:sp>
        <p:nvSpPr>
          <p:cNvPr id="17" name="Text 15"/>
          <p:cNvSpPr txBox="1"/>
          <p:nvPr/>
        </p:nvSpPr>
        <p:spPr>
          <a:xfrm>
            <a:off x="841248" y="4562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444752" y="4443984"/>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but the text monitor lights up</a:t>
            </a:r>
            <a:endParaRPr lang="en-US" sz="1500" dirty="0"/>
          </a:p>
        </p:txBody>
      </p:sp>
      <p:sp>
        <p:nvSpPr>
          <p:cNvPr id="19" name="Text 17"/>
          <p:cNvSpPr txBox="1"/>
          <p:nvPr/>
        </p:nvSpPr>
        <p:spPr>
          <a:xfrm>
            <a:off x="1444752" y="4791456"/>
            <a:ext cx="9692640" cy="329184"/>
          </a:xfrm>
          <a:prstGeom prst="rect">
            <a:avLst/>
          </a:prstGeom>
          <a:noFill/>
          <a:ln/>
        </p:spPr>
        <p:txBody>
          <a:bodyPr wrap="square" lIns="0" tIns="0" rIns="0" bIns="0" rtlCol="0" anchor="ctr"/>
          <a:lstStyle/>
          <a:p>
            <a:pPr indent="0" marL="0">
              <a:buNone/>
            </a:pPr>
            <a:r>
              <a:rPr lang="en-US" sz="1250" dirty="0">
                <a:solidFill>
                  <a:srgbClr val="4A5663"/>
                </a:solidFill>
              </a:rPr>
              <a:t>The probe pushed the attack somewhere another defence can see.</a:t>
            </a:r>
            <a:endParaRPr lang="en-US" sz="1250" dirty="0"/>
          </a:p>
        </p:txBody>
      </p:sp>
      <p:sp>
        <p:nvSpPr>
          <p:cNvPr id="20" name="Text 18"/>
          <p:cNvSpPr txBox="1"/>
          <p:nvPr/>
        </p:nvSpPr>
        <p:spPr>
          <a:xfrm>
            <a:off x="566928" y="5522976"/>
            <a:ext cx="11057839" cy="365760"/>
          </a:xfrm>
          <a:prstGeom prst="rect">
            <a:avLst/>
          </a:prstGeom>
          <a:noFill/>
          <a:ln/>
        </p:spPr>
        <p:txBody>
          <a:bodyPr wrap="square" lIns="0" tIns="0" rIns="0" bIns="0" rtlCol="0" anchor="ctr"/>
          <a:lstStyle/>
          <a:p>
            <a:pPr indent="0" marL="0">
              <a:buNone/>
            </a:pPr>
            <a:r>
              <a:rPr lang="en-US" sz="1400" b="1" dirty="0">
                <a:solidFill>
                  <a:srgbClr val="1A2230"/>
                </a:solidFill>
              </a:rPr>
              <a:t>The tax</a:t>
            </a:r>
            <a:pPr indent="0" marL="0">
              <a:buNone/>
            </a:pPr>
            <a:r>
              <a:rPr lang="en-US" sz="1400" dirty="0">
                <a:solidFill>
                  <a:srgbClr val="4A5663"/>
                </a:solidFill>
              </a:rPr>
              <a:t>  is the gap between how fast detection falls and how fast the attack falls.</a:t>
            </a:r>
            <a:endParaRPr lang="en-US" sz="1400" dirty="0"/>
          </a:p>
        </p:txBody>
      </p:sp>
      <p:sp>
        <p:nvSpPr>
          <p:cNvPr id="21"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A fourth pattern was written down as a non-result: detection falling because the model was steered into incoherence.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METHOD</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How the measurement is built</a:t>
            </a:r>
            <a:endParaRPr lang="en-US" sz="2800" dirty="0"/>
          </a:p>
        </p:txBody>
      </p:sp>
      <p:sp>
        <p:nvSpPr>
          <p:cNvPr id="4" name="step-0"/>
          <p:cNvSpPr/>
          <p:nvPr/>
        </p:nvSpPr>
        <p:spPr>
          <a:xfrm>
            <a:off x="566928" y="1481328"/>
            <a:ext cx="3493008" cy="1389888"/>
          </a:xfrm>
          <a:prstGeom prst="roundRect">
            <a:avLst>
              <a:gd name="adj" fmla="val 5263"/>
            </a:avLst>
          </a:prstGeom>
          <a:solidFill>
            <a:srgbClr val="EEF1F4"/>
          </a:solidFill>
          <a:ln w="12700">
            <a:solidFill>
              <a:srgbClr val="EEF1F4"/>
            </a:solidFill>
            <a:prstDash val="solid"/>
          </a:ln>
        </p:spPr>
      </p:sp>
      <p:sp>
        <p:nvSpPr>
          <p:cNvPr id="5" name="badge-1"/>
          <p:cNvSpPr/>
          <p:nvPr/>
        </p:nvSpPr>
        <p:spPr>
          <a:xfrm>
            <a:off x="786384" y="1700784"/>
            <a:ext cx="329184" cy="329184"/>
          </a:xfrm>
          <a:prstGeom prst="ellipse">
            <a:avLst/>
          </a:prstGeom>
          <a:solidFill>
            <a:srgbClr val="1A2230"/>
          </a:solidFill>
          <a:ln w="12700">
            <a:solidFill>
              <a:srgbClr val="1A2230"/>
            </a:solidFill>
            <a:prstDash val="solid"/>
          </a:ln>
        </p:spPr>
      </p:sp>
      <p:sp>
        <p:nvSpPr>
          <p:cNvPr id="6" name="Text 4"/>
          <p:cNvSpPr txBox="1"/>
          <p:nvPr/>
        </p:nvSpPr>
        <p:spPr>
          <a:xfrm>
            <a:off x="786384"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207008"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300 mbpp problems</a:t>
            </a:r>
            <a:endParaRPr lang="en-US" sz="1400" dirty="0"/>
          </a:p>
        </p:txBody>
      </p:sp>
      <p:sp>
        <p:nvSpPr>
          <p:cNvPr id="8" name="Text 6"/>
          <p:cNvSpPr txBox="1"/>
          <p:nvPr/>
        </p:nvSpPr>
        <p:spPr>
          <a:xfrm>
            <a:off x="786384"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Natural-language spec plus a visible test. Scored by running the official tests, so the ground truth is executable.</a:t>
            </a:r>
            <a:endParaRPr lang="en-US" sz="1150" dirty="0"/>
          </a:p>
        </p:txBody>
      </p:sp>
      <p:sp>
        <p:nvSpPr>
          <p:cNvPr id="9" name="step-1"/>
          <p:cNvSpPr/>
          <p:nvPr/>
        </p:nvSpPr>
        <p:spPr>
          <a:xfrm>
            <a:off x="4334256" y="1481328"/>
            <a:ext cx="3493008" cy="1389888"/>
          </a:xfrm>
          <a:prstGeom prst="roundRect">
            <a:avLst>
              <a:gd name="adj" fmla="val 5263"/>
            </a:avLst>
          </a:prstGeom>
          <a:solidFill>
            <a:srgbClr val="EEF1F4"/>
          </a:solidFill>
          <a:ln w="12700">
            <a:solidFill>
              <a:srgbClr val="EEF1F4"/>
            </a:solidFill>
            <a:prstDash val="solid"/>
          </a:ln>
        </p:spPr>
      </p:sp>
      <p:sp>
        <p:nvSpPr>
          <p:cNvPr id="10" name="badge-2"/>
          <p:cNvSpPr/>
          <p:nvPr/>
        </p:nvSpPr>
        <p:spPr>
          <a:xfrm>
            <a:off x="4553712" y="1700784"/>
            <a:ext cx="329184" cy="329184"/>
          </a:xfrm>
          <a:prstGeom prst="ellipse">
            <a:avLst/>
          </a:prstGeom>
          <a:solidFill>
            <a:srgbClr val="1A2230"/>
          </a:solidFill>
          <a:ln w="12700">
            <a:solidFill>
              <a:srgbClr val="1A2230"/>
            </a:solidFill>
            <a:prstDash val="solid"/>
          </a:ln>
        </p:spPr>
      </p:sp>
      <p:sp>
        <p:nvSpPr>
          <p:cNvPr id="11" name="Text 9"/>
          <p:cNvSpPr txBox="1"/>
          <p:nvPr/>
        </p:nvSpPr>
        <p:spPr>
          <a:xfrm>
            <a:off x="4553712"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4974336"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Two prompts per problem</a:t>
            </a:r>
            <a:endParaRPr lang="en-US" sz="1400" dirty="0"/>
          </a:p>
        </p:txBody>
      </p:sp>
      <p:sp>
        <p:nvSpPr>
          <p:cNvPr id="13" name="Text 11"/>
          <p:cNvSpPr txBox="1"/>
          <p:nvPr/>
        </p:nvSpPr>
        <p:spPr>
          <a:xfrm>
            <a:off x="4553712"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Honest, and a sandbagging prompt asking for something subtly wrong that still reads as sincere.</a:t>
            </a:r>
            <a:endParaRPr lang="en-US" sz="1150" dirty="0"/>
          </a:p>
        </p:txBody>
      </p:sp>
      <p:sp>
        <p:nvSpPr>
          <p:cNvPr id="14" name="step-2"/>
          <p:cNvSpPr/>
          <p:nvPr/>
        </p:nvSpPr>
        <p:spPr>
          <a:xfrm>
            <a:off x="8101584" y="1481328"/>
            <a:ext cx="3493008" cy="1389888"/>
          </a:xfrm>
          <a:prstGeom prst="roundRect">
            <a:avLst>
              <a:gd name="adj" fmla="val 5263"/>
            </a:avLst>
          </a:prstGeom>
          <a:solidFill>
            <a:srgbClr val="EEF1F4"/>
          </a:solidFill>
          <a:ln w="12700">
            <a:solidFill>
              <a:srgbClr val="EEF1F4"/>
            </a:solidFill>
            <a:prstDash val="solid"/>
          </a:ln>
        </p:spPr>
      </p:sp>
      <p:sp>
        <p:nvSpPr>
          <p:cNvPr id="15" name="badge-3"/>
          <p:cNvSpPr/>
          <p:nvPr/>
        </p:nvSpPr>
        <p:spPr>
          <a:xfrm>
            <a:off x="8321040" y="1700784"/>
            <a:ext cx="329184" cy="329184"/>
          </a:xfrm>
          <a:prstGeom prst="ellipse">
            <a:avLst/>
          </a:prstGeom>
          <a:solidFill>
            <a:srgbClr val="1A2230"/>
          </a:solidFill>
          <a:ln w="12700">
            <a:solidFill>
              <a:srgbClr val="1A2230"/>
            </a:solidFill>
            <a:prstDash val="solid"/>
          </a:ln>
        </p:spPr>
      </p:sp>
      <p:sp>
        <p:nvSpPr>
          <p:cNvPr id="16" name="Text 14"/>
          <p:cNvSpPr txBox="1"/>
          <p:nvPr/>
        </p:nvSpPr>
        <p:spPr>
          <a:xfrm>
            <a:off x="8321040"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8741664"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Attack = a flip</a:t>
            </a:r>
            <a:endParaRPr lang="en-US" sz="1400" dirty="0"/>
          </a:p>
        </p:txBody>
      </p:sp>
      <p:sp>
        <p:nvSpPr>
          <p:cNvPr id="18" name="Text 16"/>
          <p:cNvSpPr txBox="1"/>
          <p:nvPr/>
        </p:nvSpPr>
        <p:spPr>
          <a:xfrm>
            <a:off x="8321040"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Right under the honest prompt and wrong under the sandbagging one, on the same problem. A validity flag keeps breakage out.</a:t>
            </a:r>
            <a:endParaRPr lang="en-US" sz="1150" dirty="0"/>
          </a:p>
        </p:txBody>
      </p:sp>
      <p:sp>
        <p:nvSpPr>
          <p:cNvPr id="19" name="step-3"/>
          <p:cNvSpPr/>
          <p:nvPr/>
        </p:nvSpPr>
        <p:spPr>
          <a:xfrm>
            <a:off x="566928" y="3127248"/>
            <a:ext cx="3493008" cy="1389888"/>
          </a:xfrm>
          <a:prstGeom prst="roundRect">
            <a:avLst>
              <a:gd name="adj" fmla="val 5263"/>
            </a:avLst>
          </a:prstGeom>
          <a:solidFill>
            <a:srgbClr val="EEF1F4"/>
          </a:solidFill>
          <a:ln w="12700">
            <a:solidFill>
              <a:srgbClr val="EEF1F4"/>
            </a:solidFill>
            <a:prstDash val="solid"/>
          </a:ln>
        </p:spPr>
      </p:sp>
      <p:sp>
        <p:nvSpPr>
          <p:cNvPr id="20" name="badge-4"/>
          <p:cNvSpPr/>
          <p:nvPr/>
        </p:nvSpPr>
        <p:spPr>
          <a:xfrm>
            <a:off x="786384" y="3346704"/>
            <a:ext cx="329184" cy="329184"/>
          </a:xfrm>
          <a:prstGeom prst="ellipse">
            <a:avLst/>
          </a:prstGeom>
          <a:solidFill>
            <a:srgbClr val="2E6E8E"/>
          </a:solidFill>
          <a:ln w="12700">
            <a:solidFill>
              <a:srgbClr val="2E6E8E"/>
            </a:solidFill>
            <a:prstDash val="solid"/>
          </a:ln>
        </p:spPr>
      </p:sp>
      <p:sp>
        <p:nvSpPr>
          <p:cNvPr id="21" name="Text 19"/>
          <p:cNvSpPr txBox="1"/>
          <p:nvPr/>
        </p:nvSpPr>
        <p:spPr>
          <a:xfrm>
            <a:off x="786384"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2" name="Text 20"/>
          <p:cNvSpPr txBox="1"/>
          <p:nvPr/>
        </p:nvSpPr>
        <p:spPr>
          <a:xfrm>
            <a:off x="1207008"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Probe at layer 20</a:t>
            </a:r>
            <a:endParaRPr lang="en-US" sz="1400" dirty="0"/>
          </a:p>
        </p:txBody>
      </p:sp>
      <p:sp>
        <p:nvSpPr>
          <p:cNvPr id="23" name="Text 21"/>
          <p:cNvSpPr txBox="1"/>
          <p:nvPr/>
        </p:nvSpPr>
        <p:spPr>
          <a:xfrm>
            <a:off x="786384"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Logistic regression on the residual stream, pooled over answer tokens only, split by problem.</a:t>
            </a:r>
            <a:endParaRPr lang="en-US" sz="1150" dirty="0"/>
          </a:p>
        </p:txBody>
      </p:sp>
      <p:sp>
        <p:nvSpPr>
          <p:cNvPr id="24" name="step-4"/>
          <p:cNvSpPr/>
          <p:nvPr/>
        </p:nvSpPr>
        <p:spPr>
          <a:xfrm>
            <a:off x="4334256" y="3127248"/>
            <a:ext cx="3493008" cy="1389888"/>
          </a:xfrm>
          <a:prstGeom prst="roundRect">
            <a:avLst>
              <a:gd name="adj" fmla="val 5263"/>
            </a:avLst>
          </a:prstGeom>
          <a:solidFill>
            <a:srgbClr val="EEF1F4"/>
          </a:solidFill>
          <a:ln w="12700">
            <a:solidFill>
              <a:srgbClr val="EEF1F4"/>
            </a:solidFill>
            <a:prstDash val="solid"/>
          </a:ln>
        </p:spPr>
      </p:sp>
      <p:sp>
        <p:nvSpPr>
          <p:cNvPr id="25" name="badge-5"/>
          <p:cNvSpPr/>
          <p:nvPr/>
        </p:nvSpPr>
        <p:spPr>
          <a:xfrm>
            <a:off x="4553712" y="3346704"/>
            <a:ext cx="329184" cy="329184"/>
          </a:xfrm>
          <a:prstGeom prst="ellipse">
            <a:avLst/>
          </a:prstGeom>
          <a:solidFill>
            <a:srgbClr val="2E6E8E"/>
          </a:solidFill>
          <a:ln w="12700">
            <a:solidFill>
              <a:srgbClr val="2E6E8E"/>
            </a:solidFill>
            <a:prstDash val="solid"/>
          </a:ln>
        </p:spPr>
      </p:sp>
      <p:sp>
        <p:nvSpPr>
          <p:cNvPr id="26" name="Text 24"/>
          <p:cNvSpPr txBox="1"/>
          <p:nvPr/>
        </p:nvSpPr>
        <p:spPr>
          <a:xfrm>
            <a:off x="4553712"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7" name="Text 25"/>
          <p:cNvSpPr txBox="1"/>
          <p:nvPr/>
        </p:nvSpPr>
        <p:spPr>
          <a:xfrm>
            <a:off x="4974336"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Steer during generation</a:t>
            </a:r>
            <a:endParaRPr lang="en-US" sz="1400" dirty="0"/>
          </a:p>
        </p:txBody>
      </p:sp>
      <p:sp>
        <p:nvSpPr>
          <p:cNvPr id="28" name="Text 26"/>
          <p:cNvSpPr txBox="1"/>
          <p:nvPr/>
        </p:nvSpPr>
        <p:spPr>
          <a:xfrm>
            <a:off x="4553712"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Subtract alpha × unit(w) at every position. Features re-read under the same hook.</a:t>
            </a:r>
            <a:endParaRPr lang="en-US" sz="1150" dirty="0"/>
          </a:p>
        </p:txBody>
      </p:sp>
      <p:sp>
        <p:nvSpPr>
          <p:cNvPr id="29" name="step-5"/>
          <p:cNvSpPr/>
          <p:nvPr/>
        </p:nvSpPr>
        <p:spPr>
          <a:xfrm>
            <a:off x="8101584" y="3127248"/>
            <a:ext cx="3493008" cy="1389888"/>
          </a:xfrm>
          <a:prstGeom prst="roundRect">
            <a:avLst>
              <a:gd name="adj" fmla="val 5263"/>
            </a:avLst>
          </a:prstGeom>
          <a:solidFill>
            <a:srgbClr val="EEF1F4"/>
          </a:solidFill>
          <a:ln w="12700">
            <a:solidFill>
              <a:srgbClr val="EEF1F4"/>
            </a:solidFill>
            <a:prstDash val="solid"/>
          </a:ln>
        </p:spPr>
      </p:sp>
      <p:sp>
        <p:nvSpPr>
          <p:cNvPr id="30" name="badge-6"/>
          <p:cNvSpPr/>
          <p:nvPr/>
        </p:nvSpPr>
        <p:spPr>
          <a:xfrm>
            <a:off x="8321040" y="3346704"/>
            <a:ext cx="329184" cy="329184"/>
          </a:xfrm>
          <a:prstGeom prst="ellipse">
            <a:avLst/>
          </a:prstGeom>
          <a:solidFill>
            <a:srgbClr val="2E6E8E"/>
          </a:solidFill>
          <a:ln w="12700">
            <a:solidFill>
              <a:srgbClr val="2E6E8E"/>
            </a:solidFill>
            <a:prstDash val="solid"/>
          </a:ln>
        </p:spPr>
      </p:sp>
      <p:sp>
        <p:nvSpPr>
          <p:cNvPr id="31" name="Text 29"/>
          <p:cNvSpPr txBox="1"/>
          <p:nvPr/>
        </p:nvSpPr>
        <p:spPr>
          <a:xfrm>
            <a:off x="8321040"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2" name="Text 30"/>
          <p:cNvSpPr txBox="1"/>
          <p:nvPr/>
        </p:nvSpPr>
        <p:spPr>
          <a:xfrm>
            <a:off x="8741664"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Measure four columns</a:t>
            </a:r>
            <a:endParaRPr lang="en-US" sz="1400" dirty="0"/>
          </a:p>
        </p:txBody>
      </p:sp>
      <p:sp>
        <p:nvSpPr>
          <p:cNvPr id="33" name="Text 31"/>
          <p:cNvSpPr txBox="1"/>
          <p:nvPr/>
        </p:nvSpPr>
        <p:spPr>
          <a:xfrm>
            <a:off x="8321040"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Attacked probe, a transfer probe at layer 28 never steered, the accuracy drop, and a text-only monitor.</a:t>
            </a:r>
            <a:endParaRPr lang="en-US" sz="1150" dirty="0"/>
          </a:p>
        </p:txBody>
      </p:sp>
      <p:sp>
        <p:nvSpPr>
          <p:cNvPr id="34" name="gates"/>
          <p:cNvSpPr/>
          <p:nvPr/>
        </p:nvSpPr>
        <p:spPr>
          <a:xfrm>
            <a:off x="566928" y="4736592"/>
            <a:ext cx="11057839" cy="786384"/>
          </a:xfrm>
          <a:prstGeom prst="roundRect">
            <a:avLst>
              <a:gd name="adj" fmla="val 9302"/>
            </a:avLst>
          </a:prstGeom>
          <a:solidFill>
            <a:srgbClr val="15202B"/>
          </a:solidFill>
          <a:ln w="12700">
            <a:solidFill>
              <a:srgbClr val="15202B"/>
            </a:solidFill>
            <a:prstDash val="solid"/>
          </a:ln>
        </p:spPr>
      </p:sp>
      <p:sp>
        <p:nvSpPr>
          <p:cNvPr id="35" name="Text 33"/>
          <p:cNvSpPr txBox="1"/>
          <p:nvPr/>
        </p:nvSpPr>
        <p:spPr>
          <a:xfrm>
            <a:off x="877824" y="4736592"/>
            <a:ext cx="10436047" cy="786384"/>
          </a:xfrm>
          <a:prstGeom prst="rect">
            <a:avLst/>
          </a:prstGeom>
          <a:noFill/>
          <a:ln/>
        </p:spPr>
        <p:txBody>
          <a:bodyPr wrap="square" lIns="0" tIns="0" rIns="0" bIns="0" rtlCol="0" anchor="ctr"/>
          <a:lstStyle/>
          <a:p>
            <a:pPr indent="0" marL="0">
              <a:buNone/>
            </a:pPr>
            <a:r>
              <a:rPr lang="en-US" sz="1400" dirty="0">
                <a:solidFill>
                  <a:srgbClr val="9DADBC"/>
                </a:solidFill>
              </a:rPr>
              <a:t>Gated before any steering runs:  </a:t>
            </a:r>
            <a:pPr indent="0" marL="0">
              <a:buNone/>
            </a:pPr>
            <a:r>
              <a:rPr lang="en-US" sz="1400" b="1" dirty="0">
                <a:solidFill>
                  <a:srgbClr val="FFFFFF"/>
                </a:solidFill>
              </a:rPr>
              <a:t>at least 40 successful attacks</a:t>
            </a:r>
            <a:pPr indent="0" marL="0">
              <a:buNone/>
            </a:pPr>
            <a:r>
              <a:rPr lang="en-US" sz="1400" dirty="0">
                <a:solidFill>
                  <a:srgbClr val="9DADBC"/>
                </a:solidFill>
              </a:rPr>
              <a:t>  and  </a:t>
            </a:r>
            <a:pPr indent="0" marL="0">
              <a:buNone/>
            </a:pPr>
            <a:r>
              <a:rPr lang="en-US" sz="1400" b="1" dirty="0">
                <a:solidFill>
                  <a:srgbClr val="FFFFFF"/>
                </a:solidFill>
              </a:rPr>
              <a:t>a headline AUROC above 0.65</a:t>
            </a:r>
            <a:endParaRPr lang="en-US" sz="1400" dirty="0"/>
          </a:p>
        </p:txBody>
      </p:sp>
      <p:sp>
        <p:nvSpPr>
          <p:cNvPr id="36"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Model: Qwen/Qwen3.5-4B, reasoning off, greedy. Reasoning on costs 68.5 s per generation, 11.4 hours for one pass.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STEPS 1 AND 2</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preconditions, and the first warning we ignored</a:t>
            </a:r>
            <a:endParaRPr lang="en-US" sz="2800" dirty="0"/>
          </a:p>
        </p:txBody>
      </p:sp>
      <p:sp>
        <p:nvSpPr>
          <p:cNvPr id="4" name="pre-0"/>
          <p:cNvSpPr/>
          <p:nvPr/>
        </p:nvSpPr>
        <p:spPr>
          <a:xfrm>
            <a:off x="566928" y="1481328"/>
            <a:ext cx="2633472" cy="1335024"/>
          </a:xfrm>
          <a:prstGeom prst="roundRect">
            <a:avLst>
              <a:gd name="adj" fmla="val 5479"/>
            </a:avLst>
          </a:prstGeom>
          <a:solidFill>
            <a:srgbClr val="EEF1F4"/>
          </a:solidFill>
          <a:ln w="12700">
            <a:solidFill>
              <a:srgbClr val="EEF1F4"/>
            </a:solidFill>
            <a:prstDash val="solid"/>
          </a:ln>
        </p:spPr>
      </p:sp>
      <p:sp>
        <p:nvSpPr>
          <p:cNvPr id="5" name="stat-accuracy drop, 48.7% to 44.0%"/>
          <p:cNvSpPr txBox="1"/>
          <p:nvPr/>
        </p:nvSpPr>
        <p:spPr>
          <a:xfrm>
            <a:off x="804672"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4.67 pts</a:t>
            </a:r>
            <a:endParaRPr lang="en-US" sz="2500" dirty="0"/>
          </a:p>
        </p:txBody>
      </p:sp>
      <p:sp>
        <p:nvSpPr>
          <p:cNvPr id="6" name="Text 4"/>
          <p:cNvSpPr txBox="1"/>
          <p:nvPr/>
        </p:nvSpPr>
        <p:spPr>
          <a:xfrm>
            <a:off x="804672"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accuracy drop, 48.7% to 44.0%</a:t>
            </a:r>
            <a:endParaRPr lang="en-US" sz="1200" dirty="0"/>
          </a:p>
        </p:txBody>
      </p:sp>
      <p:sp>
        <p:nvSpPr>
          <p:cNvPr id="7" name="pre-1"/>
          <p:cNvSpPr/>
          <p:nvPr/>
        </p:nvSpPr>
        <p:spPr>
          <a:xfrm>
            <a:off x="3374136" y="1481328"/>
            <a:ext cx="2633472" cy="1335024"/>
          </a:xfrm>
          <a:prstGeom prst="roundRect">
            <a:avLst>
              <a:gd name="adj" fmla="val 5479"/>
            </a:avLst>
          </a:prstGeom>
          <a:solidFill>
            <a:srgbClr val="EEF1F4"/>
          </a:solidFill>
          <a:ln w="12700">
            <a:solidFill>
              <a:srgbClr val="EEF1F4"/>
            </a:solidFill>
            <a:prstDash val="solid"/>
          </a:ln>
        </p:spPr>
      </p:sp>
      <p:sp>
        <p:nvSpPr>
          <p:cNvPr id="8" name="stat-McNemar, on the paired flips"/>
          <p:cNvSpPr txBox="1"/>
          <p:nvPr/>
        </p:nvSpPr>
        <p:spPr>
          <a:xfrm>
            <a:off x="3611880"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p = 0.092</a:t>
            </a:r>
            <a:endParaRPr lang="en-US" sz="2500" dirty="0"/>
          </a:p>
        </p:txBody>
      </p:sp>
      <p:sp>
        <p:nvSpPr>
          <p:cNvPr id="9" name="Text 7"/>
          <p:cNvSpPr txBox="1"/>
          <p:nvPr/>
        </p:nvSpPr>
        <p:spPr>
          <a:xfrm>
            <a:off x="3611880"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McNemar, on the paired flips</a:t>
            </a:r>
            <a:endParaRPr lang="en-US" sz="1200" dirty="0"/>
          </a:p>
        </p:txBody>
      </p:sp>
      <p:sp>
        <p:nvSpPr>
          <p:cNvPr id="10" name="pre-2"/>
          <p:cNvSpPr/>
          <p:nvPr/>
        </p:nvSpPr>
        <p:spPr>
          <a:xfrm>
            <a:off x="6181344" y="1481328"/>
            <a:ext cx="2633472" cy="1335024"/>
          </a:xfrm>
          <a:prstGeom prst="roundRect">
            <a:avLst>
              <a:gd name="adj" fmla="val 5479"/>
            </a:avLst>
          </a:prstGeom>
          <a:solidFill>
            <a:srgbClr val="EEF1F4"/>
          </a:solidFill>
          <a:ln w="12700">
            <a:solidFill>
              <a:srgbClr val="EEF1F4"/>
            </a:solidFill>
            <a:prstDash val="solid"/>
          </a:ln>
        </p:spPr>
      </p:sp>
      <p:sp>
        <p:nvSpPr>
          <p:cNvPr id="11" name="stat-answerable problems of 300"/>
          <p:cNvSpPr txBox="1"/>
          <p:nvPr/>
        </p:nvSpPr>
        <p:spPr>
          <a:xfrm>
            <a:off x="6419088"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146</a:t>
            </a:r>
            <a:endParaRPr lang="en-US" sz="2500" dirty="0"/>
          </a:p>
        </p:txBody>
      </p:sp>
      <p:sp>
        <p:nvSpPr>
          <p:cNvPr id="12" name="Text 10"/>
          <p:cNvSpPr txBox="1"/>
          <p:nvPr/>
        </p:nvSpPr>
        <p:spPr>
          <a:xfrm>
            <a:off x="6419088"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answerable problems of 300</a:t>
            </a:r>
            <a:endParaRPr lang="en-US" sz="1200" dirty="0"/>
          </a:p>
        </p:txBody>
      </p:sp>
      <p:sp>
        <p:nvSpPr>
          <p:cNvPr id="13" name="pre-3"/>
          <p:cNvSpPr/>
          <p:nvPr/>
        </p:nvSpPr>
        <p:spPr>
          <a:xfrm>
            <a:off x="8988552" y="1481328"/>
            <a:ext cx="2633472" cy="1335024"/>
          </a:xfrm>
          <a:prstGeom prst="roundRect">
            <a:avLst>
              <a:gd name="adj" fmla="val 5479"/>
            </a:avLst>
          </a:prstGeom>
          <a:solidFill>
            <a:srgbClr val="EEF1F4"/>
          </a:solidFill>
          <a:ln w="12700">
            <a:solidFill>
              <a:srgbClr val="EEF1F4"/>
            </a:solidFill>
            <a:prstDash val="solid"/>
          </a:ln>
        </p:spPr>
      </p:sp>
      <p:sp>
        <p:nvSpPr>
          <p:cNvPr id="14" name="stat-attack rate on answerable"/>
          <p:cNvSpPr txBox="1"/>
          <p:nvPr/>
        </p:nvSpPr>
        <p:spPr>
          <a:xfrm>
            <a:off x="9226296"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25.3%</a:t>
            </a:r>
            <a:endParaRPr lang="en-US" sz="2500" dirty="0"/>
          </a:p>
        </p:txBody>
      </p:sp>
      <p:sp>
        <p:nvSpPr>
          <p:cNvPr id="15" name="Text 13"/>
          <p:cNvSpPr txBox="1"/>
          <p:nvPr/>
        </p:nvSpPr>
        <p:spPr>
          <a:xfrm>
            <a:off x="9226296"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attack rate on answerable</a:t>
            </a:r>
            <a:endParaRPr lang="en-US" sz="1200" dirty="0"/>
          </a:p>
        </p:txBody>
      </p:sp>
      <p:sp>
        <p:nvSpPr>
          <p:cNvPr id="16" name="gate-fail"/>
          <p:cNvSpPr/>
          <p:nvPr/>
        </p:nvSpPr>
        <p:spPr>
          <a:xfrm>
            <a:off x="566928" y="3035808"/>
            <a:ext cx="5394960" cy="2286000"/>
          </a:xfrm>
          <a:prstGeom prst="roundRect">
            <a:avLst>
              <a:gd name="adj" fmla="val 3200"/>
            </a:avLst>
          </a:prstGeom>
          <a:solidFill>
            <a:srgbClr val="F7E9E1"/>
          </a:solidFill>
          <a:ln w="12700">
            <a:solidFill>
              <a:srgbClr val="F7E9E1"/>
            </a:solidFill>
            <a:prstDash val="solid"/>
          </a:ln>
        </p:spPr>
      </p:sp>
      <p:sp>
        <p:nvSpPr>
          <p:cNvPr id="17" name="Text 15"/>
          <p:cNvSpPr txBox="1"/>
          <p:nvPr/>
        </p:nvSpPr>
        <p:spPr>
          <a:xfrm>
            <a:off x="877824" y="3236976"/>
            <a:ext cx="475488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The gate failed</a:t>
            </a:r>
            <a:endParaRPr lang="en-US" sz="1900" dirty="0"/>
          </a:p>
        </p:txBody>
      </p:sp>
      <p:sp>
        <p:nvSpPr>
          <p:cNvPr id="18" name="Text 16"/>
          <p:cNvSpPr txBox="1"/>
          <p:nvPr/>
        </p:nvSpPr>
        <p:spPr>
          <a:xfrm>
            <a:off x="877824" y="3675888"/>
            <a:ext cx="4754880" cy="786384"/>
          </a:xfrm>
          <a:prstGeom prst="rect">
            <a:avLst/>
          </a:prstGeom>
          <a:noFill/>
          <a:ln/>
        </p:spPr>
        <p:txBody>
          <a:bodyPr wrap="square" lIns="0" tIns="0" rIns="0" bIns="0" rtlCol="0" anchor="ctr"/>
          <a:lstStyle/>
          <a:p>
            <a:pPr indent="0" marL="0">
              <a:buNone/>
            </a:pPr>
            <a:r>
              <a:rPr lang="en-US" sz="4000" b="1" dirty="0">
                <a:solidFill>
                  <a:srgbClr val="C2541B"/>
                </a:solidFill>
                <a:latin typeface="Cambria" pitchFamily="34" charset="0"/>
                <a:ea typeface="Cambria" pitchFamily="34" charset="-122"/>
                <a:cs typeface="Cambria" pitchFamily="34" charset="-120"/>
              </a:rPr>
              <a:t>37</a:t>
            </a:r>
            <a:pPr indent="0" marL="0">
              <a:buNone/>
            </a:pPr>
            <a:r>
              <a:rPr lang="en-US" sz="1400" dirty="0">
                <a:solidFill>
                  <a:srgbClr val="4A5663"/>
                </a:solidFill>
              </a:rPr>
              <a:t>  successful attacks against a minimum of 40.</a:t>
            </a:r>
            <a:endParaRPr lang="en-US" sz="4000" dirty="0"/>
          </a:p>
        </p:txBody>
      </p:sp>
      <p:sp>
        <p:nvSpPr>
          <p:cNvPr id="19" name="Text 17"/>
          <p:cNvSpPr txBox="1"/>
          <p:nvPr/>
        </p:nvSpPr>
        <p:spPr>
          <a:xfrm>
            <a:off x="877824" y="4517136"/>
            <a:ext cx="4754880" cy="749808"/>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The sweep ran anyway, on a held-out half holding 20 of those 37. Every confidence interval in this deck is wide because of that.</a:t>
            </a:r>
            <a:endParaRPr lang="en-US" sz="1250" dirty="0"/>
          </a:p>
        </p:txBody>
      </p:sp>
      <p:sp>
        <p:nvSpPr>
          <p:cNvPr id="20" name="grid-warn"/>
          <p:cNvSpPr/>
          <p:nvPr/>
        </p:nvSpPr>
        <p:spPr>
          <a:xfrm>
            <a:off x="6236208" y="3035808"/>
            <a:ext cx="5385816" cy="2286000"/>
          </a:xfrm>
          <a:prstGeom prst="roundRect">
            <a:avLst>
              <a:gd name="adj" fmla="val 3200"/>
            </a:avLst>
          </a:prstGeom>
          <a:solidFill>
            <a:srgbClr val="EEF1F4"/>
          </a:solidFill>
          <a:ln w="12700">
            <a:solidFill>
              <a:srgbClr val="EEF1F4"/>
            </a:solidFill>
            <a:prstDash val="solid"/>
          </a:ln>
        </p:spPr>
      </p:sp>
      <p:sp>
        <p:nvSpPr>
          <p:cNvPr id="21" name="Text 19"/>
          <p:cNvSpPr txBox="1"/>
          <p:nvPr/>
        </p:nvSpPr>
        <p:spPr>
          <a:xfrm>
            <a:off x="6547104" y="3236976"/>
            <a:ext cx="4754880" cy="365760"/>
          </a:xfrm>
          <a:prstGeom prst="rect">
            <a:avLst/>
          </a:prstGeom>
          <a:noFill/>
          <a:ln/>
        </p:spPr>
        <p:txBody>
          <a:bodyPr wrap="square" lIns="0" tIns="0" rIns="0" bIns="0" rtlCol="0" anchor="ctr"/>
          <a:lstStyle/>
          <a:p>
            <a:pPr indent="0" marL="0">
              <a:buNone/>
            </a:pPr>
            <a:r>
              <a:rPr lang="en-US" sz="1900" b="1" dirty="0">
                <a:solidFill>
                  <a:srgbClr val="1A2230"/>
                </a:solidFill>
                <a:latin typeface="Cambria" pitchFamily="34" charset="0"/>
                <a:ea typeface="Cambria" pitchFamily="34" charset="-122"/>
                <a:cs typeface="Cambria" pitchFamily="34" charset="-120"/>
              </a:rPr>
              <a:t>The second warning</a:t>
            </a:r>
            <a:endParaRPr lang="en-US" sz="1900" dirty="0"/>
          </a:p>
        </p:txBody>
      </p:sp>
      <p:sp>
        <p:nvSpPr>
          <p:cNvPr id="22" name="Text 20"/>
          <p:cNvSpPr txBox="1"/>
          <p:nvPr/>
        </p:nvSpPr>
        <p:spPr>
          <a:xfrm>
            <a:off x="6547104" y="3675888"/>
            <a:ext cx="4754880" cy="786384"/>
          </a:xfrm>
          <a:prstGeom prst="rect">
            <a:avLst/>
          </a:prstGeom>
          <a:noFill/>
          <a:ln/>
        </p:spPr>
        <p:txBody>
          <a:bodyPr wrap="square" lIns="0" tIns="0" rIns="0" bIns="0" rtlCol="0" anchor="ctr"/>
          <a:lstStyle/>
          <a:p>
            <a:pPr indent="0" marL="0">
              <a:buNone/>
            </a:pPr>
            <a:r>
              <a:rPr lang="en-US" sz="4000" b="1" dirty="0">
                <a:solidFill>
                  <a:srgbClr val="1A2230"/>
                </a:solidFill>
                <a:latin typeface="Cambria" pitchFamily="34" charset="0"/>
                <a:ea typeface="Cambria" pitchFamily="34" charset="-122"/>
                <a:cs typeface="Cambria" pitchFamily="34" charset="-120"/>
              </a:rPr>
              <a:t>1.000</a:t>
            </a:r>
            <a:pPr indent="0" marL="0">
              <a:buNone/>
            </a:pPr>
            <a:r>
              <a:rPr lang="en-US" sz="1400" dirty="0">
                <a:solidFill>
                  <a:srgbClr val="4A5663"/>
                </a:solidFill>
              </a:rPr>
              <a:t>  at every layer and every pooling.</a:t>
            </a:r>
            <a:endParaRPr lang="en-US" sz="4000" dirty="0"/>
          </a:p>
        </p:txBody>
      </p:sp>
      <p:sp>
        <p:nvSpPr>
          <p:cNvPr id="23" name="Text 21"/>
          <p:cNvSpPr txBox="1"/>
          <p:nvPr/>
        </p:nvSpPr>
        <p:spPr>
          <a:xfrm>
            <a:off x="6547104" y="4517136"/>
            <a:ext cx="4754880" cy="749808"/>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A grid where every entry is perfect cannot tell you which layer to attack, so the choice of layer 20 was effectively arbitrary.</a:t>
            </a:r>
            <a:endParaRPr lang="en-US" sz="1250" dirty="0"/>
          </a:p>
        </p:txBody>
      </p:sp>
      <p:sp>
        <p:nvSpPr>
          <p:cNvPr id="24"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Source: results/pre_qwen35_4b_thinking_off_summary.json</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CONTROLS</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Two of three controls failed</a:t>
            </a:r>
            <a:endParaRPr lang="en-US" sz="2800" dirty="0"/>
          </a:p>
        </p:txBody>
      </p:sp>
      <p:graphicFrame>
        <p:nvGraphicFramePr>
          <p:cNvPr id="7" name="controls-table"/>
          <p:cNvGraphicFramePr>
            <a:graphicFrameLocks noGrp="1"/>
          </p:cNvGraphicFramePr>
          <p:nvPr>
            <p:extLst>
              <p:ext uri="{D42A27DB-BD31-4B8C-83A1-F6EECF244321}">
                <p14:modId xmlns:p14="http://schemas.microsoft.com/office/powerpoint/2010/main" val="1579011935"/>
              </p:ext>
            </p:extLst>
          </p:nvPr>
        </p:nvGraphicFramePr>
        <p:xfrm>
          <a:off x="566928" y="1481328"/>
          <a:ext cx="6035040" cy="914400"/>
        </p:xfrm>
        <a:graphic>
          <a:graphicData uri="http://schemas.openxmlformats.org/drawingml/2006/table">
            <a:tbl>
              <a:tblPr/>
              <a:tblGrid>
                <a:gridCol w="2834640"/>
                <a:gridCol w="1097280"/>
                <a:gridCol w="1188720"/>
                <a:gridCol w="914400"/>
              </a:tblGrid>
              <a:tr h="384048">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Wanted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Headline: honest-correct vs attack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37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Text only</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Prompt, not behaviour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C2541B"/>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109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Wrongness, not intent</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0.789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154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5" name="means"/>
          <p:cNvSpPr/>
          <p:nvPr/>
        </p:nvSpPr>
        <p:spPr>
          <a:xfrm>
            <a:off x="6967728" y="1481328"/>
            <a:ext cx="4654296" cy="2157984"/>
          </a:xfrm>
          <a:prstGeom prst="roundRect">
            <a:avLst>
              <a:gd name="adj" fmla="val 3390"/>
            </a:avLst>
          </a:prstGeom>
          <a:solidFill>
            <a:srgbClr val="EEF1F4"/>
          </a:solidFill>
          <a:ln w="12700">
            <a:solidFill>
              <a:srgbClr val="EEF1F4"/>
            </a:solidFill>
            <a:prstDash val="solid"/>
          </a:ln>
        </p:spPr>
      </p:sp>
      <p:sp>
        <p:nvSpPr>
          <p:cNvPr id="6" name="Text 3"/>
          <p:cNvSpPr txBox="1"/>
          <p:nvPr/>
        </p:nvSpPr>
        <p:spPr>
          <a:xfrm>
            <a:off x="7242048" y="1664208"/>
            <a:ext cx="4114800" cy="274320"/>
          </a:xfrm>
          <a:prstGeom prst="rect">
            <a:avLst/>
          </a:prstGeom>
          <a:noFill/>
          <a:ln/>
        </p:spPr>
        <p:txBody>
          <a:bodyPr wrap="square" lIns="0" tIns="0" rIns="0" bIns="0" rtlCol="0" anchor="ctr"/>
          <a:lstStyle/>
          <a:p>
            <a:pPr indent="0" marL="0">
              <a:buNone/>
            </a:pPr>
            <a:r>
              <a:rPr lang="en-US" sz="1200" b="1" dirty="0">
                <a:solidFill>
                  <a:srgbClr val="6B7A88"/>
                </a:solidFill>
              </a:rPr>
              <a:t>Group means at layer 20</a:t>
            </a:r>
            <a:endParaRPr lang="en-US" sz="1200" dirty="0"/>
          </a:p>
        </p:txBody>
      </p:sp>
      <p:sp>
        <p:nvSpPr>
          <p:cNvPr id="7" name="Text 4"/>
          <p:cNvSpPr txBox="1"/>
          <p:nvPr/>
        </p:nvSpPr>
        <p:spPr>
          <a:xfrm>
            <a:off x="7242048" y="2029968"/>
            <a:ext cx="3017520" cy="310896"/>
          </a:xfrm>
          <a:prstGeom prst="rect">
            <a:avLst/>
          </a:prstGeom>
          <a:noFill/>
          <a:ln/>
        </p:spPr>
        <p:txBody>
          <a:bodyPr wrap="square" lIns="0" tIns="0" rIns="0" bIns="0" rtlCol="0" anchor="ctr"/>
          <a:lstStyle/>
          <a:p>
            <a:pPr indent="0" marL="0">
              <a:buNone/>
            </a:pPr>
            <a:r>
              <a:rPr lang="en-US" sz="1250" dirty="0">
                <a:solidFill>
                  <a:srgbClr val="4A5663"/>
                </a:solidFill>
              </a:rPr>
              <a:t>attack</a:t>
            </a:r>
            <a:endParaRPr lang="en-US" sz="1250" dirty="0"/>
          </a:p>
        </p:txBody>
      </p:sp>
      <p:sp>
        <p:nvSpPr>
          <p:cNvPr id="8" name="Text 5"/>
          <p:cNvSpPr txBox="1"/>
          <p:nvPr/>
        </p:nvSpPr>
        <p:spPr>
          <a:xfrm>
            <a:off x="10259568" y="2029968"/>
            <a:ext cx="1005840" cy="310896"/>
          </a:xfrm>
          <a:prstGeom prst="rect">
            <a:avLst/>
          </a:prstGeom>
          <a:noFill/>
          <a:ln/>
        </p:spPr>
        <p:txBody>
          <a:bodyPr wrap="square" lIns="0" tIns="0" rIns="0" bIns="0" rtlCol="0" anchor="ctr"/>
          <a:lstStyle/>
          <a:p>
            <a:pPr algn="r" indent="0" marL="0">
              <a:buNone/>
            </a:pPr>
            <a:r>
              <a:rPr lang="en-US" sz="1350" b="1" dirty="0">
                <a:solidFill>
                  <a:srgbClr val="C2541B"/>
                </a:solidFill>
              </a:rPr>
              <a:t>+7.92</a:t>
            </a:r>
            <a:endParaRPr lang="en-US" sz="1350" dirty="0"/>
          </a:p>
        </p:txBody>
      </p:sp>
      <p:sp>
        <p:nvSpPr>
          <p:cNvPr id="9" name="Text 6"/>
          <p:cNvSpPr txBox="1"/>
          <p:nvPr/>
        </p:nvSpPr>
        <p:spPr>
          <a:xfrm>
            <a:off x="7242048" y="2395728"/>
            <a:ext cx="3017520" cy="310896"/>
          </a:xfrm>
          <a:prstGeom prst="rect">
            <a:avLst/>
          </a:prstGeom>
          <a:noFill/>
          <a:ln/>
        </p:spPr>
        <p:txBody>
          <a:bodyPr wrap="square" lIns="0" tIns="0" rIns="0" bIns="0" rtlCol="0" anchor="ctr"/>
          <a:lstStyle/>
          <a:p>
            <a:pPr indent="0" marL="0">
              <a:buNone/>
            </a:pPr>
            <a:r>
              <a:rPr lang="en-US" sz="1250" dirty="0">
                <a:solidFill>
                  <a:srgbClr val="4A5663"/>
                </a:solidFill>
              </a:rPr>
              <a:t>sandbag-prompted, still correct</a:t>
            </a:r>
            <a:endParaRPr lang="en-US" sz="1250" dirty="0"/>
          </a:p>
        </p:txBody>
      </p:sp>
      <p:sp>
        <p:nvSpPr>
          <p:cNvPr id="10" name="Text 7"/>
          <p:cNvSpPr txBox="1"/>
          <p:nvPr/>
        </p:nvSpPr>
        <p:spPr>
          <a:xfrm>
            <a:off x="10259568" y="2395728"/>
            <a:ext cx="1005840" cy="310896"/>
          </a:xfrm>
          <a:prstGeom prst="rect">
            <a:avLst/>
          </a:prstGeom>
          <a:noFill/>
          <a:ln/>
        </p:spPr>
        <p:txBody>
          <a:bodyPr wrap="square" lIns="0" tIns="0" rIns="0" bIns="0" rtlCol="0" anchor="ctr"/>
          <a:lstStyle/>
          <a:p>
            <a:pPr algn="r" indent="0" marL="0">
              <a:buNone/>
            </a:pPr>
            <a:r>
              <a:rPr lang="en-US" sz="1350" b="1" dirty="0">
                <a:solidFill>
                  <a:srgbClr val="C2541B"/>
                </a:solidFill>
              </a:rPr>
              <a:t>+7.74</a:t>
            </a:r>
            <a:endParaRPr lang="en-US" sz="1350" dirty="0"/>
          </a:p>
        </p:txBody>
      </p:sp>
      <p:sp>
        <p:nvSpPr>
          <p:cNvPr id="11" name="Text 8"/>
          <p:cNvSpPr txBox="1"/>
          <p:nvPr/>
        </p:nvSpPr>
        <p:spPr>
          <a:xfrm>
            <a:off x="7242048" y="2761488"/>
            <a:ext cx="3017520" cy="310896"/>
          </a:xfrm>
          <a:prstGeom prst="rect">
            <a:avLst/>
          </a:prstGeom>
          <a:noFill/>
          <a:ln/>
        </p:spPr>
        <p:txBody>
          <a:bodyPr wrap="square" lIns="0" tIns="0" rIns="0" bIns="0" rtlCol="0" anchor="ctr"/>
          <a:lstStyle/>
          <a:p>
            <a:pPr indent="0" marL="0">
              <a:buNone/>
            </a:pPr>
            <a:r>
              <a:rPr lang="en-US" sz="1250" dirty="0">
                <a:solidFill>
                  <a:srgbClr val="4A5663"/>
                </a:solidFill>
              </a:rPr>
              <a:t>honest, correct</a:t>
            </a:r>
            <a:endParaRPr lang="en-US" sz="1250" dirty="0"/>
          </a:p>
        </p:txBody>
      </p:sp>
      <p:sp>
        <p:nvSpPr>
          <p:cNvPr id="12" name="Text 9"/>
          <p:cNvSpPr txBox="1"/>
          <p:nvPr/>
        </p:nvSpPr>
        <p:spPr>
          <a:xfrm>
            <a:off x="10259568" y="2761488"/>
            <a:ext cx="1005840" cy="310896"/>
          </a:xfrm>
          <a:prstGeom prst="rect">
            <a:avLst/>
          </a:prstGeom>
          <a:noFill/>
          <a:ln/>
        </p:spPr>
        <p:txBody>
          <a:bodyPr wrap="square" lIns="0" tIns="0" rIns="0" bIns="0" rtlCol="0" anchor="ctr"/>
          <a:lstStyle/>
          <a:p>
            <a:pPr algn="r" indent="0" marL="0">
              <a:buNone/>
            </a:pPr>
            <a:r>
              <a:rPr lang="en-US" sz="1350" b="1" dirty="0">
                <a:solidFill>
                  <a:srgbClr val="2E6E8E"/>
                </a:solidFill>
              </a:rPr>
              <a:t>−7.71</a:t>
            </a:r>
            <a:endParaRPr lang="en-US" sz="1350" dirty="0"/>
          </a:p>
        </p:txBody>
      </p:sp>
      <p:sp>
        <p:nvSpPr>
          <p:cNvPr id="13" name="Text 10"/>
          <p:cNvSpPr txBox="1"/>
          <p:nvPr/>
        </p:nvSpPr>
        <p:spPr>
          <a:xfrm>
            <a:off x="7242048" y="3127248"/>
            <a:ext cx="3017520" cy="310896"/>
          </a:xfrm>
          <a:prstGeom prst="rect">
            <a:avLst/>
          </a:prstGeom>
          <a:noFill/>
          <a:ln/>
        </p:spPr>
        <p:txBody>
          <a:bodyPr wrap="square" lIns="0" tIns="0" rIns="0" bIns="0" rtlCol="0" anchor="ctr"/>
          <a:lstStyle/>
          <a:p>
            <a:pPr indent="0" marL="0">
              <a:buNone/>
            </a:pPr>
            <a:r>
              <a:rPr lang="en-US" sz="1250" dirty="0">
                <a:solidFill>
                  <a:srgbClr val="4A5663"/>
                </a:solidFill>
              </a:rPr>
              <a:t>honest, wrong</a:t>
            </a:r>
            <a:endParaRPr lang="en-US" sz="1250" dirty="0"/>
          </a:p>
        </p:txBody>
      </p:sp>
      <p:sp>
        <p:nvSpPr>
          <p:cNvPr id="14" name="Text 11"/>
          <p:cNvSpPr txBox="1"/>
          <p:nvPr/>
        </p:nvSpPr>
        <p:spPr>
          <a:xfrm>
            <a:off x="10259568" y="3127248"/>
            <a:ext cx="1005840" cy="310896"/>
          </a:xfrm>
          <a:prstGeom prst="rect">
            <a:avLst/>
          </a:prstGeom>
          <a:noFill/>
          <a:ln/>
        </p:spPr>
        <p:txBody>
          <a:bodyPr wrap="square" lIns="0" tIns="0" rIns="0" bIns="0" rtlCol="0" anchor="ctr"/>
          <a:lstStyle/>
          <a:p>
            <a:pPr algn="r" indent="0" marL="0">
              <a:buNone/>
            </a:pPr>
            <a:r>
              <a:rPr lang="en-US" sz="1350" b="1" dirty="0">
                <a:solidFill>
                  <a:srgbClr val="2E6E8E"/>
                </a:solidFill>
              </a:rPr>
              <a:t>−5.41</a:t>
            </a:r>
            <a:endParaRPr lang="en-US" sz="1350" dirty="0"/>
          </a:p>
        </p:txBody>
      </p:sp>
      <p:sp>
        <p:nvSpPr>
          <p:cNvPr id="15" name="verdict-controls"/>
          <p:cNvSpPr/>
          <p:nvPr/>
        </p:nvSpPr>
        <p:spPr>
          <a:xfrm>
            <a:off x="566928" y="3877056"/>
            <a:ext cx="11057839" cy="1481328"/>
          </a:xfrm>
          <a:prstGeom prst="roundRect">
            <a:avLst>
              <a:gd name="adj" fmla="val 4938"/>
            </a:avLst>
          </a:prstGeom>
          <a:solidFill>
            <a:srgbClr val="15202B"/>
          </a:solidFill>
          <a:ln w="12700">
            <a:solidFill>
              <a:srgbClr val="15202B"/>
            </a:solidFill>
            <a:prstDash val="solid"/>
          </a:ln>
        </p:spPr>
      </p:sp>
      <p:sp>
        <p:nvSpPr>
          <p:cNvPr id="16" name="Text 13"/>
          <p:cNvSpPr txBox="1"/>
          <p:nvPr/>
        </p:nvSpPr>
        <p:spPr>
          <a:xfrm>
            <a:off x="896112" y="4078224"/>
            <a:ext cx="10399471"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probe was reading which prompt was used, and never the sabotage</a:t>
            </a:r>
            <a:endParaRPr lang="en-US" sz="1900" dirty="0"/>
          </a:p>
        </p:txBody>
      </p:sp>
      <p:sp>
        <p:nvSpPr>
          <p:cNvPr id="17" name="Text 14"/>
          <p:cNvSpPr txBox="1"/>
          <p:nvPr/>
        </p:nvSpPr>
        <p:spPr>
          <a:xfrm>
            <a:off x="896112" y="4535424"/>
            <a:ext cx="10399471" cy="694944"/>
          </a:xfrm>
          <a:prstGeom prst="rect">
            <a:avLst/>
          </a:prstGeom>
          <a:noFill/>
          <a:ln/>
        </p:spPr>
        <p:txBody>
          <a:bodyPr wrap="square" lIns="0" tIns="0" rIns="0" bIns="0" rtlCol="0" anchor="ctr"/>
          <a:lstStyle/>
          <a:p>
            <a:pPr indent="0" marL="0">
              <a:lnSpc>
                <a:spcPct val="124000"/>
              </a:lnSpc>
              <a:buNone/>
            </a:pPr>
            <a:r>
              <a:rPr lang="en-US" sz="1300" dirty="0">
                <a:solidFill>
                  <a:srgbClr val="9DADBC"/>
                </a:solidFill>
              </a:rPr>
              <a:t>An attack and a sandbag-prompted answer that came out correct sit 0.18 apart on a scale spanning 15.6. The sabotage is absent in one of them and the probe cannot tell. We noted that and continued, because the headline number was 1.000 and the attack machinery was already built.</a:t>
            </a:r>
            <a:endParaRPr lang="en-US" sz="1300" dirty="0"/>
          </a:p>
        </p:txBody>
      </p:sp>
      <p:sp>
        <p:nvSpPr>
          <p:cNvPr id="1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Source: results/pre_qwen35_4b_thinking_off_summary.json → controls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STEPS 4 AND 5</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sweep, and ten minutes of thinking we had a result</a:t>
            </a:r>
            <a:endParaRPr lang="en-US" sz="2800" dirty="0"/>
          </a:p>
        </p:txBody>
      </p:sp>
      <p:graphicFrame>
        <p:nvGraphicFramePr>
          <p:cNvPr id="8" name="sweep-table"/>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1005840"/>
                <a:gridCol w="1691640"/>
                <a:gridCol w="1783080"/>
                <a:gridCol w="1965960"/>
                <a:gridCol w="1463040"/>
                <a:gridCol w="1316736"/>
                <a:gridCol w="1828800"/>
              </a:tblGrid>
              <a:tr h="420624">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probe L20</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transfer L28</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accuracy drop</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monitor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valid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mean probe score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+8.04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0.288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0.342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0.131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−6.16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0.718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0.117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−20.14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−48.60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5" name="read-0"/>
          <p:cNvSpPr/>
          <p:nvPr/>
        </p:nvSpPr>
        <p:spPr>
          <a:xfrm>
            <a:off x="566928" y="4718304"/>
            <a:ext cx="2633472" cy="987552"/>
          </a:xfrm>
          <a:prstGeom prst="roundRect">
            <a:avLst>
              <a:gd name="adj" fmla="val 7407"/>
            </a:avLst>
          </a:prstGeom>
          <a:solidFill>
            <a:srgbClr val="EEF1F4"/>
          </a:solidFill>
          <a:ln w="12700">
            <a:solidFill>
              <a:srgbClr val="EEF1F4"/>
            </a:solidFill>
            <a:prstDash val="solid"/>
          </a:ln>
        </p:spPr>
      </p:sp>
      <p:sp>
        <p:nvSpPr>
          <p:cNvPr id="6" name="Text 3"/>
          <p:cNvSpPr txBox="1"/>
          <p:nvPr/>
        </p:nvSpPr>
        <p:spPr>
          <a:xfrm>
            <a:off x="786384"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Detection collapses</a:t>
            </a:r>
            <a:endParaRPr lang="en-US" sz="1300" dirty="0"/>
          </a:p>
        </p:txBody>
      </p:sp>
      <p:sp>
        <p:nvSpPr>
          <p:cNvPr id="7" name="Text 4"/>
          <p:cNvSpPr txBox="1"/>
          <p:nvPr/>
        </p:nvSpPr>
        <p:spPr>
          <a:xfrm>
            <a:off x="786384" y="5212080"/>
            <a:ext cx="2194560" cy="274320"/>
          </a:xfrm>
          <a:prstGeom prst="rect">
            <a:avLst/>
          </a:prstGeom>
          <a:noFill/>
          <a:ln/>
        </p:spPr>
        <p:txBody>
          <a:bodyPr wrap="square" lIns="0" tIns="0" rIns="0" bIns="0" rtlCol="0" anchor="ctr"/>
          <a:lstStyle/>
          <a:p>
            <a:pPr indent="0" marL="0">
              <a:buNone/>
            </a:pPr>
            <a:r>
              <a:rPr lang="en-US" sz="1200" dirty="0">
                <a:solidFill>
                  <a:srgbClr val="C2541B"/>
                </a:solidFill>
              </a:rPr>
              <a:t>1.000 → 0.000</a:t>
            </a:r>
            <a:endParaRPr lang="en-US" sz="1200" dirty="0"/>
          </a:p>
        </p:txBody>
      </p:sp>
      <p:sp>
        <p:nvSpPr>
          <p:cNvPr id="8" name="read-1"/>
          <p:cNvSpPr/>
          <p:nvPr/>
        </p:nvSpPr>
        <p:spPr>
          <a:xfrm>
            <a:off x="3374136" y="4718304"/>
            <a:ext cx="2633472" cy="987552"/>
          </a:xfrm>
          <a:prstGeom prst="roundRect">
            <a:avLst>
              <a:gd name="adj" fmla="val 7407"/>
            </a:avLst>
          </a:prstGeom>
          <a:solidFill>
            <a:srgbClr val="EEF1F4"/>
          </a:solidFill>
          <a:ln w="12700">
            <a:solidFill>
              <a:srgbClr val="EEF1F4"/>
            </a:solidFill>
            <a:prstDash val="solid"/>
          </a:ln>
        </p:spPr>
      </p:sp>
      <p:sp>
        <p:nvSpPr>
          <p:cNvPr id="9" name="Text 6"/>
          <p:cNvSpPr txBox="1"/>
          <p:nvPr/>
        </p:nvSpPr>
        <p:spPr>
          <a:xfrm>
            <a:off x="3593592"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The attack survives</a:t>
            </a:r>
            <a:endParaRPr lang="en-US" sz="1300" dirty="0"/>
          </a:p>
        </p:txBody>
      </p:sp>
      <p:sp>
        <p:nvSpPr>
          <p:cNvPr id="10" name="Text 7"/>
          <p:cNvSpPr txBox="1"/>
          <p:nvPr/>
        </p:nvSpPr>
        <p:spPr>
          <a:xfrm>
            <a:off x="3593592" y="5212080"/>
            <a:ext cx="2194560" cy="274320"/>
          </a:xfrm>
          <a:prstGeom prst="rect">
            <a:avLst/>
          </a:prstGeom>
          <a:noFill/>
          <a:ln/>
        </p:spPr>
        <p:txBody>
          <a:bodyPr wrap="square" lIns="0" tIns="0" rIns="0" bIns="0" rtlCol="0" anchor="ctr"/>
          <a:lstStyle/>
          <a:p>
            <a:pPr indent="0" marL="0">
              <a:buNone/>
            </a:pPr>
            <a:r>
              <a:rPr lang="en-US" sz="1200" dirty="0">
                <a:solidFill>
                  <a:srgbClr val="C2541B"/>
                </a:solidFill>
              </a:rPr>
              <a:t>drop holds 0.27 to 0.34</a:t>
            </a:r>
            <a:endParaRPr lang="en-US" sz="1200" dirty="0"/>
          </a:p>
        </p:txBody>
      </p:sp>
      <p:sp>
        <p:nvSpPr>
          <p:cNvPr id="11" name="read-2"/>
          <p:cNvSpPr/>
          <p:nvPr/>
        </p:nvSpPr>
        <p:spPr>
          <a:xfrm>
            <a:off x="6181344" y="4718304"/>
            <a:ext cx="2633472" cy="987552"/>
          </a:xfrm>
          <a:prstGeom prst="roundRect">
            <a:avLst>
              <a:gd name="adj" fmla="val 7407"/>
            </a:avLst>
          </a:prstGeom>
          <a:solidFill>
            <a:srgbClr val="EEF1F4"/>
          </a:solidFill>
          <a:ln w="12700">
            <a:solidFill>
              <a:srgbClr val="EEF1F4"/>
            </a:solidFill>
            <a:prstDash val="solid"/>
          </a:ln>
        </p:spPr>
      </p:sp>
      <p:sp>
        <p:nvSpPr>
          <p:cNvPr id="12" name="Text 9"/>
          <p:cNvSpPr txBox="1"/>
          <p:nvPr/>
        </p:nvSpPr>
        <p:spPr>
          <a:xfrm>
            <a:off x="6400800"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The monitor never moves</a:t>
            </a:r>
            <a:endParaRPr lang="en-US" sz="1300" dirty="0"/>
          </a:p>
        </p:txBody>
      </p:sp>
      <p:sp>
        <p:nvSpPr>
          <p:cNvPr id="13" name="Text 10"/>
          <p:cNvSpPr txBox="1"/>
          <p:nvPr/>
        </p:nvSpPr>
        <p:spPr>
          <a:xfrm>
            <a:off x="6400800" y="5212080"/>
            <a:ext cx="2194560" cy="274320"/>
          </a:xfrm>
          <a:prstGeom prst="rect">
            <a:avLst/>
          </a:prstGeom>
          <a:noFill/>
          <a:ln/>
        </p:spPr>
        <p:txBody>
          <a:bodyPr wrap="square" lIns="0" tIns="0" rIns="0" bIns="0" rtlCol="0" anchor="ctr"/>
          <a:lstStyle/>
          <a:p>
            <a:pPr indent="0" marL="0">
              <a:buNone/>
            </a:pPr>
            <a:r>
              <a:rPr lang="en-US" sz="1200" dirty="0">
                <a:solidFill>
                  <a:srgbClr val="1A2230"/>
                </a:solidFill>
              </a:rPr>
              <a:t>0.117 to 0.131</a:t>
            </a:r>
            <a:endParaRPr lang="en-US" sz="1200" dirty="0"/>
          </a:p>
        </p:txBody>
      </p:sp>
      <p:sp>
        <p:nvSpPr>
          <p:cNvPr id="14" name="read-3"/>
          <p:cNvSpPr/>
          <p:nvPr/>
        </p:nvSpPr>
        <p:spPr>
          <a:xfrm>
            <a:off x="8988552" y="4718304"/>
            <a:ext cx="2633472" cy="987552"/>
          </a:xfrm>
          <a:prstGeom prst="roundRect">
            <a:avLst>
              <a:gd name="adj" fmla="val 7407"/>
            </a:avLst>
          </a:prstGeom>
          <a:solidFill>
            <a:srgbClr val="EEF1F4"/>
          </a:solidFill>
          <a:ln w="12700">
            <a:solidFill>
              <a:srgbClr val="EEF1F4"/>
            </a:solidFill>
            <a:prstDash val="solid"/>
          </a:ln>
        </p:spPr>
      </p:sp>
      <p:sp>
        <p:nvSpPr>
          <p:cNvPr id="15" name="Text 12"/>
          <p:cNvSpPr txBox="1"/>
          <p:nvPr/>
        </p:nvSpPr>
        <p:spPr>
          <a:xfrm>
            <a:off x="9208008"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Nothing breaks</a:t>
            </a:r>
            <a:endParaRPr lang="en-US" sz="1300" dirty="0"/>
          </a:p>
        </p:txBody>
      </p:sp>
      <p:sp>
        <p:nvSpPr>
          <p:cNvPr id="16" name="Text 13"/>
          <p:cNvSpPr txBox="1"/>
          <p:nvPr/>
        </p:nvSpPr>
        <p:spPr>
          <a:xfrm>
            <a:off x="9208008" y="5212080"/>
            <a:ext cx="2194560" cy="274320"/>
          </a:xfrm>
          <a:prstGeom prst="rect">
            <a:avLst/>
          </a:prstGeom>
          <a:noFill/>
          <a:ln/>
        </p:spPr>
        <p:txBody>
          <a:bodyPr wrap="square" lIns="0" tIns="0" rIns="0" bIns="0" rtlCol="0" anchor="ctr"/>
          <a:lstStyle/>
          <a:p>
            <a:pPr indent="0" marL="0">
              <a:buNone/>
            </a:pPr>
            <a:r>
              <a:rPr lang="en-US" sz="1200" dirty="0">
                <a:solidFill>
                  <a:srgbClr val="1A2230"/>
                </a:solidFill>
              </a:rPr>
              <a:t>valid rate 1.000</a:t>
            </a:r>
            <a:endParaRPr lang="en-US" sz="1200" dirty="0"/>
          </a:p>
        </p:txBody>
      </p:sp>
      <p:sp>
        <p:nvSpPr>
          <p:cNvPr id="17"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Reads as outcome 1: evasion is cheap and probes are weak. Five things in the saved features say otherwise.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THE TURN</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probe score was never measuring the model</a:t>
            </a:r>
            <a:endParaRPr lang="en-US" sz="2800" dirty="0"/>
          </a:p>
        </p:txBody>
      </p:sp>
      <p:sp>
        <p:nvSpPr>
          <p:cNvPr id="4" name="Text 2"/>
          <p:cNvSpPr txBox="1"/>
          <p:nvPr/>
        </p:nvSpPr>
        <p:spPr>
          <a:xfrm>
            <a:off x="566928" y="1426464"/>
            <a:ext cx="6492240" cy="731520"/>
          </a:xfrm>
          <a:prstGeom prst="rect">
            <a:avLst/>
          </a:prstGeom>
          <a:noFill/>
          <a:ln/>
        </p:spPr>
        <p:txBody>
          <a:bodyPr wrap="square" lIns="0" tIns="0" rIns="0" bIns="0" rtlCol="0" anchor="ctr"/>
          <a:lstStyle/>
          <a:p>
            <a:pPr indent="0" marL="0">
              <a:lnSpc>
                <a:spcPct val="120000"/>
              </a:lnSpc>
              <a:buNone/>
            </a:pPr>
            <a:r>
              <a:rPr lang="en-US" sz="1350" dirty="0">
                <a:solidFill>
                  <a:srgbClr val="4A5663"/>
                </a:solidFill>
              </a:rPr>
              <a:t>A logistic regression is affine in its input, so subtracting alpha × unit(w) from every answer token moves the decision score by a known amount. From the fitted probe, that amount is:</a:t>
            </a:r>
            <a:endParaRPr lang="en-US" sz="1350" dirty="0"/>
          </a:p>
        </p:txBody>
      </p:sp>
      <p:sp>
        <p:nvSpPr>
          <p:cNvPr id="5" name="predicted"/>
          <p:cNvSpPr/>
          <p:nvPr/>
        </p:nvSpPr>
        <p:spPr>
          <a:xfrm>
            <a:off x="566928" y="2249424"/>
            <a:ext cx="6492240" cy="1133856"/>
          </a:xfrm>
          <a:prstGeom prst="roundRect">
            <a:avLst>
              <a:gd name="adj" fmla="val 6452"/>
            </a:avLst>
          </a:prstGeom>
          <a:solidFill>
            <a:srgbClr val="15202B"/>
          </a:solidFill>
          <a:ln w="12700">
            <a:solidFill>
              <a:srgbClr val="15202B"/>
            </a:solidFill>
            <a:prstDash val="solid"/>
          </a:ln>
        </p:spPr>
      </p:sp>
      <p:sp>
        <p:nvSpPr>
          <p:cNvPr id="6" name="Text 4"/>
          <p:cNvSpPr txBox="1"/>
          <p:nvPr/>
        </p:nvSpPr>
        <p:spPr>
          <a:xfrm>
            <a:off x="877824" y="2249424"/>
            <a:ext cx="5852160" cy="1133856"/>
          </a:xfrm>
          <a:prstGeom prst="rect">
            <a:avLst/>
          </a:prstGeom>
          <a:noFill/>
          <a:ln/>
        </p:spPr>
        <p:txBody>
          <a:bodyPr wrap="square" lIns="0" tIns="0" rIns="0" bIns="0" rtlCol="0" anchor="ctr"/>
          <a:lstStyle/>
          <a:p>
            <a:pPr indent="0" marL="0">
              <a:buNone/>
            </a:pPr>
            <a:r>
              <a:rPr lang="en-US" sz="4200" b="1" dirty="0">
                <a:solidFill>
                  <a:srgbClr val="E8873F"/>
                </a:solidFill>
                <a:latin typeface="Cambria" pitchFamily="34" charset="0"/>
                <a:ea typeface="Cambria" pitchFamily="34" charset="-122"/>
                <a:cs typeface="Cambria" pitchFamily="34" charset="-120"/>
              </a:rPr>
              <a:t>6.9907</a:t>
            </a:r>
            <a:pPr indent="0" marL="0">
              <a:buNone/>
            </a:pPr>
            <a:r>
              <a:rPr lang="en-US" sz="1400" dirty="0">
                <a:solidFill>
                  <a:srgbClr val="9DADBC"/>
                </a:solidFill>
              </a:rPr>
              <a:t>   scaled units per alpha, predicted</a:t>
            </a:r>
            <a:endParaRPr lang="en-US" sz="4200" dirty="0"/>
          </a:p>
        </p:txBody>
      </p:sp>
      <p:graphicFrame>
        <p:nvGraphicFramePr>
          <p:cNvPr id="9" name="residual-table"/>
          <p:cNvGraphicFramePr>
            <a:graphicFrameLocks noGrp="1"/>
          </p:cNvGraphicFramePr>
          <p:nvPr>
            <p:extLst>
              <p:ext uri="{D42A27DB-BD31-4B8C-83A1-F6EECF244321}">
                <p14:modId xmlns:p14="http://schemas.microsoft.com/office/powerpoint/2010/main" val="1579011935"/>
              </p:ext>
            </p:extLst>
          </p:nvPr>
        </p:nvGraphicFramePr>
        <p:xfrm>
          <a:off x="566928" y="3602736"/>
          <a:ext cx="6492240" cy="914400"/>
        </p:xfrm>
        <a:graphic>
          <a:graphicData uri="http://schemas.openxmlformats.org/drawingml/2006/table">
            <a:tbl>
              <a:tblPr/>
              <a:tblGrid>
                <a:gridCol w="1188720"/>
                <a:gridCol w="2011680"/>
                <a:gridCol w="1645920"/>
                <a:gridCol w="1645920"/>
              </a:tblGrid>
              <a:tr h="384048">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realised shift</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residual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 of imposed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7.019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−0.028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7.100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−0.218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7.047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−0.225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7.080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−0.717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8" name="turn-note"/>
          <p:cNvSpPr/>
          <p:nvPr/>
        </p:nvSpPr>
        <p:spPr>
          <a:xfrm>
            <a:off x="7424928" y="1426464"/>
            <a:ext cx="4197096" cy="4096512"/>
          </a:xfrm>
          <a:prstGeom prst="roundRect">
            <a:avLst>
              <a:gd name="adj" fmla="val 1786"/>
            </a:avLst>
          </a:prstGeom>
          <a:solidFill>
            <a:srgbClr val="EEF1F4"/>
          </a:solidFill>
          <a:ln w="12700">
            <a:solidFill>
              <a:srgbClr val="EEF1F4"/>
            </a:solidFill>
            <a:prstDash val="solid"/>
          </a:ln>
        </p:spPr>
      </p:sp>
      <p:sp>
        <p:nvSpPr>
          <p:cNvPr id="9" name="Text 6"/>
          <p:cNvSpPr txBox="1"/>
          <p:nvPr/>
        </p:nvSpPr>
        <p:spPr>
          <a:xfrm>
            <a:off x="7699248" y="1627632"/>
            <a:ext cx="3657600" cy="310896"/>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What that means</a:t>
            </a:r>
            <a:endParaRPr lang="en-US" sz="1500" dirty="0"/>
          </a:p>
        </p:txBody>
      </p:sp>
      <p:sp>
        <p:nvSpPr>
          <p:cNvPr id="10" name="Text 7"/>
          <p:cNvSpPr txBox="1"/>
          <p:nvPr/>
        </p:nvSpPr>
        <p:spPr>
          <a:xfrm>
            <a:off x="7699248" y="2029968"/>
            <a:ext cx="3657600" cy="3291840"/>
          </a:xfrm>
          <a:prstGeom prst="rect">
            <a:avLst/>
          </a:prstGeom>
          <a:noFill/>
          <a:ln/>
        </p:spPr>
        <p:txBody>
          <a:bodyPr wrap="square" lIns="0" tIns="0" rIns="0" bIns="0" rtlCol="0" anchor="t"/>
          <a:lstStyle/>
          <a:p>
            <a:pPr indent="0" marL="0">
              <a:lnSpc>
                <a:spcPct val="122000"/>
              </a:lnSpc>
              <a:buNone/>
            </a:pPr>
            <a:r>
              <a:rPr lang="en-US" sz="1250" dirty="0">
                <a:solidFill>
                  <a:srgbClr val="4A5663"/>
                </a:solidFill>
              </a:rPr>
              <a:t>The residual is the only part of the score that reflects the model responding rather than being displaced. It is under 2% everywhere.
</a:t>
            </a:r>
            <a:pPr indent="0" marL="0">
              <a:lnSpc>
                <a:spcPct val="122000"/>
              </a:lnSpc>
              <a:buNone/>
            </a:pPr>
            <a:r>
              <a:rPr lang="en-US" sz="1250" b="1" dirty="0">
                <a:solidFill>
                  <a:srgbClr val="1A2230"/>
                </a:solidFill>
              </a:rPr>
              <a:t>So the entire AUROC column was computable before the sweep ran.
</a:t>
            </a:r>
            <a:pPr indent="0" marL="0">
              <a:lnSpc>
                <a:spcPct val="122000"/>
              </a:lnSpc>
              <a:buNone/>
            </a:pPr>
            <a:r>
              <a:rPr lang="en-US" sz="1100" dirty="0">
                <a:solidFill>
                  <a:srgbClr val="4A5663"/>
                </a:solidFill>
                <a:latin typeface="Courier New" pitchFamily="34" charset="0"/>
                <a:ea typeface="Courier New" pitchFamily="34" charset="-122"/>
                <a:cs typeface="Courier New" pitchFamily="34" charset="-120"/>
              </a:rPr>
              <a:t>Predicted  1.000 · 0.999 · 0.651 · 0.000 · 0.000
Measured   1.000 · 0.999 · 0.572 · 0.000 · 0.000
</a:t>
            </a:r>
            <a:pPr indent="0" marL="0">
              <a:lnSpc>
                <a:spcPct val="122000"/>
              </a:lnSpc>
              <a:buNone/>
            </a:pPr>
            <a:r>
              <a:rPr lang="en-US" sz="1250" b="1" dirty="0">
                <a:solidFill>
                  <a:srgbClr val="C2541B"/>
                </a:solidFill>
              </a:rPr>
              <a:t>We spent a GPU pass measuring a subtraction.</a:t>
            </a:r>
            <a:endParaRPr lang="en-US" sz="1250" dirty="0"/>
          </a:p>
        </p:txBody>
      </p:sp>
      <p:sp>
        <p:nvSpPr>
          <p:cNvPr id="11"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Derived from results/attack_qwen35_4b_thinking_off_mbpp_feats.npz against the refit probe.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FINDING 1</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An AUROC of 0.000 is overshoot, not evasion</a:t>
            </a:r>
            <a:endParaRPr lang="en-US" sz="2800" dirty="0"/>
          </a:p>
        </p:txBody>
      </p:sp>
      <p:graphicFrame>
        <p:nvGraphicFramePr>
          <p:cNvPr id="4" name="twosided-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ts-note1"/>
          <p:cNvSpPr/>
          <p:nvPr/>
        </p:nvSpPr>
        <p:spPr>
          <a:xfrm>
            <a:off x="7607808" y="1481328"/>
            <a:ext cx="4014216" cy="1920240"/>
          </a:xfrm>
          <a:prstGeom prst="roundRect">
            <a:avLst>
              <a:gd name="adj" fmla="val 3810"/>
            </a:avLst>
          </a:prstGeom>
          <a:solidFill>
            <a:srgbClr val="EEF1F4"/>
          </a:solidFill>
          <a:ln w="12700">
            <a:solidFill>
              <a:srgbClr val="EEF1F4"/>
            </a:solidFill>
            <a:prstDash val="solid"/>
          </a:ln>
        </p:spPr>
      </p:sp>
      <p:sp>
        <p:nvSpPr>
          <p:cNvPr id="6" name="Text 3"/>
          <p:cNvSpPr txBox="1"/>
          <p:nvPr/>
        </p:nvSpPr>
        <p:spPr>
          <a:xfrm>
            <a:off x="7882128" y="1682496"/>
            <a:ext cx="3474720" cy="1554480"/>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Below 0.5 the classes are still perfectly separable, with the sign reversed. A defender who thresholds on distance from the honest median instead of on sign gets everything back.</a:t>
            </a:r>
            <a:endParaRPr lang="en-US" sz="1250" dirty="0"/>
          </a:p>
        </p:txBody>
      </p:sp>
      <p:sp>
        <p:nvSpPr>
          <p:cNvPr id="7" name="ts-note2"/>
          <p:cNvSpPr/>
          <p:nvPr/>
        </p:nvSpPr>
        <p:spPr>
          <a:xfrm>
            <a:off x="7607808" y="3547872"/>
            <a:ext cx="4014216" cy="1773936"/>
          </a:xfrm>
          <a:prstGeom prst="roundRect">
            <a:avLst>
              <a:gd name="adj" fmla="val 4124"/>
            </a:avLst>
          </a:prstGeom>
          <a:solidFill>
            <a:srgbClr val="F7E9E1"/>
          </a:solidFill>
          <a:ln w="12700">
            <a:solidFill>
              <a:srgbClr val="F7E9E1"/>
            </a:solidFill>
            <a:prstDash val="solid"/>
          </a:ln>
        </p:spPr>
      </p:sp>
      <p:sp>
        <p:nvSpPr>
          <p:cNvPr id="8" name="Text 5"/>
          <p:cNvSpPr txBox="1"/>
          <p:nvPr/>
        </p:nvSpPr>
        <p:spPr>
          <a:xfrm>
            <a:off x="7882128" y="3712464"/>
            <a:ext cx="3474720" cy="274320"/>
          </a:xfrm>
          <a:prstGeom prst="rect">
            <a:avLst/>
          </a:prstGeom>
          <a:noFill/>
          <a:ln/>
        </p:spPr>
        <p:txBody>
          <a:bodyPr wrap="square" lIns="0" tIns="0" rIns="0" bIns="0" rtlCol="0" anchor="ctr"/>
          <a:lstStyle/>
          <a:p>
            <a:pPr indent="0" marL="0">
              <a:buNone/>
            </a:pPr>
            <a:r>
              <a:rPr lang="en-US" sz="1200" b="1" dirty="0">
                <a:solidFill>
                  <a:srgbClr val="6B7A88"/>
                </a:solidFill>
              </a:rPr>
              <a:t>The only setting that hides</a:t>
            </a:r>
            <a:endParaRPr lang="en-US" sz="1200" dirty="0"/>
          </a:p>
        </p:txBody>
      </p:sp>
      <p:sp>
        <p:nvSpPr>
          <p:cNvPr id="9" name="Text 6"/>
          <p:cNvSpPr txBox="1"/>
          <p:nvPr/>
        </p:nvSpPr>
        <p:spPr>
          <a:xfrm>
            <a:off x="7882128" y="4005072"/>
            <a:ext cx="3474720" cy="1188720"/>
          </a:xfrm>
          <a:prstGeom prst="rect">
            <a:avLst/>
          </a:prstGeom>
          <a:noFill/>
          <a:ln/>
        </p:spPr>
        <p:txBody>
          <a:bodyPr wrap="square" lIns="0" tIns="0" rIns="0" bIns="0" rtlCol="0" anchor="ctr"/>
          <a:lstStyle/>
          <a:p>
            <a:pPr indent="0" marL="0">
              <a:lnSpc>
                <a:spcPct val="120000"/>
              </a:lnSpc>
              <a:buNone/>
            </a:pPr>
            <a:r>
              <a:rPr lang="en-US" sz="2600" b="1" dirty="0">
                <a:solidFill>
                  <a:srgbClr val="C2541B"/>
                </a:solidFill>
                <a:latin typeface="Cambria" pitchFamily="34" charset="0"/>
                <a:ea typeface="Cambria" pitchFamily="34" charset="-122"/>
                <a:cs typeface="Cambria" pitchFamily="34" charset="-120"/>
              </a:rPr>
              <a:t>alpha 2</a:t>
            </a:r>
            <a:pPr indent="0" marL="0">
              <a:lnSpc>
                <a:spcPct val="120000"/>
              </a:lnSpc>
              <a:buNone/>
            </a:pPr>
            <a:endParaRPr lang="en-US" sz="2600" dirty="0"/>
          </a:p>
          <a:p>
            <a:pPr indent="0" marL="0">
              <a:lnSpc>
                <a:spcPct val="120000"/>
              </a:lnSpc>
              <a:buNone/>
            </a:pPr>
            <a:r>
              <a:rPr lang="en-US" sz="1250" dirty="0">
                <a:solidFill>
                  <a:srgbClr val="4A5663"/>
                </a:solidFill>
              </a:rPr>
              <a:t>0.604 two-sided, CI [0.47, 0.73], on 25 attacks.</a:t>
            </a:r>
            <a:endParaRPr lang="en-US" sz="2600" dirty="0"/>
          </a:p>
          <a:p>
            <a:pPr indent="0" marL="0">
              <a:lnSpc>
                <a:spcPct val="120000"/>
              </a:lnSpc>
              <a:buNone/>
            </a:pPr>
            <a:r>
              <a:rPr lang="en-US" sz="1250" dirty="0">
                <a:solidFill>
                  <a:srgbClr val="4A5663"/>
                </a:solidFill>
              </a:rPr>
              <a:t>TPR at 1% FPR drops to 0.040.</a:t>
            </a:r>
            <a:endParaRPr lang="en-US" sz="2600" dirty="0"/>
          </a:p>
        </p:txBody>
      </p:sp>
      <p:sp>
        <p:nvSpPr>
          <p:cNvPr id="1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The attacker's best choice is interior: turning the dial up past the window makes the attack trivially detectable.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2</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One untouched layer defeats the attack</a:t>
            </a:r>
            <a:endParaRPr lang="en-US" sz="2800" dirty="0"/>
          </a:p>
        </p:txBody>
      </p:sp>
      <p:sp>
        <p:nvSpPr>
          <p:cNvPr id="4" name="Text 2"/>
          <p:cNvSpPr txBox="1"/>
          <p:nvPr/>
        </p:nvSpPr>
        <p:spPr>
          <a:xfrm>
            <a:off x="566928" y="1444752"/>
            <a:ext cx="6675120" cy="512064"/>
          </a:xfrm>
          <a:prstGeom prst="rect">
            <a:avLst/>
          </a:prstGeom>
          <a:noFill/>
          <a:ln/>
        </p:spPr>
        <p:txBody>
          <a:bodyPr wrap="square" lIns="0" tIns="0" rIns="0" bIns="0" rtlCol="0" anchor="ctr"/>
          <a:lstStyle/>
          <a:p>
            <a:pPr indent="0" marL="0">
              <a:lnSpc>
                <a:spcPct val="120000"/>
              </a:lnSpc>
              <a:buNone/>
            </a:pPr>
            <a:r>
              <a:rPr lang="en-US" sz="1350" dirty="0">
                <a:solidFill>
                  <a:srgbClr val="4A5663"/>
                </a:solidFill>
              </a:rPr>
              <a:t>Steering layer 20 drags layer 28 along at 2.8 per alpha, against 7.0 at the layer being steered. That ratio is what leaves a gap for the defender.</a:t>
            </a:r>
            <a:endParaRPr lang="en-US" sz="1350" dirty="0"/>
          </a:p>
        </p:txBody>
      </p:sp>
      <p:graphicFrame>
        <p:nvGraphicFramePr>
          <p:cNvPr id="11" name="transfer-table"/>
          <p:cNvGraphicFramePr>
            <a:graphicFrameLocks noGrp="1"/>
          </p:cNvGraphicFramePr>
          <p:nvPr>
            <p:extLst>
              <p:ext uri="{D42A27DB-BD31-4B8C-83A1-F6EECF244321}">
                <p14:modId xmlns:p14="http://schemas.microsoft.com/office/powerpoint/2010/main" val="1579011935"/>
              </p:ext>
            </p:extLst>
          </p:nvPr>
        </p:nvGraphicFramePr>
        <p:xfrm>
          <a:off x="566928" y="2103120"/>
          <a:ext cx="6675120" cy="914400"/>
        </p:xfrm>
        <a:graphic>
          <a:graphicData uri="http://schemas.openxmlformats.org/drawingml/2006/table">
            <a:tbl>
              <a:tblPr/>
              <a:tblGrid>
                <a:gridCol w="1097280"/>
                <a:gridCol w="1828800"/>
                <a:gridCol w="1828800"/>
                <a:gridCol w="1920240"/>
              </a:tblGrid>
              <a:tr h="420624">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L20 two-sided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L28 two-sided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the defender's number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C2541B"/>
                          </a:solidFill>
                          <a:latin typeface="Calibri" pitchFamily="34" charset="0"/>
                          <a:ea typeface="Calibri" pitchFamily="34" charset="-122"/>
                          <a:cs typeface="Calibri" pitchFamily="34" charset="-120"/>
                        </a:rPr>
                        <a:t>0.604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C2541B"/>
                          </a:solidFill>
                          <a:latin typeface="Calibri" pitchFamily="34" charset="0"/>
                          <a:ea typeface="Calibri" pitchFamily="34" charset="-122"/>
                          <a:cs typeface="Calibri" pitchFamily="34" charset="-120"/>
                        </a:rPr>
                        <a:t>0.646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6" name="transfer-note"/>
          <p:cNvSpPr/>
          <p:nvPr/>
        </p:nvSpPr>
        <p:spPr>
          <a:xfrm>
            <a:off x="566928" y="4169664"/>
            <a:ext cx="6675120" cy="1316736"/>
          </a:xfrm>
          <a:prstGeom prst="roundRect">
            <a:avLst>
              <a:gd name="adj" fmla="val 5556"/>
            </a:avLst>
          </a:prstGeom>
          <a:solidFill>
            <a:srgbClr val="EEF1F4"/>
          </a:solidFill>
          <a:ln w="12700">
            <a:solidFill>
              <a:srgbClr val="EEF1F4"/>
            </a:solidFill>
            <a:prstDash val="solid"/>
          </a:ln>
        </p:spPr>
      </p:sp>
      <p:sp>
        <p:nvSpPr>
          <p:cNvPr id="7" name="Text 4"/>
          <p:cNvSpPr txBox="1"/>
          <p:nvPr/>
        </p:nvSpPr>
        <p:spPr>
          <a:xfrm>
            <a:off x="841248" y="4352544"/>
            <a:ext cx="6126480" cy="987552"/>
          </a:xfrm>
          <a:prstGeom prst="rect">
            <a:avLst/>
          </a:prstGeom>
          <a:noFill/>
          <a:ln/>
        </p:spPr>
        <p:txBody>
          <a:bodyPr wrap="square" lIns="0" tIns="0" rIns="0" bIns="0" rtlCol="0" anchor="ctr"/>
          <a:lstStyle/>
          <a:p>
            <a:pPr indent="0" marL="0">
              <a:lnSpc>
                <a:spcPct val="126000"/>
              </a:lnSpc>
              <a:buNone/>
            </a:pPr>
            <a:r>
              <a:rPr lang="en-US" sz="1250" dirty="0">
                <a:solidFill>
                  <a:srgbClr val="4A5663"/>
                </a:solidFill>
              </a:rPr>
              <a:t>Give the defender two probes and a two-sided threshold, and the attacker has to minimise whichever of the two is stronger. There is no setting where this attack is quiet at the attacked layer and the untouched one at the same time.</a:t>
            </a:r>
            <a:endParaRPr lang="en-US" sz="1250" dirty="0"/>
          </a:p>
        </p:txBody>
      </p:sp>
      <p:sp>
        <p:nvSpPr>
          <p:cNvPr id="8" name="defender-number"/>
          <p:cNvSpPr/>
          <p:nvPr/>
        </p:nvSpPr>
        <p:spPr>
          <a:xfrm>
            <a:off x="7607808" y="1444752"/>
            <a:ext cx="4014216" cy="4041648"/>
          </a:xfrm>
          <a:prstGeom prst="roundRect">
            <a:avLst>
              <a:gd name="adj" fmla="val 1822"/>
            </a:avLst>
          </a:prstGeom>
          <a:solidFill>
            <a:srgbClr val="15202B"/>
          </a:solidFill>
          <a:ln w="12700">
            <a:solidFill>
              <a:srgbClr val="15202B"/>
            </a:solidFill>
            <a:prstDash val="solid"/>
          </a:ln>
        </p:spPr>
      </p:sp>
      <p:sp>
        <p:nvSpPr>
          <p:cNvPr id="9" name="Text 6"/>
          <p:cNvSpPr txBox="1"/>
          <p:nvPr/>
        </p:nvSpPr>
        <p:spPr>
          <a:xfrm>
            <a:off x="7882128" y="2286000"/>
            <a:ext cx="3474720" cy="310896"/>
          </a:xfrm>
          <a:prstGeom prst="rect">
            <a:avLst/>
          </a:prstGeom>
          <a:noFill/>
          <a:ln/>
        </p:spPr>
        <p:txBody>
          <a:bodyPr wrap="square" lIns="0" tIns="0" rIns="0" bIns="0" rtlCol="0" anchor="ctr"/>
          <a:lstStyle/>
          <a:p>
            <a:pPr indent="0" marL="0">
              <a:buNone/>
            </a:pPr>
            <a:r>
              <a:rPr lang="en-US" sz="1250" dirty="0">
                <a:solidFill>
                  <a:srgbClr val="9DADBC"/>
                </a:solidFill>
              </a:rPr>
              <a:t>The attacker's best setting</a:t>
            </a:r>
            <a:endParaRPr lang="en-US" sz="1250" dirty="0"/>
          </a:p>
        </p:txBody>
      </p:sp>
      <p:sp>
        <p:nvSpPr>
          <p:cNvPr id="10" name="Text 7"/>
          <p:cNvSpPr txBox="1"/>
          <p:nvPr/>
        </p:nvSpPr>
        <p:spPr>
          <a:xfrm>
            <a:off x="7882128" y="2633472"/>
            <a:ext cx="3474720" cy="1225296"/>
          </a:xfrm>
          <a:prstGeom prst="rect">
            <a:avLst/>
          </a:prstGeom>
          <a:noFill/>
          <a:ln/>
        </p:spPr>
        <p:txBody>
          <a:bodyPr wrap="square" lIns="0" tIns="0" rIns="0" bIns="0" rtlCol="0" anchor="ctr"/>
          <a:lstStyle/>
          <a:p>
            <a:pPr indent="0" marL="0">
              <a:buNone/>
            </a:pPr>
            <a:r>
              <a:rPr lang="en-US" sz="6800" b="1" dirty="0">
                <a:solidFill>
                  <a:srgbClr val="7FC4E0"/>
                </a:solidFill>
                <a:latin typeface="Cambria" pitchFamily="34" charset="0"/>
                <a:ea typeface="Cambria" pitchFamily="34" charset="-122"/>
                <a:cs typeface="Cambria" pitchFamily="34" charset="-120"/>
              </a:rPr>
              <a:t>0.993</a:t>
            </a:r>
            <a:endParaRPr lang="en-US" sz="6800" dirty="0"/>
          </a:p>
        </p:txBody>
      </p:sp>
      <p:sp>
        <p:nvSpPr>
          <p:cNvPr id="11" name="Text 8"/>
          <p:cNvSpPr txBox="1"/>
          <p:nvPr/>
        </p:nvSpPr>
        <p:spPr>
          <a:xfrm>
            <a:off x="7882128" y="3968496"/>
            <a:ext cx="3474720" cy="1005840"/>
          </a:xfrm>
          <a:prstGeom prst="rect">
            <a:avLst/>
          </a:prstGeom>
          <a:noFill/>
          <a:ln/>
        </p:spPr>
        <p:txBody>
          <a:bodyPr wrap="square" lIns="0" tIns="0" rIns="0" bIns="0" rtlCol="0" anchor="ctr"/>
          <a:lstStyle/>
          <a:p>
            <a:pPr indent="0" marL="0">
              <a:lnSpc>
                <a:spcPct val="124000"/>
              </a:lnSpc>
              <a:buNone/>
            </a:pPr>
            <a:r>
              <a:rPr lang="en-US" sz="1250" dirty="0">
                <a:solidFill>
                  <a:srgbClr val="E7ECF1"/>
                </a:solidFill>
              </a:rPr>
              <a:t>against a defender holding two probes and reading them two-sided. The minimum over the whole grid.</a:t>
            </a:r>
            <a:endParaRPr lang="en-US" sz="1250" dirty="0"/>
          </a:p>
        </p:txBody>
      </p:sp>
      <p:sp>
        <p:nvSpPr>
          <p:cNvPr id="12"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Bootstrap CI at alpha 2, layer 28: [0.98, 1.00]. Derived from the saved steered features.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3</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rate survived. The sabotage did not</a:t>
            </a:r>
            <a:endParaRPr lang="en-US" sz="2800" dirty="0"/>
          </a:p>
        </p:txBody>
      </p:sp>
      <p:graphicFrame>
        <p:nvGraphicFramePr>
          <p:cNvPr id="4" name="churn-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churn-note1"/>
          <p:cNvSpPr/>
          <p:nvPr/>
        </p:nvSpPr>
        <p:spPr>
          <a:xfrm>
            <a:off x="7607808" y="1481328"/>
            <a:ext cx="4014216" cy="2066544"/>
          </a:xfrm>
          <a:prstGeom prst="roundRect">
            <a:avLst>
              <a:gd name="adj" fmla="val 3540"/>
            </a:avLst>
          </a:prstGeom>
          <a:solidFill>
            <a:srgbClr val="EEF1F4"/>
          </a:solidFill>
          <a:ln w="12700">
            <a:solidFill>
              <a:srgbClr val="EEF1F4"/>
            </a:solidFill>
            <a:prstDash val="solid"/>
          </a:ln>
        </p:spPr>
      </p:sp>
      <p:sp>
        <p:nvSpPr>
          <p:cNvPr id="6" name="Text 3"/>
          <p:cNvSpPr txBox="1"/>
          <p:nvPr/>
        </p:nvSpPr>
        <p:spPr>
          <a:xfrm>
            <a:off x="7882128" y="1682496"/>
            <a:ext cx="3474720" cy="1700784"/>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The accuracy drop reads 0.274, 0.288, 0.342, 0.274, 0.274. Flat. Taken at face value the attacker keeps everything.
</a:t>
            </a:r>
            <a:pPr indent="0" marL="0">
              <a:lnSpc>
                <a:spcPct val="124000"/>
              </a:lnSpc>
              <a:buNone/>
            </a:pPr>
            <a:r>
              <a:rPr lang="en-US" sz="1250" b="1" dirty="0">
                <a:solidFill>
                  <a:srgbClr val="1A2230"/>
                </a:solidFill>
              </a:rPr>
              <a:t>The problems that fail are not the same problems.</a:t>
            </a:r>
            <a:endParaRPr lang="en-US" sz="1250" dirty="0"/>
          </a:p>
        </p:txBody>
      </p:sp>
      <p:sp>
        <p:nvSpPr>
          <p:cNvPr id="7" name="churn-note2"/>
          <p:cNvSpPr/>
          <p:nvPr/>
        </p:nvSpPr>
        <p:spPr>
          <a:xfrm>
            <a:off x="7607808" y="3694176"/>
            <a:ext cx="4014216" cy="1627632"/>
          </a:xfrm>
          <a:prstGeom prst="roundRect">
            <a:avLst>
              <a:gd name="adj" fmla="val 4494"/>
            </a:avLst>
          </a:prstGeom>
          <a:solidFill>
            <a:srgbClr val="EEF1F4"/>
          </a:solidFill>
          <a:ln w="12700">
            <a:solidFill>
              <a:srgbClr val="EEF1F4"/>
            </a:solidFill>
            <a:prstDash val="solid"/>
          </a:ln>
        </p:spPr>
      </p:sp>
      <p:sp>
        <p:nvSpPr>
          <p:cNvPr id="8" name="Text 5"/>
          <p:cNvSpPr txBox="1"/>
          <p:nvPr/>
        </p:nvSpPr>
        <p:spPr>
          <a:xfrm>
            <a:off x="7882128" y="3858768"/>
            <a:ext cx="3474720" cy="256032"/>
          </a:xfrm>
          <a:prstGeom prst="rect">
            <a:avLst/>
          </a:prstGeom>
          <a:noFill/>
          <a:ln/>
        </p:spPr>
        <p:txBody>
          <a:bodyPr wrap="square" lIns="0" tIns="0" rIns="0" bIns="0" rtlCol="0" anchor="ctr"/>
          <a:lstStyle/>
          <a:p>
            <a:pPr indent="0" marL="0">
              <a:buNone/>
            </a:pPr>
            <a:r>
              <a:rPr lang="en-US" sz="1200" b="1" dirty="0">
                <a:solidFill>
                  <a:srgbClr val="6B7A88"/>
                </a:solidFill>
              </a:rPr>
              <a:t>At alpha 8</a:t>
            </a:r>
            <a:endParaRPr lang="en-US" sz="1200" dirty="0"/>
          </a:p>
        </p:txBody>
      </p:sp>
      <p:sp>
        <p:nvSpPr>
          <p:cNvPr id="9" name="Text 6"/>
          <p:cNvSpPr txBox="1"/>
          <p:nvPr/>
        </p:nvSpPr>
        <p:spPr>
          <a:xfrm>
            <a:off x="7882128" y="4151376"/>
            <a:ext cx="3474720" cy="1060704"/>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Nine of the original twenty failures remain and eleven are new, with the valid rate still at 1.000. The rate is preserved and the attack is not.</a:t>
            </a:r>
            <a:endParaRPr lang="en-US" sz="1250" dirty="0"/>
          </a:p>
        </p:txBody>
      </p:sp>
      <p:sp>
        <p:nvSpPr>
          <p:cNvPr id="1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Code that compiles and fails on a different problem looks more like a perturbation than a surviving policy.</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4</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Real behavioural signal, at a layer we never attacked</a:t>
            </a:r>
            <a:endParaRPr lang="en-US" sz="2800" dirty="0"/>
          </a:p>
        </p:txBody>
      </p:sp>
      <p:graphicFrame>
        <p:nvGraphicFramePr>
          <p:cNvPr id="4" name="signal-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sig-note1"/>
          <p:cNvSpPr/>
          <p:nvPr/>
        </p:nvSpPr>
        <p:spPr>
          <a:xfrm>
            <a:off x="7607808" y="1481328"/>
            <a:ext cx="4014216" cy="1883664"/>
          </a:xfrm>
          <a:prstGeom prst="roundRect">
            <a:avLst>
              <a:gd name="adj" fmla="val 3883"/>
            </a:avLst>
          </a:prstGeom>
          <a:solidFill>
            <a:srgbClr val="EEF1F4"/>
          </a:solidFill>
          <a:ln w="12700">
            <a:solidFill>
              <a:srgbClr val="EEF1F4"/>
            </a:solidFill>
            <a:prstDash val="solid"/>
          </a:ln>
        </p:spPr>
      </p:sp>
      <p:sp>
        <p:nvSpPr>
          <p:cNvPr id="6" name="Text 3"/>
          <p:cNvSpPr txBox="1"/>
          <p:nvPr/>
        </p:nvSpPr>
        <p:spPr>
          <a:xfrm>
            <a:off x="7882128" y="1664208"/>
            <a:ext cx="3474720" cy="1554480"/>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Hold the prompt constant: both classes generated under the sandbagging instruction, labelled by whether the sabotage landed. Prompt identity then carries no information.</a:t>
            </a:r>
            <a:endParaRPr lang="en-US" sz="1250" dirty="0"/>
          </a:p>
        </p:txBody>
      </p:sp>
      <p:sp>
        <p:nvSpPr>
          <p:cNvPr id="7" name="sig-note2"/>
          <p:cNvSpPr/>
          <p:nvPr/>
        </p:nvSpPr>
        <p:spPr>
          <a:xfrm>
            <a:off x="7607808" y="3566160"/>
            <a:ext cx="4014216" cy="1755648"/>
          </a:xfrm>
          <a:prstGeom prst="roundRect">
            <a:avLst>
              <a:gd name="adj" fmla="val 4167"/>
            </a:avLst>
          </a:prstGeom>
          <a:solidFill>
            <a:srgbClr val="15202B"/>
          </a:solidFill>
          <a:ln w="12700">
            <a:solidFill>
              <a:srgbClr val="15202B"/>
            </a:solidFill>
            <a:prstDash val="solid"/>
          </a:ln>
        </p:spPr>
      </p:sp>
      <p:sp>
        <p:nvSpPr>
          <p:cNvPr id="8" name="Text 5"/>
          <p:cNvSpPr txBox="1"/>
          <p:nvPr/>
        </p:nvSpPr>
        <p:spPr>
          <a:xfrm>
            <a:off x="7882128" y="3694176"/>
            <a:ext cx="3474720" cy="1572768"/>
          </a:xfrm>
          <a:prstGeom prst="rect">
            <a:avLst/>
          </a:prstGeom>
          <a:noFill/>
          <a:ln/>
        </p:spPr>
        <p:txBody>
          <a:bodyPr wrap="square" lIns="0" tIns="0" rIns="0" bIns="0" rtlCol="0" anchor="ctr"/>
          <a:lstStyle/>
          <a:p>
            <a:pPr indent="0" marL="0">
              <a:lnSpc>
                <a:spcPct val="118000"/>
              </a:lnSpc>
              <a:buNone/>
            </a:pPr>
            <a:r>
              <a:rPr lang="en-US" sz="3400" b="1" dirty="0">
                <a:solidFill>
                  <a:srgbClr val="7FC4E0"/>
                </a:solidFill>
                <a:latin typeface="Cambria" pitchFamily="34" charset="0"/>
                <a:ea typeface="Cambria" pitchFamily="34" charset="-122"/>
                <a:cs typeface="Cambria" pitchFamily="34" charset="-120"/>
              </a:rPr>
              <a:t>0.771</a:t>
            </a:r>
            <a:pPr indent="0" marL="0">
              <a:lnSpc>
                <a:spcPct val="118000"/>
              </a:lnSpc>
              <a:buNone/>
            </a:pPr>
            <a:r>
              <a:rPr lang="en-US" sz="1400" dirty="0">
                <a:solidFill>
                  <a:srgbClr val="E7ECF1"/>
                </a:solidFill>
              </a:rPr>
              <a:t>  at layer 16
</a:t>
            </a:r>
            <a:pPr indent="0" marL="0">
              <a:lnSpc>
                <a:spcPct val="118000"/>
              </a:lnSpc>
              <a:buNone/>
            </a:pPr>
            <a:endParaRPr lang="en-US" sz="3400" dirty="0"/>
          </a:p>
          <a:p>
            <a:pPr indent="0" marL="0">
              <a:lnSpc>
                <a:spcPct val="118000"/>
              </a:lnSpc>
              <a:buNone/>
            </a:pPr>
            <a:r>
              <a:rPr lang="en-US" sz="1150" dirty="0">
                <a:solidFill>
                  <a:srgbClr val="9DADBC"/>
                </a:solidFill>
              </a:rPr>
              <a:t>Across-prompt reads 1.000 at every layer. That number is inflated rather than empty, and the signal peaks where the attack never went.</a:t>
            </a:r>
            <a:endParaRPr lang="en-US" sz="3400" dirty="0"/>
          </a:p>
        </p:txBody>
      </p:sp>
      <p:sp>
        <p:nvSpPr>
          <p:cNvPr id="9"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Five-fold out-of-fold, null shuffled within behaviour. Goldowsky-Dill warned that adjacent layers vary this much.</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66928" y="93268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DID WE GET THE OUTCOME WE WANTED</a:t>
            </a:r>
            <a:endParaRPr lang="en-US" sz="1200" dirty="0"/>
          </a:p>
        </p:txBody>
      </p:sp>
      <p:sp>
        <p:nvSpPr>
          <p:cNvPr id="3" name="Text 0"/>
          <p:cNvSpPr/>
          <p:nvPr>
            <p:ph idx="100" type="title" hasCustomPrompt="1"/>
          </p:nvPr>
        </p:nvSpPr>
        <p:spPr>
          <a:xfrm>
            <a:off x="566928" y="1335024"/>
            <a:ext cx="11057839" cy="932688"/>
          </a:xfrm>
          <a:prstGeom prst="rect">
            <a:avLst/>
          </a:prstGeom>
          <a:noFill/>
          <a:ln/>
        </p:spPr>
        <p:txBody>
          <a:bodyPr wrap="square" rtlCol="0" anchor="t"/>
          <a:lstStyle/>
          <a:p>
            <a:pPr indent="0" marL="0">
              <a:buNone/>
            </a:pPr>
            <a:r>
              <a:rPr lang="en-US" sz="5400" dirty="0">
                <a:solidFill>
                  <a:srgbClr val="FFFFFF"/>
                </a:solidFill>
                <a:latin typeface="Cambria" pitchFamily="34" charset="0"/>
                <a:ea typeface="Cambria" pitchFamily="34" charset="-122"/>
                <a:cs typeface="Cambria" pitchFamily="34" charset="-120"/>
              </a:rPr>
              <a:t>No.</a:t>
            </a:r>
            <a:endParaRPr lang="en-US" sz="5400" dirty="0"/>
          </a:p>
        </p:txBody>
      </p:sp>
      <p:sp>
        <p:nvSpPr>
          <p:cNvPr id="4" name="Text 2"/>
          <p:cNvSpPr txBox="1"/>
          <p:nvPr/>
        </p:nvSpPr>
        <p:spPr>
          <a:xfrm>
            <a:off x="566928" y="2432304"/>
            <a:ext cx="8229600" cy="420624"/>
          </a:xfrm>
          <a:prstGeom prst="rect">
            <a:avLst/>
          </a:prstGeom>
          <a:noFill/>
          <a:ln/>
        </p:spPr>
        <p:txBody>
          <a:bodyPr wrap="square" lIns="0" tIns="0" rIns="0" bIns="0" rtlCol="0" anchor="ctr"/>
          <a:lstStyle/>
          <a:p>
            <a:pPr indent="0" marL="0">
              <a:buNone/>
            </a:pPr>
            <a:r>
              <a:rPr lang="en-US" sz="2000" dirty="0">
                <a:solidFill>
                  <a:srgbClr val="E7ECF1"/>
                </a:solidFill>
              </a:rPr>
              <a:t>For a reason narrow enough to be worth stating precisely.</a:t>
            </a:r>
            <a:endParaRPr lang="en-US" sz="2000" dirty="0"/>
          </a:p>
        </p:txBody>
      </p:sp>
      <p:sp>
        <p:nvSpPr>
          <p:cNvPr id="5" name="verdict-0"/>
          <p:cNvSpPr/>
          <p:nvPr/>
        </p:nvSpPr>
        <p:spPr>
          <a:xfrm>
            <a:off x="566928" y="3200400"/>
            <a:ext cx="3493008" cy="2011680"/>
          </a:xfrm>
          <a:prstGeom prst="roundRect">
            <a:avLst>
              <a:gd name="adj" fmla="val 3636"/>
            </a:avLst>
          </a:prstGeom>
          <a:solidFill>
            <a:srgbClr val="1E2A38"/>
          </a:solidFill>
          <a:ln w="12700">
            <a:solidFill>
              <a:srgbClr val="1E2A38"/>
            </a:solidFill>
            <a:prstDash val="solid"/>
          </a:ln>
        </p:spPr>
      </p:sp>
      <p:sp>
        <p:nvSpPr>
          <p:cNvPr id="6" name="Text 4"/>
          <p:cNvSpPr txBox="1"/>
          <p:nvPr/>
        </p:nvSpPr>
        <p:spPr>
          <a:xfrm>
            <a:off x="804672"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Measuring a cost needs a mechanism</a:t>
            </a:r>
            <a:endParaRPr lang="en-US" sz="1400" dirty="0"/>
          </a:p>
        </p:txBody>
      </p:sp>
      <p:sp>
        <p:nvSpPr>
          <p:cNvPr id="7" name="Text 5"/>
          <p:cNvSpPr txBox="1"/>
          <p:nvPr/>
        </p:nvSpPr>
        <p:spPr>
          <a:xfrm>
            <a:off x="804672"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Getting a number for what evasion costs requires that the thing being evaded is load-bearing for the behaviour, so that moving away from it drags the behaviour along.</a:t>
            </a:r>
            <a:endParaRPr lang="en-US" sz="1200" dirty="0"/>
          </a:p>
        </p:txBody>
      </p:sp>
      <p:sp>
        <p:nvSpPr>
          <p:cNvPr id="8" name="verdict-1"/>
          <p:cNvSpPr/>
          <p:nvPr/>
        </p:nvSpPr>
        <p:spPr>
          <a:xfrm>
            <a:off x="4334256" y="3200400"/>
            <a:ext cx="3493008" cy="2011680"/>
          </a:xfrm>
          <a:prstGeom prst="roundRect">
            <a:avLst>
              <a:gd name="adj" fmla="val 3636"/>
            </a:avLst>
          </a:prstGeom>
          <a:solidFill>
            <a:srgbClr val="1E2A38"/>
          </a:solidFill>
          <a:ln w="12700">
            <a:solidFill>
              <a:srgbClr val="1E2A38"/>
            </a:solidFill>
            <a:prstDash val="solid"/>
          </a:ln>
        </p:spPr>
      </p:sp>
      <p:sp>
        <p:nvSpPr>
          <p:cNvPr id="9" name="Text 7"/>
          <p:cNvSpPr txBox="1"/>
          <p:nvPr/>
        </p:nvSpPr>
        <p:spPr>
          <a:xfrm>
            <a:off x="4572000"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The direction was a prompt marker</a:t>
            </a:r>
            <a:endParaRPr lang="en-US" sz="1400" dirty="0"/>
          </a:p>
        </p:txBody>
      </p:sp>
      <p:sp>
        <p:nvSpPr>
          <p:cNvPr id="10" name="Text 8"/>
          <p:cNvSpPr txBox="1"/>
          <p:nvPr/>
        </p:nvSpPr>
        <p:spPr>
          <a:xfrm>
            <a:off x="4572000"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What we attacked is a marker for which instruction was in the context. Subtracting it moved the score and left the computation alone, to within 1.6%.</a:t>
            </a:r>
            <a:endParaRPr lang="en-US" sz="1200" dirty="0"/>
          </a:p>
        </p:txBody>
      </p:sp>
      <p:sp>
        <p:nvSpPr>
          <p:cNvPr id="11" name="verdict-2"/>
          <p:cNvSpPr/>
          <p:nvPr/>
        </p:nvSpPr>
        <p:spPr>
          <a:xfrm>
            <a:off x="8101584" y="3200400"/>
            <a:ext cx="3493008" cy="2011680"/>
          </a:xfrm>
          <a:prstGeom prst="roundRect">
            <a:avLst>
              <a:gd name="adj" fmla="val 3636"/>
            </a:avLst>
          </a:prstGeom>
          <a:solidFill>
            <a:srgbClr val="1E2A38"/>
          </a:solidFill>
          <a:ln w="12700">
            <a:solidFill>
              <a:srgbClr val="1E2A38"/>
            </a:solidFill>
            <a:prstDash val="solid"/>
          </a:ln>
        </p:spPr>
      </p:sp>
      <p:sp>
        <p:nvSpPr>
          <p:cNvPr id="12" name="Text 10"/>
          <p:cNvSpPr txBox="1"/>
          <p:nvPr/>
        </p:nvSpPr>
        <p:spPr>
          <a:xfrm>
            <a:off x="8339328"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So there was no cost to measure</a:t>
            </a:r>
            <a:endParaRPr lang="en-US" sz="1400" dirty="0"/>
          </a:p>
        </p:txBody>
      </p:sp>
      <p:sp>
        <p:nvSpPr>
          <p:cNvPr id="13" name="Text 11"/>
          <p:cNvSpPr txBox="1"/>
          <p:nvPr/>
        </p:nvSpPr>
        <p:spPr>
          <a:xfrm>
            <a:off x="8339328"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Nothing stood in the way of the evasion. That is a claim about this probe direction on this run, and not about evasion in general.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WHAT IS WORKING</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What holds up</a:t>
            </a:r>
            <a:endParaRPr lang="en-US" sz="2800" dirty="0"/>
          </a:p>
        </p:txBody>
      </p:sp>
      <p:sp>
        <p:nvSpPr>
          <p:cNvPr id="4" name="stands-0"/>
          <p:cNvSpPr/>
          <p:nvPr/>
        </p:nvSpPr>
        <p:spPr>
          <a:xfrm>
            <a:off x="566928" y="1481328"/>
            <a:ext cx="5385816" cy="1353312"/>
          </a:xfrm>
          <a:prstGeom prst="roundRect">
            <a:avLst>
              <a:gd name="adj" fmla="val 5405"/>
            </a:avLst>
          </a:prstGeom>
          <a:solidFill>
            <a:srgbClr val="EEF1F4"/>
          </a:solidFill>
          <a:ln w="12700">
            <a:solidFill>
              <a:srgbClr val="EEF1F4"/>
            </a:solidFill>
            <a:prstDash val="solid"/>
          </a:ln>
        </p:spPr>
      </p:sp>
      <p:sp>
        <p:nvSpPr>
          <p:cNvPr id="5" name="Text 3"/>
          <p:cNvSpPr txBox="1"/>
          <p:nvPr/>
        </p:nvSpPr>
        <p:spPr>
          <a:xfrm>
            <a:off x="822960" y="1682496"/>
            <a:ext cx="1280160" cy="457200"/>
          </a:xfrm>
          <a:prstGeom prst="rect">
            <a:avLst/>
          </a:prstGeom>
          <a:noFill/>
          <a:ln/>
        </p:spPr>
        <p:txBody>
          <a:bodyPr wrap="square" lIns="0" tIns="0" rIns="0" bIns="0" rtlCol="0" anchor="ctr"/>
          <a:lstStyle/>
          <a:p>
            <a:pPr indent="0" marL="0">
              <a:buNone/>
            </a:pPr>
            <a:r>
              <a:rPr lang="en-US" sz="2600" b="1" dirty="0">
                <a:solidFill>
                  <a:srgbClr val="2E6E8E"/>
                </a:solidFill>
                <a:latin typeface="Cambria" pitchFamily="34" charset="0"/>
                <a:ea typeface="Cambria" pitchFamily="34" charset="-122"/>
                <a:cs typeface="Cambria" pitchFamily="34" charset="-120"/>
              </a:rPr>
              <a:t>0.993</a:t>
            </a:r>
            <a:endParaRPr lang="en-US" sz="2600" dirty="0"/>
          </a:p>
        </p:txBody>
      </p:sp>
      <p:sp>
        <p:nvSpPr>
          <p:cNvPr id="6" name="Text 4"/>
          <p:cNvSpPr txBox="1"/>
          <p:nvPr/>
        </p:nvSpPr>
        <p:spPr>
          <a:xfrm>
            <a:off x="2139696" y="1664208"/>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The defender's number</a:t>
            </a:r>
            <a:endParaRPr lang="en-US" sz="1350" dirty="0"/>
          </a:p>
        </p:txBody>
      </p:sp>
      <p:sp>
        <p:nvSpPr>
          <p:cNvPr id="7" name="Text 5"/>
          <p:cNvSpPr txBox="1"/>
          <p:nvPr/>
        </p:nvSpPr>
        <p:spPr>
          <a:xfrm>
            <a:off x="2139696" y="1993392"/>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Two probes read two-sided, minimised over the whole grid. No setting is quiet at the attacked layer and the untouched one at once.</a:t>
            </a:r>
            <a:endParaRPr lang="en-US" sz="1150" dirty="0"/>
          </a:p>
        </p:txBody>
      </p:sp>
      <p:sp>
        <p:nvSpPr>
          <p:cNvPr id="8" name="stands-1"/>
          <p:cNvSpPr/>
          <p:nvPr/>
        </p:nvSpPr>
        <p:spPr>
          <a:xfrm>
            <a:off x="566928" y="2926080"/>
            <a:ext cx="5385816" cy="1353312"/>
          </a:xfrm>
          <a:prstGeom prst="roundRect">
            <a:avLst>
              <a:gd name="adj" fmla="val 5405"/>
            </a:avLst>
          </a:prstGeom>
          <a:solidFill>
            <a:srgbClr val="EEF1F4"/>
          </a:solidFill>
          <a:ln w="12700">
            <a:solidFill>
              <a:srgbClr val="EEF1F4"/>
            </a:solidFill>
            <a:prstDash val="solid"/>
          </a:ln>
        </p:spPr>
      </p:sp>
      <p:sp>
        <p:nvSpPr>
          <p:cNvPr id="9" name="Text 7"/>
          <p:cNvSpPr txBox="1"/>
          <p:nvPr/>
        </p:nvSpPr>
        <p:spPr>
          <a:xfrm>
            <a:off x="822960" y="3127248"/>
            <a:ext cx="1280160" cy="457200"/>
          </a:xfrm>
          <a:prstGeom prst="rect">
            <a:avLst/>
          </a:prstGeom>
          <a:noFill/>
          <a:ln/>
        </p:spPr>
        <p:txBody>
          <a:bodyPr wrap="square" lIns="0" tIns="0" rIns="0" bIns="0" rtlCol="0" anchor="ctr"/>
          <a:lstStyle/>
          <a:p>
            <a:pPr indent="0" marL="0">
              <a:buNone/>
            </a:pPr>
            <a:r>
              <a:rPr lang="en-US" sz="2600" b="1" dirty="0">
                <a:solidFill>
                  <a:srgbClr val="2E6E8E"/>
                </a:solidFill>
                <a:latin typeface="Cambria" pitchFamily="34" charset="0"/>
                <a:ea typeface="Cambria" pitchFamily="34" charset="-122"/>
                <a:cs typeface="Cambria" pitchFamily="34" charset="-120"/>
              </a:rPr>
              <a:t>0.771</a:t>
            </a:r>
            <a:endParaRPr lang="en-US" sz="2600" dirty="0"/>
          </a:p>
        </p:txBody>
      </p:sp>
      <p:sp>
        <p:nvSpPr>
          <p:cNvPr id="10" name="Text 8"/>
          <p:cNvSpPr txBox="1"/>
          <p:nvPr/>
        </p:nvSpPr>
        <p:spPr>
          <a:xfrm>
            <a:off x="2139696" y="3108960"/>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Behavioural signal at layer 16</a:t>
            </a:r>
            <a:endParaRPr lang="en-US" sz="1350" dirty="0"/>
          </a:p>
        </p:txBody>
      </p:sp>
      <p:sp>
        <p:nvSpPr>
          <p:cNvPr id="11" name="Text 9"/>
          <p:cNvSpPr txBox="1"/>
          <p:nvPr/>
        </p:nvSpPr>
        <p:spPr>
          <a:xfrm>
            <a:off x="2139696" y="3438144"/>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Within-prompt, out of fold, against a shuffled null of 0.499 whose 95th percentile is 0.592. Layer 20, the one we attacked, reads 0.677.</a:t>
            </a:r>
            <a:endParaRPr lang="en-US" sz="1150" dirty="0"/>
          </a:p>
        </p:txBody>
      </p:sp>
      <p:sp>
        <p:nvSpPr>
          <p:cNvPr id="12" name="stands-2"/>
          <p:cNvSpPr/>
          <p:nvPr/>
        </p:nvSpPr>
        <p:spPr>
          <a:xfrm>
            <a:off x="566928" y="4370832"/>
            <a:ext cx="5385816" cy="1353312"/>
          </a:xfrm>
          <a:prstGeom prst="roundRect">
            <a:avLst>
              <a:gd name="adj" fmla="val 5405"/>
            </a:avLst>
          </a:prstGeom>
          <a:solidFill>
            <a:srgbClr val="EEF1F4"/>
          </a:solidFill>
          <a:ln w="12700">
            <a:solidFill>
              <a:srgbClr val="EEF1F4"/>
            </a:solidFill>
            <a:prstDash val="solid"/>
          </a:ln>
        </p:spPr>
      </p:sp>
      <p:sp>
        <p:nvSpPr>
          <p:cNvPr id="13" name="Text 11"/>
          <p:cNvSpPr txBox="1"/>
          <p:nvPr/>
        </p:nvSpPr>
        <p:spPr>
          <a:xfrm>
            <a:off x="822960" y="4572000"/>
            <a:ext cx="1280160" cy="457200"/>
          </a:xfrm>
          <a:prstGeom prst="rect">
            <a:avLst/>
          </a:prstGeom>
          <a:noFill/>
          <a:ln/>
        </p:spPr>
        <p:txBody>
          <a:bodyPr wrap="square" lIns="0" tIns="0" rIns="0" bIns="0" rtlCol="0" anchor="ctr"/>
          <a:lstStyle/>
          <a:p>
            <a:pPr indent="0" marL="0">
              <a:buNone/>
            </a:pPr>
            <a:r>
              <a:rPr lang="en-US" sz="2600" b="1" dirty="0">
                <a:solidFill>
                  <a:srgbClr val="C2541B"/>
                </a:solidFill>
                <a:latin typeface="Cambria" pitchFamily="34" charset="0"/>
                <a:ea typeface="Cambria" pitchFamily="34" charset="-122"/>
                <a:cs typeface="Cambria" pitchFamily="34" charset="-120"/>
              </a:rPr>
              <a:t>1.000</a:t>
            </a:r>
            <a:endParaRPr lang="en-US" sz="2600" dirty="0"/>
          </a:p>
        </p:txBody>
      </p:sp>
      <p:sp>
        <p:nvSpPr>
          <p:cNvPr id="14" name="Text 12"/>
          <p:cNvSpPr txBox="1"/>
          <p:nvPr/>
        </p:nvSpPr>
        <p:spPr>
          <a:xfrm>
            <a:off x="2139696" y="4553712"/>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A failure mode worth naming</a:t>
            </a:r>
            <a:endParaRPr lang="en-US" sz="1350" dirty="0"/>
          </a:p>
        </p:txBody>
      </p:sp>
      <p:sp>
        <p:nvSpPr>
          <p:cNvPr id="15" name="Text 13"/>
          <p:cNvSpPr txBox="1"/>
          <p:nvPr/>
        </p:nvSpPr>
        <p:spPr>
          <a:xfrm>
            <a:off x="2139696" y="4882896"/>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Two prompts make the label, the probe reads the prompt, every layer scores 1.000, and layer selection stops working. Anyone building this will hit it.</a:t>
            </a:r>
            <a:endParaRPr lang="en-US" sz="1150" dirty="0"/>
          </a:p>
        </p:txBody>
      </p:sp>
      <p:sp>
        <p:nvSpPr>
          <p:cNvPr id="16" name="machinery"/>
          <p:cNvSpPr/>
          <p:nvPr/>
        </p:nvSpPr>
        <p:spPr>
          <a:xfrm>
            <a:off x="6236208" y="1481328"/>
            <a:ext cx="5385816" cy="4242816"/>
          </a:xfrm>
          <a:prstGeom prst="roundRect">
            <a:avLst>
              <a:gd name="adj" fmla="val 1724"/>
            </a:avLst>
          </a:prstGeom>
          <a:solidFill>
            <a:srgbClr val="EEF1F4"/>
          </a:solidFill>
          <a:ln w="12700">
            <a:solidFill>
              <a:srgbClr val="EEF1F4"/>
            </a:solidFill>
            <a:prstDash val="solid"/>
          </a:ln>
        </p:spPr>
      </p:sp>
      <p:sp>
        <p:nvSpPr>
          <p:cNvPr id="17" name="Text 15"/>
          <p:cNvSpPr txBox="1"/>
          <p:nvPr/>
        </p:nvSpPr>
        <p:spPr>
          <a:xfrm>
            <a:off x="6510528" y="1664208"/>
            <a:ext cx="4846320" cy="256032"/>
          </a:xfrm>
          <a:prstGeom prst="rect">
            <a:avLst/>
          </a:prstGeom>
          <a:noFill/>
          <a:ln/>
        </p:spPr>
        <p:txBody>
          <a:bodyPr wrap="square" lIns="0" tIns="0" rIns="0" bIns="0" rtlCol="0" anchor="ctr"/>
          <a:lstStyle/>
          <a:p>
            <a:pPr indent="0" marL="0">
              <a:buNone/>
            </a:pPr>
            <a:r>
              <a:rPr lang="en-US" sz="1200" b="1" dirty="0">
                <a:solidFill>
                  <a:srgbClr val="6B7A88"/>
                </a:solidFill>
              </a:rPr>
              <a:t>Machinery that held</a:t>
            </a:r>
            <a:endParaRPr lang="en-US" sz="1200" dirty="0"/>
          </a:p>
        </p:txBody>
      </p:sp>
      <p:sp>
        <p:nvSpPr>
          <p:cNvPr id="18" name="Text 16"/>
          <p:cNvSpPr txBox="1"/>
          <p:nvPr/>
        </p:nvSpPr>
        <p:spPr>
          <a:xfrm>
            <a:off x="6510528" y="202996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Executable ground truth</a:t>
            </a:r>
            <a:endParaRPr lang="en-US" sz="1250" dirty="0"/>
          </a:p>
        </p:txBody>
      </p:sp>
      <p:sp>
        <p:nvSpPr>
          <p:cNvPr id="19" name="Text 17"/>
          <p:cNvSpPr txBox="1"/>
          <p:nvPr/>
        </p:nvSpPr>
        <p:spPr>
          <a:xfrm>
            <a:off x="6510528" y="226771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official mbpp tests run in a subprocess. Whether they passed is a fact, with no second model judging it.</a:t>
            </a:r>
            <a:endParaRPr lang="en-US" sz="1100" dirty="0"/>
          </a:p>
        </p:txBody>
      </p:sp>
      <p:sp>
        <p:nvSpPr>
          <p:cNvPr id="20" name="Text 18"/>
          <p:cNvSpPr txBox="1"/>
          <p:nvPr/>
        </p:nvSpPr>
        <p:spPr>
          <a:xfrm>
            <a:off x="6510528" y="276148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A flip label with a validity flag</a:t>
            </a:r>
            <a:endParaRPr lang="en-US" sz="1250" dirty="0"/>
          </a:p>
        </p:txBody>
      </p:sp>
      <p:sp>
        <p:nvSpPr>
          <p:cNvPr id="21" name="Text 19"/>
          <p:cNvSpPr txBox="1"/>
          <p:nvPr/>
        </p:nvSpPr>
        <p:spPr>
          <a:xfrm>
            <a:off x="6510528" y="299923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Right under one prompt, wrong under the other, same problem. The valid rate held at 1.000, which rules out steering into incoherence.</a:t>
            </a:r>
            <a:endParaRPr lang="en-US" sz="1100" dirty="0"/>
          </a:p>
        </p:txBody>
      </p:sp>
      <p:sp>
        <p:nvSpPr>
          <p:cNvPr id="22" name="Text 20"/>
          <p:cNvSpPr txBox="1"/>
          <p:nvPr/>
        </p:nvSpPr>
        <p:spPr>
          <a:xfrm>
            <a:off x="6510528" y="349300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Controls written as a gate</a:t>
            </a:r>
            <a:endParaRPr lang="en-US" sz="1250" dirty="0"/>
          </a:p>
        </p:txBody>
      </p:sp>
      <p:sp>
        <p:nvSpPr>
          <p:cNvPr id="23" name="Text 21"/>
          <p:cNvSpPr txBox="1"/>
          <p:nvPr/>
        </p:nvSpPr>
        <p:spPr>
          <a:xfrm>
            <a:off x="6510528" y="373075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prompt control fired at 1.000 before any steering ran. The instrument worked and we overrode it.</a:t>
            </a:r>
            <a:endParaRPr lang="en-US" sz="1100" dirty="0"/>
          </a:p>
        </p:txBody>
      </p:sp>
      <p:sp>
        <p:nvSpPr>
          <p:cNvPr id="24" name="Text 22"/>
          <p:cNvSpPr txBox="1"/>
          <p:nvPr/>
        </p:nvSpPr>
        <p:spPr>
          <a:xfrm>
            <a:off x="6510528" y="422452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A probe at a layer we never steered</a:t>
            </a:r>
            <a:endParaRPr lang="en-US" sz="1250" dirty="0"/>
          </a:p>
        </p:txBody>
      </p:sp>
      <p:sp>
        <p:nvSpPr>
          <p:cNvPr id="25" name="Text 23"/>
          <p:cNvSpPr txBox="1"/>
          <p:nvPr/>
        </p:nvSpPr>
        <p:spPr>
          <a:xfrm>
            <a:off x="6510528" y="446227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Layer 28, fitted on the same split. It is the only reason there is a defence result to report.</a:t>
            </a:r>
            <a:endParaRPr lang="en-US" sz="1100" dirty="0"/>
          </a:p>
        </p:txBody>
      </p:sp>
      <p:sp>
        <p:nvSpPr>
          <p:cNvPr id="26" name="Text 24"/>
          <p:cNvSpPr txBox="1"/>
          <p:nvPr/>
        </p:nvSpPr>
        <p:spPr>
          <a:xfrm>
            <a:off x="6510528" y="495604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Features saved per alpha</a:t>
            </a:r>
            <a:endParaRPr lang="en-US" sz="1250" dirty="0"/>
          </a:p>
        </p:txBody>
      </p:sp>
      <p:sp>
        <p:nvSpPr>
          <p:cNvPr id="27" name="Text 25"/>
          <p:cNvSpPr txBox="1"/>
          <p:nvPr/>
        </p:nvSpPr>
        <p:spPr>
          <a:xfrm>
            <a:off x="6510528" y="519379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residual arithmetic, the two-sided AUROC, the Jaccard and the within-prompt probe all came off one npz, with no new GPU time.</a:t>
            </a:r>
            <a:endParaRPr lang="en-US" sz="1100" dirty="0"/>
          </a:p>
        </p:txBody>
      </p:sp>
      <p:sp>
        <p:nvSpPr>
          <p:cNvPr id="2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Steering the prompt positions too, STEER_SCOPE set to all, did not erase the instruction: the flip rate held at 0.274 and rose to 0.342.</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WHAT IS NOT WORKING</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Four things that broke, worst first</a:t>
            </a:r>
            <a:endParaRPr lang="en-US" sz="2800" dirty="0"/>
          </a:p>
        </p:txBody>
      </p:sp>
      <p:sp>
        <p:nvSpPr>
          <p:cNvPr id="4" name="broke-0"/>
          <p:cNvSpPr/>
          <p:nvPr/>
        </p:nvSpPr>
        <p:spPr>
          <a:xfrm>
            <a:off x="566928" y="1481328"/>
            <a:ext cx="11057839" cy="932688"/>
          </a:xfrm>
          <a:prstGeom prst="roundRect">
            <a:avLst>
              <a:gd name="adj" fmla="val 7843"/>
            </a:avLst>
          </a:prstGeom>
          <a:solidFill>
            <a:srgbClr val="EEF1F4"/>
          </a:solidFill>
          <a:ln w="12700">
            <a:solidFill>
              <a:srgbClr val="EEF1F4"/>
            </a:solidFill>
            <a:prstDash val="solid"/>
          </a:ln>
        </p:spPr>
      </p:sp>
      <p:sp>
        <p:nvSpPr>
          <p:cNvPr id="5" name="badge-1"/>
          <p:cNvSpPr/>
          <p:nvPr/>
        </p:nvSpPr>
        <p:spPr>
          <a:xfrm>
            <a:off x="841248" y="1755648"/>
            <a:ext cx="384048" cy="384048"/>
          </a:xfrm>
          <a:prstGeom prst="ellipse">
            <a:avLst/>
          </a:prstGeom>
          <a:solidFill>
            <a:srgbClr val="C2541B"/>
          </a:solidFill>
          <a:ln w="12700">
            <a:solidFill>
              <a:srgbClr val="C2541B"/>
            </a:solidFill>
            <a:prstDash val="solid"/>
          </a:ln>
        </p:spPr>
      </p:sp>
      <p:sp>
        <p:nvSpPr>
          <p:cNvPr id="6" name="Text 4"/>
          <p:cNvSpPr txBox="1"/>
          <p:nvPr/>
        </p:nvSpPr>
        <p:spPr>
          <a:xfrm>
            <a:off x="841248" y="1755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444752" y="1609344"/>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label comes from two prompts</a:t>
            </a:r>
            <a:endParaRPr lang="en-US" sz="1450" dirty="0"/>
          </a:p>
        </p:txBody>
      </p:sp>
      <p:sp>
        <p:nvSpPr>
          <p:cNvPr id="8" name="Text 6"/>
          <p:cNvSpPr txBox="1"/>
          <p:nvPr/>
        </p:nvSpPr>
        <p:spPr>
          <a:xfrm>
            <a:off x="1444752" y="1938528"/>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The probe reads which instruction was in the context. An attack and an ignored instruction sit 0.18 apart on a scale spanning 15.6.</a:t>
            </a:r>
            <a:endParaRPr lang="en-US" sz="1150" dirty="0"/>
          </a:p>
        </p:txBody>
      </p:sp>
      <p:sp>
        <p:nvSpPr>
          <p:cNvPr id="9" name="Text 7"/>
          <p:cNvSpPr txBox="1"/>
          <p:nvPr/>
        </p:nvSpPr>
        <p:spPr>
          <a:xfrm>
            <a:off x="8156448" y="1627632"/>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10" name="Text 8"/>
          <p:cNvSpPr txBox="1"/>
          <p:nvPr/>
        </p:nvSpPr>
        <p:spPr>
          <a:xfrm>
            <a:off x="8156448" y="1865376"/>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the headline, the layer choice,</a:t>
            </a:r>
            <a:endParaRPr lang="en-US" sz="1150" dirty="0"/>
          </a:p>
          <a:p>
            <a:pPr indent="0" marL="0">
              <a:lnSpc>
                <a:spcPct val="118000"/>
              </a:lnSpc>
              <a:buNone/>
            </a:pPr>
            <a:r>
              <a:rPr lang="en-US" sz="1150" dirty="0">
                <a:solidFill>
                  <a:srgbClr val="C2541B"/>
                </a:solidFill>
              </a:rPr>
              <a:t>and the tax measurement itself</a:t>
            </a:r>
            <a:endParaRPr lang="en-US" sz="1150" dirty="0"/>
          </a:p>
        </p:txBody>
      </p:sp>
      <p:sp>
        <p:nvSpPr>
          <p:cNvPr id="11" name="broke-1"/>
          <p:cNvSpPr/>
          <p:nvPr/>
        </p:nvSpPr>
        <p:spPr>
          <a:xfrm>
            <a:off x="566928" y="2523744"/>
            <a:ext cx="11057839" cy="932688"/>
          </a:xfrm>
          <a:prstGeom prst="roundRect">
            <a:avLst>
              <a:gd name="adj" fmla="val 7843"/>
            </a:avLst>
          </a:prstGeom>
          <a:solidFill>
            <a:srgbClr val="EEF1F4"/>
          </a:solidFill>
          <a:ln w="12700">
            <a:solidFill>
              <a:srgbClr val="EEF1F4"/>
            </a:solidFill>
            <a:prstDash val="solid"/>
          </a:ln>
        </p:spPr>
      </p:sp>
      <p:sp>
        <p:nvSpPr>
          <p:cNvPr id="12" name="badge-2"/>
          <p:cNvSpPr/>
          <p:nvPr/>
        </p:nvSpPr>
        <p:spPr>
          <a:xfrm>
            <a:off x="841248" y="2798064"/>
            <a:ext cx="384048" cy="384048"/>
          </a:xfrm>
          <a:prstGeom prst="ellipse">
            <a:avLst/>
          </a:prstGeom>
          <a:solidFill>
            <a:srgbClr val="C2541B"/>
          </a:solidFill>
          <a:ln w="12700">
            <a:solidFill>
              <a:srgbClr val="C2541B"/>
            </a:solidFill>
            <a:prstDash val="solid"/>
          </a:ln>
        </p:spPr>
      </p:sp>
      <p:sp>
        <p:nvSpPr>
          <p:cNvPr id="13" name="Text 11"/>
          <p:cNvSpPr txBox="1"/>
          <p:nvPr/>
        </p:nvSpPr>
        <p:spPr>
          <a:xfrm>
            <a:off x="841248" y="27980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1444752" y="2651760"/>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dial has no scale</a:t>
            </a:r>
            <a:endParaRPr lang="en-US" sz="1450" dirty="0"/>
          </a:p>
        </p:txBody>
      </p:sp>
      <p:sp>
        <p:nvSpPr>
          <p:cNvPr id="15" name="Text 13"/>
          <p:cNvSpPr txBox="1"/>
          <p:nvPr/>
        </p:nvSpPr>
        <p:spPr>
          <a:xfrm>
            <a:off x="1444752" y="2980944"/>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In units of alpha the informative window is [0.94, 3.22]. The grid 0, 1, 2, 4, 8 put two of five points inside it.</a:t>
            </a:r>
            <a:endParaRPr lang="en-US" sz="1150" dirty="0"/>
          </a:p>
        </p:txBody>
      </p:sp>
      <p:sp>
        <p:nvSpPr>
          <p:cNvPr id="16" name="Text 14"/>
          <p:cNvSpPr txBox="1"/>
          <p:nvPr/>
        </p:nvSpPr>
        <p:spPr>
          <a:xfrm>
            <a:off x="8156448" y="2670048"/>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17" name="Text 15"/>
          <p:cNvSpPr txBox="1"/>
          <p:nvPr/>
        </p:nvSpPr>
        <p:spPr>
          <a:xfrm>
            <a:off x="8156448" y="2907792"/>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two of five generation passes,</a:t>
            </a:r>
            <a:endParaRPr lang="en-US" sz="1150" dirty="0"/>
          </a:p>
          <a:p>
            <a:pPr indent="0" marL="0">
              <a:lnSpc>
                <a:spcPct val="118000"/>
              </a:lnSpc>
              <a:buNone/>
            </a:pPr>
            <a:r>
              <a:rPr lang="en-US" sz="1150" dirty="0">
                <a:solidFill>
                  <a:srgbClr val="C2541B"/>
                </a:solidFill>
              </a:rPr>
              <a:t>spent where the answer was fixed</a:t>
            </a:r>
            <a:endParaRPr lang="en-US" sz="1150" dirty="0"/>
          </a:p>
        </p:txBody>
      </p:sp>
      <p:sp>
        <p:nvSpPr>
          <p:cNvPr id="18" name="broke-2"/>
          <p:cNvSpPr/>
          <p:nvPr/>
        </p:nvSpPr>
        <p:spPr>
          <a:xfrm>
            <a:off x="566928" y="3566160"/>
            <a:ext cx="11057839" cy="932688"/>
          </a:xfrm>
          <a:prstGeom prst="roundRect">
            <a:avLst>
              <a:gd name="adj" fmla="val 7843"/>
            </a:avLst>
          </a:prstGeom>
          <a:solidFill>
            <a:srgbClr val="EEF1F4"/>
          </a:solidFill>
          <a:ln w="12700">
            <a:solidFill>
              <a:srgbClr val="EEF1F4"/>
            </a:solidFill>
            <a:prstDash val="solid"/>
          </a:ln>
        </p:spPr>
      </p:sp>
      <p:sp>
        <p:nvSpPr>
          <p:cNvPr id="19" name="badge-3"/>
          <p:cNvSpPr/>
          <p:nvPr/>
        </p:nvSpPr>
        <p:spPr>
          <a:xfrm>
            <a:off x="841248" y="3840480"/>
            <a:ext cx="384048" cy="384048"/>
          </a:xfrm>
          <a:prstGeom prst="ellipse">
            <a:avLst/>
          </a:prstGeom>
          <a:solidFill>
            <a:srgbClr val="C2541B"/>
          </a:solidFill>
          <a:ln w="12700">
            <a:solidFill>
              <a:srgbClr val="C2541B"/>
            </a:solidFill>
            <a:prstDash val="solid"/>
          </a:ln>
        </p:spPr>
      </p:sp>
      <p:sp>
        <p:nvSpPr>
          <p:cNvPr id="20" name="Text 18"/>
          <p:cNvSpPr txBox="1"/>
          <p:nvPr/>
        </p:nvSpPr>
        <p:spPr>
          <a:xfrm>
            <a:off x="841248"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Text 19"/>
          <p:cNvSpPr txBox="1"/>
          <p:nvPr/>
        </p:nvSpPr>
        <p:spPr>
          <a:xfrm>
            <a:off x="1444752" y="3694176"/>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sweep table reports the wrong columns</a:t>
            </a:r>
            <a:endParaRPr lang="en-US" sz="1450" dirty="0"/>
          </a:p>
        </p:txBody>
      </p:sp>
      <p:sp>
        <p:nvSpPr>
          <p:cNvPr id="22" name="Text 20"/>
          <p:cNvSpPr txBox="1"/>
          <p:nvPr/>
        </p:nvSpPr>
        <p:spPr>
          <a:xfrm>
            <a:off x="1444752" y="4023360"/>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One-sided AUROC, so 0.000 reads as evasion. The accuracy drop alone, so churn in the failing set is invisible. No residual, no intervals.</a:t>
            </a:r>
            <a:endParaRPr lang="en-US" sz="1150" dirty="0"/>
          </a:p>
        </p:txBody>
      </p:sp>
      <p:sp>
        <p:nvSpPr>
          <p:cNvPr id="23" name="Text 21"/>
          <p:cNvSpPr txBox="1"/>
          <p:nvPr/>
        </p:nvSpPr>
        <p:spPr>
          <a:xfrm>
            <a:off x="8156448" y="3712464"/>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24" name="Text 22"/>
          <p:cNvSpPr txBox="1"/>
          <p:nvPr/>
        </p:nvSpPr>
        <p:spPr>
          <a:xfrm>
            <a:off x="8156448" y="3950208"/>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ten minutes of believing</a:t>
            </a:r>
            <a:endParaRPr lang="en-US" sz="1150" dirty="0"/>
          </a:p>
          <a:p>
            <a:pPr indent="0" marL="0">
              <a:lnSpc>
                <a:spcPct val="118000"/>
              </a:lnSpc>
              <a:buNone/>
            </a:pPr>
            <a:r>
              <a:rPr lang="en-US" sz="1150" dirty="0">
                <a:solidFill>
                  <a:srgbClr val="C2541B"/>
                </a:solidFill>
              </a:rPr>
              <a:t>outcome 1, and nearly a write-up</a:t>
            </a:r>
            <a:endParaRPr lang="en-US" sz="1150" dirty="0"/>
          </a:p>
        </p:txBody>
      </p:sp>
      <p:sp>
        <p:nvSpPr>
          <p:cNvPr id="25" name="broke-3"/>
          <p:cNvSpPr/>
          <p:nvPr/>
        </p:nvSpPr>
        <p:spPr>
          <a:xfrm>
            <a:off x="566928" y="4608576"/>
            <a:ext cx="11057839" cy="932688"/>
          </a:xfrm>
          <a:prstGeom prst="roundRect">
            <a:avLst>
              <a:gd name="adj" fmla="val 7843"/>
            </a:avLst>
          </a:prstGeom>
          <a:solidFill>
            <a:srgbClr val="EEF1F4"/>
          </a:solidFill>
          <a:ln w="12700">
            <a:solidFill>
              <a:srgbClr val="EEF1F4"/>
            </a:solidFill>
            <a:prstDash val="solid"/>
          </a:ln>
        </p:spPr>
      </p:sp>
      <p:sp>
        <p:nvSpPr>
          <p:cNvPr id="26" name="badge-4"/>
          <p:cNvSpPr/>
          <p:nvPr/>
        </p:nvSpPr>
        <p:spPr>
          <a:xfrm>
            <a:off x="841248" y="4882896"/>
            <a:ext cx="384048" cy="384048"/>
          </a:xfrm>
          <a:prstGeom prst="ellipse">
            <a:avLst/>
          </a:prstGeom>
          <a:solidFill>
            <a:srgbClr val="C2541B"/>
          </a:solidFill>
          <a:ln w="12700">
            <a:solidFill>
              <a:srgbClr val="C2541B"/>
            </a:solidFill>
            <a:prstDash val="solid"/>
          </a:ln>
        </p:spPr>
      </p:sp>
      <p:sp>
        <p:nvSpPr>
          <p:cNvPr id="27" name="Text 25"/>
          <p:cNvSpPr txBox="1"/>
          <p:nvPr/>
        </p:nvSpPr>
        <p:spPr>
          <a:xfrm>
            <a:off x="841248" y="48828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8" name="Text 26"/>
          <p:cNvSpPr txBox="1"/>
          <p:nvPr/>
        </p:nvSpPr>
        <p:spPr>
          <a:xfrm>
            <a:off x="1444752" y="4736592"/>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gate was not honoured</a:t>
            </a:r>
            <a:endParaRPr lang="en-US" sz="1450" dirty="0"/>
          </a:p>
        </p:txBody>
      </p:sp>
      <p:sp>
        <p:nvSpPr>
          <p:cNvPr id="29" name="Text 27"/>
          <p:cNvSpPr txBox="1"/>
          <p:nvPr/>
        </p:nvSpPr>
        <p:spPr>
          <a:xfrm>
            <a:off x="1444752" y="5065776"/>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37 successful attacks against a minimum of 40, with 20 of them in the held-out half.</a:t>
            </a:r>
            <a:endParaRPr lang="en-US" sz="1150" dirty="0"/>
          </a:p>
        </p:txBody>
      </p:sp>
      <p:sp>
        <p:nvSpPr>
          <p:cNvPr id="30" name="Text 28"/>
          <p:cNvSpPr txBox="1"/>
          <p:nvPr/>
        </p:nvSpPr>
        <p:spPr>
          <a:xfrm>
            <a:off x="8156448" y="4754880"/>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31" name="Text 29"/>
          <p:cNvSpPr txBox="1"/>
          <p:nvPr/>
        </p:nvSpPr>
        <p:spPr>
          <a:xfrm>
            <a:off x="8156448" y="4992624"/>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every interval in the deck:</a:t>
            </a:r>
            <a:endParaRPr lang="en-US" sz="1150" dirty="0"/>
          </a:p>
          <a:p>
            <a:pPr indent="0" marL="0">
              <a:lnSpc>
                <a:spcPct val="118000"/>
              </a:lnSpc>
              <a:buNone/>
            </a:pPr>
            <a:r>
              <a:rPr lang="en-US" sz="1150" dirty="0">
                <a:solidFill>
                  <a:srgbClr val="C2541B"/>
                </a:solidFill>
              </a:rPr>
              <a:t>alpha 2 is [0.44, 0.71]</a:t>
            </a:r>
            <a:endParaRPr lang="en-US" sz="1150" dirty="0"/>
          </a:p>
        </p:txBody>
      </p:sp>
      <p:sp>
        <p:nvSpPr>
          <p:cNvPr id="32" name="smaller"/>
          <p:cNvSpPr/>
          <p:nvPr/>
        </p:nvSpPr>
        <p:spPr>
          <a:xfrm>
            <a:off x="566928" y="5669280"/>
            <a:ext cx="11057839" cy="566928"/>
          </a:xfrm>
          <a:prstGeom prst="roundRect">
            <a:avLst>
              <a:gd name="adj" fmla="val 12903"/>
            </a:avLst>
          </a:prstGeom>
          <a:solidFill>
            <a:srgbClr val="15202B"/>
          </a:solidFill>
          <a:ln w="12700">
            <a:solidFill>
              <a:srgbClr val="15202B"/>
            </a:solidFill>
            <a:prstDash val="solid"/>
          </a:ln>
        </p:spPr>
      </p:sp>
      <p:sp>
        <p:nvSpPr>
          <p:cNvPr id="33" name="Text 31"/>
          <p:cNvSpPr txBox="1"/>
          <p:nvPr/>
        </p:nvSpPr>
        <p:spPr>
          <a:xfrm>
            <a:off x="877824" y="5669280"/>
            <a:ext cx="10436047" cy="566928"/>
          </a:xfrm>
          <a:prstGeom prst="rect">
            <a:avLst/>
          </a:prstGeom>
          <a:noFill/>
          <a:ln/>
        </p:spPr>
        <p:txBody>
          <a:bodyPr wrap="square" lIns="0" tIns="0" rIns="0" bIns="0" rtlCol="0" anchor="ctr"/>
          <a:lstStyle/>
          <a:p>
            <a:pPr indent="0" marL="0">
              <a:buNone/>
            </a:pPr>
            <a:r>
              <a:rPr lang="en-US" sz="1100" dirty="0">
                <a:solidFill>
                  <a:srgbClr val="9DADBC"/>
                </a:solidFill>
              </a:rPr>
              <a:t>Smaller:  </a:t>
            </a:r>
            <a:pPr indent="0" marL="0">
              <a:buNone/>
            </a:pPr>
            <a:r>
              <a:rPr lang="en-US" sz="1100" dirty="0">
                <a:solidFill>
                  <a:srgbClr val="E7ECF1"/>
                </a:solidFill>
              </a:rPr>
              <a:t>the probe trained on 37 attacked rows while 35 clean ones sat in the same file, and the monitor ran on the sandbagger's own weights with only its mean honest suspicion saved, so the monitor gate was never scored.</a:t>
            </a:r>
            <a:endParaRPr lang="en-US" sz="11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WHAT WE CAN IMPROVE</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Eleven fixes, seven of them free</a:t>
            </a:r>
            <a:endParaRPr lang="en-US" sz="2800" dirty="0"/>
          </a:p>
        </p:txBody>
      </p:sp>
      <p:sp>
        <p:nvSpPr>
          <p:cNvPr id="4" name="free"/>
          <p:cNvSpPr/>
          <p:nvPr/>
        </p:nvSpPr>
        <p:spPr>
          <a:xfrm>
            <a:off x="566928" y="1481328"/>
            <a:ext cx="5385816" cy="4242816"/>
          </a:xfrm>
          <a:prstGeom prst="roundRect">
            <a:avLst>
              <a:gd name="adj" fmla="val 1724"/>
            </a:avLst>
          </a:prstGeom>
          <a:solidFill>
            <a:srgbClr val="EEF1F4"/>
          </a:solidFill>
          <a:ln w="12700">
            <a:solidFill>
              <a:srgbClr val="EEF1F4"/>
            </a:solidFill>
            <a:prstDash val="solid"/>
          </a:ln>
        </p:spPr>
      </p:sp>
      <p:sp>
        <p:nvSpPr>
          <p:cNvPr id="5" name="Text 3"/>
          <p:cNvSpPr txBox="1"/>
          <p:nvPr/>
        </p:nvSpPr>
        <p:spPr>
          <a:xfrm>
            <a:off x="841248" y="1664208"/>
            <a:ext cx="4846320" cy="256032"/>
          </a:xfrm>
          <a:prstGeom prst="rect">
            <a:avLst/>
          </a:prstGeom>
          <a:noFill/>
          <a:ln/>
        </p:spPr>
        <p:txBody>
          <a:bodyPr wrap="square" lIns="0" tIns="0" rIns="0" bIns="0" rtlCol="0" anchor="ctr"/>
          <a:lstStyle/>
          <a:p>
            <a:pPr indent="0" marL="0">
              <a:buNone/>
            </a:pPr>
            <a:r>
              <a:rPr lang="en-US" sz="1200" b="1" dirty="0">
                <a:solidFill>
                  <a:srgbClr val="6B7A88"/>
                </a:solidFill>
              </a:rPr>
              <a:t>No new generation. The run is on disk.</a:t>
            </a:r>
            <a:endParaRPr lang="en-US" sz="1200" dirty="0"/>
          </a:p>
        </p:txBody>
      </p:sp>
      <p:sp>
        <p:nvSpPr>
          <p:cNvPr id="6" name="Text 4"/>
          <p:cNvSpPr txBox="1"/>
          <p:nvPr/>
        </p:nvSpPr>
        <p:spPr>
          <a:xfrm>
            <a:off x="841248" y="2048256"/>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1</a:t>
            </a:r>
            <a:endParaRPr lang="en-US" sz="1100" dirty="0"/>
          </a:p>
        </p:txBody>
      </p:sp>
      <p:sp>
        <p:nvSpPr>
          <p:cNvPr id="7" name="Text 5"/>
          <p:cNvSpPr txBox="1"/>
          <p:nvPr/>
        </p:nvSpPr>
        <p:spPr>
          <a:xfrm>
            <a:off x="1170432" y="2029968"/>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Make the within-prompt AUROC the headline, and choose the layer and pooling by it.</a:t>
            </a:r>
            <a:endParaRPr lang="en-US" sz="1100" dirty="0"/>
          </a:p>
        </p:txBody>
      </p:sp>
      <p:sp>
        <p:nvSpPr>
          <p:cNvPr id="8" name="Text 6"/>
          <p:cNvSpPr txBox="1"/>
          <p:nvPr/>
        </p:nvSpPr>
        <p:spPr>
          <a:xfrm>
            <a:off x="841248" y="2560320"/>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2</a:t>
            </a:r>
            <a:endParaRPr lang="en-US" sz="1100" dirty="0"/>
          </a:p>
        </p:txBody>
      </p:sp>
      <p:sp>
        <p:nvSpPr>
          <p:cNvPr id="9" name="Text 7"/>
          <p:cNvSpPr txBox="1"/>
          <p:nvPr/>
        </p:nvSpPr>
        <p:spPr>
          <a:xfrm>
            <a:off x="1170432" y="2542032"/>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Add a two-sided AUROC on distance from the honest median, plus TPR at a fixed FPR.</a:t>
            </a:r>
            <a:endParaRPr lang="en-US" sz="1100" dirty="0"/>
          </a:p>
        </p:txBody>
      </p:sp>
      <p:sp>
        <p:nvSpPr>
          <p:cNvPr id="10" name="Text 8"/>
          <p:cNvSpPr txBox="1"/>
          <p:nvPr/>
        </p:nvSpPr>
        <p:spPr>
          <a:xfrm>
            <a:off x="841248" y="3072384"/>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3</a:t>
            </a:r>
            <a:endParaRPr lang="en-US" sz="1100" dirty="0"/>
          </a:p>
        </p:txBody>
      </p:sp>
      <p:sp>
        <p:nvSpPr>
          <p:cNvPr id="11" name="Text 9"/>
          <p:cNvSpPr txBox="1"/>
          <p:nvPr/>
        </p:nvSpPr>
        <p:spPr>
          <a:xfrm>
            <a:off x="1170432" y="3054096"/>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Add a residual column, realised minus predicted. Under 2% here, and it would have saved the sweep.</a:t>
            </a:r>
            <a:endParaRPr lang="en-US" sz="1100" dirty="0"/>
          </a:p>
        </p:txBody>
      </p:sp>
      <p:sp>
        <p:nvSpPr>
          <p:cNvPr id="12" name="Text 10"/>
          <p:cNvSpPr txBox="1"/>
          <p:nvPr/>
        </p:nvSpPr>
        <p:spPr>
          <a:xfrm>
            <a:off x="841248" y="3584448"/>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4</a:t>
            </a:r>
            <a:endParaRPr lang="en-US" sz="1100" dirty="0"/>
          </a:p>
        </p:txBody>
      </p:sp>
      <p:sp>
        <p:nvSpPr>
          <p:cNvPr id="13" name="Text 11"/>
          <p:cNvSpPr txBox="1"/>
          <p:nvPr/>
        </p:nvSpPr>
        <p:spPr>
          <a:xfrm>
            <a:off x="1170432" y="3566160"/>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Add the flip-set Jaccard against alpha 0.</a:t>
            </a:r>
            <a:endParaRPr lang="en-US" sz="1100" dirty="0"/>
          </a:p>
        </p:txBody>
      </p:sp>
      <p:sp>
        <p:nvSpPr>
          <p:cNvPr id="14" name="Text 12"/>
          <p:cNvSpPr txBox="1"/>
          <p:nvPr/>
        </p:nvSpPr>
        <p:spPr>
          <a:xfrm>
            <a:off x="841248" y="4096512"/>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5</a:t>
            </a:r>
            <a:endParaRPr lang="en-US" sz="1100" dirty="0"/>
          </a:p>
        </p:txBody>
      </p:sp>
      <p:sp>
        <p:nvSpPr>
          <p:cNvPr id="15" name="Text 13"/>
          <p:cNvSpPr txBox="1"/>
          <p:nvPr/>
        </p:nvSpPr>
        <p:spPr>
          <a:xfrm>
            <a:off x="1170432" y="4078224"/>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Report the defender's number: the minimum over alpha of the strongest two-sided AUROC.</a:t>
            </a:r>
            <a:endParaRPr lang="en-US" sz="1100" dirty="0"/>
          </a:p>
        </p:txBody>
      </p:sp>
      <p:sp>
        <p:nvSpPr>
          <p:cNvPr id="16" name="Text 14"/>
          <p:cNvSpPr txBox="1"/>
          <p:nvPr/>
        </p:nvSpPr>
        <p:spPr>
          <a:xfrm>
            <a:off x="841248" y="4608576"/>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6</a:t>
            </a:r>
            <a:endParaRPr lang="en-US" sz="1100" dirty="0"/>
          </a:p>
        </p:txBody>
      </p:sp>
      <p:sp>
        <p:nvSpPr>
          <p:cNvPr id="17" name="Text 15"/>
          <p:cNvSpPr txBox="1"/>
          <p:nvPr/>
        </p:nvSpPr>
        <p:spPr>
          <a:xfrm>
            <a:off x="1170432" y="4590288"/>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Refit the probe on the 35 clean attacks.</a:t>
            </a:r>
            <a:endParaRPr lang="en-US" sz="1100" dirty="0"/>
          </a:p>
        </p:txBody>
      </p:sp>
      <p:sp>
        <p:nvSpPr>
          <p:cNvPr id="18" name="Text 16"/>
          <p:cNvSpPr txBox="1"/>
          <p:nvPr/>
        </p:nvSpPr>
        <p:spPr>
          <a:xfrm>
            <a:off x="841248" y="5120640"/>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7</a:t>
            </a:r>
            <a:endParaRPr lang="en-US" sz="1100" dirty="0"/>
          </a:p>
        </p:txBody>
      </p:sp>
      <p:sp>
        <p:nvSpPr>
          <p:cNvPr id="19" name="Text 17"/>
          <p:cNvSpPr txBox="1"/>
          <p:nvPr/>
        </p:nvSpPr>
        <p:spPr>
          <a:xfrm>
            <a:off x="1170432" y="5102352"/>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Put a confidence interval on every AUROC.</a:t>
            </a:r>
            <a:endParaRPr lang="en-US" sz="1100" dirty="0"/>
          </a:p>
        </p:txBody>
      </p:sp>
      <p:sp>
        <p:nvSpPr>
          <p:cNvPr id="20" name="rerun"/>
          <p:cNvSpPr/>
          <p:nvPr/>
        </p:nvSpPr>
        <p:spPr>
          <a:xfrm>
            <a:off x="6236208" y="1481328"/>
            <a:ext cx="5385816" cy="4242816"/>
          </a:xfrm>
          <a:prstGeom prst="roundRect">
            <a:avLst>
              <a:gd name="adj" fmla="val 1724"/>
            </a:avLst>
          </a:prstGeom>
          <a:solidFill>
            <a:srgbClr val="15202B"/>
          </a:solidFill>
          <a:ln w="12700">
            <a:solidFill>
              <a:srgbClr val="15202B"/>
            </a:solidFill>
            <a:prstDash val="solid"/>
          </a:ln>
        </p:spPr>
      </p:sp>
      <p:sp>
        <p:nvSpPr>
          <p:cNvPr id="21" name="Text 19"/>
          <p:cNvSpPr txBox="1"/>
          <p:nvPr/>
        </p:nvSpPr>
        <p:spPr>
          <a:xfrm>
            <a:off x="6510528" y="1664208"/>
            <a:ext cx="4846320" cy="256032"/>
          </a:xfrm>
          <a:prstGeom prst="rect">
            <a:avLst/>
          </a:prstGeom>
          <a:noFill/>
          <a:ln/>
        </p:spPr>
        <p:txBody>
          <a:bodyPr wrap="square" lIns="0" tIns="0" rIns="0" bIns="0" rtlCol="0" anchor="ctr"/>
          <a:lstStyle/>
          <a:p>
            <a:pPr indent="0" marL="0">
              <a:buNone/>
            </a:pPr>
            <a:r>
              <a:rPr lang="en-US" sz="1200" b="1" dirty="0">
                <a:solidFill>
                  <a:srgbClr val="9DADBC"/>
                </a:solidFill>
              </a:rPr>
              <a:t>Needs a re-run</a:t>
            </a:r>
            <a:endParaRPr lang="en-US" sz="1200" dirty="0"/>
          </a:p>
        </p:txBody>
      </p:sp>
      <p:sp>
        <p:nvSpPr>
          <p:cNvPr id="22" name="Text 20"/>
          <p:cNvSpPr txBox="1"/>
          <p:nvPr/>
        </p:nvSpPr>
        <p:spPr>
          <a:xfrm>
            <a:off x="6510528" y="2048256"/>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Fix the grid first</a:t>
            </a:r>
            <a:endParaRPr lang="en-US" sz="1300" dirty="0"/>
          </a:p>
        </p:txBody>
      </p:sp>
      <p:sp>
        <p:nvSpPr>
          <p:cNvPr id="23" name="Text 21"/>
          <p:cNvSpPr txBox="1"/>
          <p:nvPr/>
        </p:nvSpPr>
        <p:spPr>
          <a:xfrm>
            <a:off x="6510528" y="2322576"/>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Compute the informative window from the fitted probe and assert the grid overlaps it: roughly 0, 1.0, 1.5, 2.0, 2.5, 3.0.</a:t>
            </a:r>
            <a:endParaRPr lang="en-US" sz="1100" dirty="0"/>
          </a:p>
        </p:txBody>
      </p:sp>
      <p:sp>
        <p:nvSpPr>
          <p:cNvPr id="24" name="Text 22"/>
          <p:cNvSpPr txBox="1"/>
          <p:nvPr/>
        </p:nvSpPr>
        <p:spPr>
          <a:xfrm>
            <a:off x="6510528" y="2944368"/>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Keep the monitor's rows</a:t>
            </a:r>
            <a:endParaRPr lang="en-US" sz="1300" dirty="0"/>
          </a:p>
        </p:txBody>
      </p:sp>
      <p:sp>
        <p:nvSpPr>
          <p:cNvPr id="25" name="Text 23"/>
          <p:cNvSpPr txBox="1"/>
          <p:nvPr/>
        </p:nvSpPr>
        <p:spPr>
          <a:xfrm>
            <a:off x="6510528" y="3218688"/>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We saved only the mean honest suspicion, so no monitor AUROC and no interval can be recovered from this run.</a:t>
            </a:r>
            <a:endParaRPr lang="en-US" sz="1100" dirty="0"/>
          </a:p>
        </p:txBody>
      </p:sp>
      <p:sp>
        <p:nvSpPr>
          <p:cNvPr id="26" name="Text 24"/>
          <p:cNvSpPr txBox="1"/>
          <p:nvPr/>
        </p:nvSpPr>
        <p:spPr>
          <a:xfrm>
            <a:off x="6510528" y="3840480"/>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Give the monitor its own weights</a:t>
            </a:r>
            <a:endParaRPr lang="en-US" sz="1300" dirty="0"/>
          </a:p>
        </p:txBody>
      </p:sp>
      <p:sp>
        <p:nvSpPr>
          <p:cNvPr id="27" name="Text 25"/>
          <p:cNvSpPr txBox="1"/>
          <p:nvPr/>
        </p:nvSpPr>
        <p:spPr>
          <a:xfrm>
            <a:off x="6510528" y="4114800"/>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Ours defaulted to the attacker's, which bounds visibility to a reader of equal capability rather than a trusted one.</a:t>
            </a:r>
            <a:endParaRPr lang="en-US" sz="1100" dirty="0"/>
          </a:p>
        </p:txBody>
      </p:sp>
      <p:sp>
        <p:nvSpPr>
          <p:cNvPr id="28" name="Text 26"/>
          <p:cNvSpPr txBox="1"/>
          <p:nvPr/>
        </p:nvSpPr>
        <p:spPr>
          <a:xfrm>
            <a:off x="6510528" y="4736592"/>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Honour the gate</a:t>
            </a:r>
            <a:endParaRPr lang="en-US" sz="1300" dirty="0"/>
          </a:p>
        </p:txBody>
      </p:sp>
      <p:sp>
        <p:nvSpPr>
          <p:cNvPr id="29" name="Text 27"/>
          <p:cNvSpPr txBox="1"/>
          <p:nvPr/>
        </p:nvSpPr>
        <p:spPr>
          <a:xfrm>
            <a:off x="6510528" y="5010912"/>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800 problems at the observed 25.3% attack rate gives about 100 attacks and halves every interval in the deck.</a:t>
            </a:r>
            <a:endParaRPr lang="en-US" sz="1100" dirty="0"/>
          </a:p>
        </p:txBody>
      </p:sp>
      <p:sp>
        <p:nvSpPr>
          <p:cNvPr id="3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The seven on the left are re-reads of data already saved. The four on the right set the shape of the next run.</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WHERE TO GO NEXT</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Four experiments, cheapest first</a:t>
            </a:r>
            <a:endParaRPr lang="en-US" sz="2800" dirty="0"/>
          </a:p>
        </p:txBody>
      </p:sp>
      <p:sp>
        <p:nvSpPr>
          <p:cNvPr id="4" name="exp-0"/>
          <p:cNvSpPr/>
          <p:nvPr/>
        </p:nvSpPr>
        <p:spPr>
          <a:xfrm>
            <a:off x="566928" y="1481328"/>
            <a:ext cx="5385816" cy="1975104"/>
          </a:xfrm>
          <a:prstGeom prst="roundRect">
            <a:avLst>
              <a:gd name="adj" fmla="val 3704"/>
            </a:avLst>
          </a:prstGeom>
          <a:solidFill>
            <a:srgbClr val="EEF1F4"/>
          </a:solidFill>
          <a:ln w="12700">
            <a:solidFill>
              <a:srgbClr val="EEF1F4"/>
            </a:solidFill>
            <a:prstDash val="solid"/>
          </a:ln>
        </p:spPr>
      </p:sp>
      <p:sp>
        <p:nvSpPr>
          <p:cNvPr id="5" name="badge-1"/>
          <p:cNvSpPr/>
          <p:nvPr/>
        </p:nvSpPr>
        <p:spPr>
          <a:xfrm>
            <a:off x="822960" y="1719072"/>
            <a:ext cx="347472" cy="347472"/>
          </a:xfrm>
          <a:prstGeom prst="ellipse">
            <a:avLst/>
          </a:prstGeom>
          <a:solidFill>
            <a:srgbClr val="C2541B"/>
          </a:solidFill>
          <a:ln w="12700">
            <a:solidFill>
              <a:srgbClr val="C2541B"/>
            </a:solidFill>
            <a:prstDash val="solid"/>
          </a:ln>
        </p:spPr>
      </p:sp>
      <p:sp>
        <p:nvSpPr>
          <p:cNvPr id="6" name="Text 4"/>
          <p:cNvSpPr txBox="1"/>
          <p:nvPr/>
        </p:nvSpPr>
        <p:spPr>
          <a:xfrm>
            <a:off x="822960" y="17190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280160" y="1682496"/>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Ask whether the direction is causal at all</a:t>
            </a:r>
            <a:endParaRPr lang="en-US" sz="1500" dirty="0"/>
          </a:p>
        </p:txBody>
      </p:sp>
      <p:sp>
        <p:nvSpPr>
          <p:cNvPr id="8" name="Text 6"/>
          <p:cNvSpPr txBox="1"/>
          <p:nvPr/>
        </p:nvSpPr>
        <p:spPr>
          <a:xfrm>
            <a:off x="822960" y="2212848"/>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Project it out of the residual stream during generation instead of steering along it, and measure the attack rate. One pass over the held-out half, no grid. If sabotage survives with the direction removed, there is no tax to look for here.</a:t>
            </a:r>
            <a:endParaRPr lang="en-US" sz="1200" dirty="0"/>
          </a:p>
        </p:txBody>
      </p:sp>
      <p:sp>
        <p:nvSpPr>
          <p:cNvPr id="9" name="Text 7"/>
          <p:cNvSpPr txBox="1"/>
          <p:nvPr/>
        </p:nvSpPr>
        <p:spPr>
          <a:xfrm>
            <a:off x="822960" y="3127248"/>
            <a:ext cx="4873752" cy="256032"/>
          </a:xfrm>
          <a:prstGeom prst="rect">
            <a:avLst/>
          </a:prstGeom>
          <a:noFill/>
          <a:ln/>
        </p:spPr>
        <p:txBody>
          <a:bodyPr wrap="square" lIns="0" tIns="0" rIns="0" bIns="0" rtlCol="0" anchor="ctr"/>
          <a:lstStyle/>
          <a:p>
            <a:pPr indent="0" marL="0">
              <a:buNone/>
            </a:pPr>
            <a:r>
              <a:rPr lang="en-US" sz="1100" i="1" dirty="0">
                <a:solidFill>
                  <a:srgbClr val="C2541B"/>
                </a:solidFill>
              </a:rPr>
              <a:t>hooks.Project · already written and tested</a:t>
            </a:r>
            <a:endParaRPr lang="en-US" sz="1100" dirty="0"/>
          </a:p>
        </p:txBody>
      </p:sp>
      <p:sp>
        <p:nvSpPr>
          <p:cNvPr id="10" name="exp-1"/>
          <p:cNvSpPr/>
          <p:nvPr/>
        </p:nvSpPr>
        <p:spPr>
          <a:xfrm>
            <a:off x="6236208" y="1481328"/>
            <a:ext cx="5385816" cy="1975104"/>
          </a:xfrm>
          <a:prstGeom prst="roundRect">
            <a:avLst>
              <a:gd name="adj" fmla="val 3704"/>
            </a:avLst>
          </a:prstGeom>
          <a:solidFill>
            <a:srgbClr val="EEF1F4"/>
          </a:solidFill>
          <a:ln w="12700">
            <a:solidFill>
              <a:srgbClr val="EEF1F4"/>
            </a:solidFill>
            <a:prstDash val="solid"/>
          </a:ln>
        </p:spPr>
      </p:sp>
      <p:sp>
        <p:nvSpPr>
          <p:cNvPr id="11" name="badge-2"/>
          <p:cNvSpPr/>
          <p:nvPr/>
        </p:nvSpPr>
        <p:spPr>
          <a:xfrm>
            <a:off x="6492240" y="1719072"/>
            <a:ext cx="347472" cy="347472"/>
          </a:xfrm>
          <a:prstGeom prst="ellipse">
            <a:avLst/>
          </a:prstGeom>
          <a:solidFill>
            <a:srgbClr val="2E6E8E"/>
          </a:solidFill>
          <a:ln w="12700">
            <a:solidFill>
              <a:srgbClr val="2E6E8E"/>
            </a:solidFill>
            <a:prstDash val="solid"/>
          </a:ln>
        </p:spPr>
      </p:sp>
      <p:sp>
        <p:nvSpPr>
          <p:cNvPr id="12" name="Text 10"/>
          <p:cNvSpPr txBox="1"/>
          <p:nvPr/>
        </p:nvSpPr>
        <p:spPr>
          <a:xfrm>
            <a:off x="6492240" y="17190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1"/>
          <p:cNvSpPr txBox="1"/>
          <p:nvPr/>
        </p:nvSpPr>
        <p:spPr>
          <a:xfrm>
            <a:off x="6949440" y="1682496"/>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Target the honest distribution</a:t>
            </a:r>
            <a:endParaRPr lang="en-US" sz="1500" dirty="0"/>
          </a:p>
        </p:txBody>
      </p:sp>
      <p:sp>
        <p:nvSpPr>
          <p:cNvPr id="14" name="Text 12"/>
          <p:cNvSpPr txBox="1"/>
          <p:nvPr/>
        </p:nvSpPr>
        <p:spPr>
          <a:xfrm>
            <a:off x="6492240" y="2212848"/>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A blind alpha overshoots. Pick alpha per example so the score lands on the honest median, or project rather than negate. About twenty lines with the hooks already in place.</a:t>
            </a:r>
            <a:endParaRPr lang="en-US" sz="1200" dirty="0"/>
          </a:p>
        </p:txBody>
      </p:sp>
      <p:sp>
        <p:nvSpPr>
          <p:cNvPr id="15" name="Text 13"/>
          <p:cNvSpPr txBox="1"/>
          <p:nvPr/>
        </p:nvSpPr>
        <p:spPr>
          <a:xfrm>
            <a:off x="6492240" y="3127248"/>
            <a:ext cx="4873752" cy="256032"/>
          </a:xfrm>
          <a:prstGeom prst="rect">
            <a:avLst/>
          </a:prstGeom>
          <a:noFill/>
          <a:ln/>
        </p:spPr>
        <p:txBody>
          <a:bodyPr wrap="square" lIns="0" tIns="0" rIns="0" bIns="0" rtlCol="0" anchor="ctr"/>
          <a:lstStyle/>
          <a:p>
            <a:pPr indent="0" marL="0">
              <a:buNone/>
            </a:pPr>
            <a:r>
              <a:rPr lang="en-US" sz="1100" i="1" dirty="0">
                <a:solidFill>
                  <a:srgbClr val="2E6E8E"/>
                </a:solidFill>
              </a:rPr>
              <a:t>the attacker the literature actually studies</a:t>
            </a:r>
            <a:endParaRPr lang="en-US" sz="1100" dirty="0"/>
          </a:p>
        </p:txBody>
      </p:sp>
      <p:sp>
        <p:nvSpPr>
          <p:cNvPr id="16" name="exp-2"/>
          <p:cNvSpPr/>
          <p:nvPr/>
        </p:nvSpPr>
        <p:spPr>
          <a:xfrm>
            <a:off x="566928" y="3694176"/>
            <a:ext cx="5385816" cy="1975104"/>
          </a:xfrm>
          <a:prstGeom prst="roundRect">
            <a:avLst>
              <a:gd name="adj" fmla="val 3704"/>
            </a:avLst>
          </a:prstGeom>
          <a:solidFill>
            <a:srgbClr val="EEF1F4"/>
          </a:solidFill>
          <a:ln w="12700">
            <a:solidFill>
              <a:srgbClr val="EEF1F4"/>
            </a:solidFill>
            <a:prstDash val="solid"/>
          </a:ln>
        </p:spPr>
      </p:sp>
      <p:sp>
        <p:nvSpPr>
          <p:cNvPr id="17" name="badge-3"/>
          <p:cNvSpPr/>
          <p:nvPr/>
        </p:nvSpPr>
        <p:spPr>
          <a:xfrm>
            <a:off x="822960" y="3931920"/>
            <a:ext cx="347472" cy="347472"/>
          </a:xfrm>
          <a:prstGeom prst="ellipse">
            <a:avLst/>
          </a:prstGeom>
          <a:solidFill>
            <a:srgbClr val="2E6E8E"/>
          </a:solidFill>
          <a:ln w="12700">
            <a:solidFill>
              <a:srgbClr val="2E6E8E"/>
            </a:solidFill>
            <a:prstDash val="solid"/>
          </a:ln>
        </p:spPr>
      </p:sp>
      <p:sp>
        <p:nvSpPr>
          <p:cNvPr id="18" name="Text 16"/>
          <p:cNvSpPr txBox="1"/>
          <p:nvPr/>
        </p:nvSpPr>
        <p:spPr>
          <a:xfrm>
            <a:off x="822960" y="39319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1280160" y="3895344"/>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Take the instruction out of the context</a:t>
            </a:r>
            <a:endParaRPr lang="en-US" sz="1500" dirty="0"/>
          </a:p>
        </p:txBody>
      </p:sp>
      <p:sp>
        <p:nvSpPr>
          <p:cNvPr id="20" name="Text 18"/>
          <p:cNvSpPr txBox="1"/>
          <p:nvPr/>
        </p:nvSpPr>
        <p:spPr>
          <a:xfrm>
            <a:off x="822960" y="4425696"/>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Hand the policy over as k in-context demonstrations with no instruction anywhere, and the label becomes a property of the rollout rather than of the prompt.</a:t>
            </a:r>
            <a:endParaRPr lang="en-US" sz="1200" dirty="0"/>
          </a:p>
        </p:txBody>
      </p:sp>
      <p:sp>
        <p:nvSpPr>
          <p:cNvPr id="21" name="Text 19"/>
          <p:cNvSpPr txBox="1"/>
          <p:nvPr/>
        </p:nvSpPr>
        <p:spPr>
          <a:xfrm>
            <a:off x="822960" y="5340096"/>
            <a:ext cx="4873752" cy="256032"/>
          </a:xfrm>
          <a:prstGeom prst="rect">
            <a:avLst/>
          </a:prstGeom>
          <a:noFill/>
          <a:ln/>
        </p:spPr>
        <p:txBody>
          <a:bodyPr wrap="square" lIns="0" tIns="0" rIns="0" bIns="0" rtlCol="0" anchor="ctr"/>
          <a:lstStyle/>
          <a:p>
            <a:pPr indent="0" marL="0">
              <a:buNone/>
            </a:pPr>
            <a:r>
              <a:rPr lang="en-US" sz="1100" i="1" dirty="0">
                <a:solidFill>
                  <a:srgbClr val="2E6E8E"/>
                </a:solidFill>
              </a:rPr>
              <a:t>the only route back to the original question</a:t>
            </a:r>
            <a:endParaRPr lang="en-US" sz="1100" dirty="0"/>
          </a:p>
        </p:txBody>
      </p:sp>
      <p:sp>
        <p:nvSpPr>
          <p:cNvPr id="22" name="exp-3"/>
          <p:cNvSpPr/>
          <p:nvPr/>
        </p:nvSpPr>
        <p:spPr>
          <a:xfrm>
            <a:off x="6236208" y="3694176"/>
            <a:ext cx="5385816" cy="1975104"/>
          </a:xfrm>
          <a:prstGeom prst="roundRect">
            <a:avLst>
              <a:gd name="adj" fmla="val 3704"/>
            </a:avLst>
          </a:prstGeom>
          <a:solidFill>
            <a:srgbClr val="EEF1F4"/>
          </a:solidFill>
          <a:ln w="12700">
            <a:solidFill>
              <a:srgbClr val="EEF1F4"/>
            </a:solidFill>
            <a:prstDash val="solid"/>
          </a:ln>
        </p:spPr>
      </p:sp>
      <p:sp>
        <p:nvSpPr>
          <p:cNvPr id="23" name="badge-4"/>
          <p:cNvSpPr/>
          <p:nvPr/>
        </p:nvSpPr>
        <p:spPr>
          <a:xfrm>
            <a:off x="6492240" y="3931920"/>
            <a:ext cx="347472" cy="347472"/>
          </a:xfrm>
          <a:prstGeom prst="ellipse">
            <a:avLst/>
          </a:prstGeom>
          <a:solidFill>
            <a:srgbClr val="1A2230"/>
          </a:solidFill>
          <a:ln w="12700">
            <a:solidFill>
              <a:srgbClr val="1A2230"/>
            </a:solidFill>
            <a:prstDash val="solid"/>
          </a:ln>
        </p:spPr>
      </p:sp>
      <p:sp>
        <p:nvSpPr>
          <p:cNvPr id="24" name="Text 22"/>
          <p:cNvSpPr txBox="1"/>
          <p:nvPr/>
        </p:nvSpPr>
        <p:spPr>
          <a:xfrm>
            <a:off x="6492240" y="39319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5" name="Text 23"/>
          <p:cNvSpPr txBox="1"/>
          <p:nvPr/>
        </p:nvSpPr>
        <p:spPr>
          <a:xfrm>
            <a:off x="6949440" y="3895344"/>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Replace the hand-set dial with a trained attacker</a:t>
            </a:r>
            <a:endParaRPr lang="en-US" sz="1500" dirty="0"/>
          </a:p>
        </p:txBody>
      </p:sp>
      <p:sp>
        <p:nvSpPr>
          <p:cNvPr id="26" name="Text 24"/>
          <p:cNvSpPr txBox="1"/>
          <p:nvPr/>
        </p:nvSpPr>
        <p:spPr>
          <a:xfrm>
            <a:off x="6492240" y="4425696"/>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One scalar on one direction is the weakest adversary available, and a defence result against it says little. RL-Obfuscation is the comparison.</a:t>
            </a:r>
            <a:endParaRPr lang="en-US" sz="1200" dirty="0"/>
          </a:p>
        </p:txBody>
      </p:sp>
      <p:sp>
        <p:nvSpPr>
          <p:cNvPr id="27" name="Text 25"/>
          <p:cNvSpPr txBox="1"/>
          <p:nvPr/>
        </p:nvSpPr>
        <p:spPr>
          <a:xfrm>
            <a:off x="6492240" y="5340096"/>
            <a:ext cx="4873752" cy="256032"/>
          </a:xfrm>
          <a:prstGeom prst="rect">
            <a:avLst/>
          </a:prstGeom>
          <a:noFill/>
          <a:ln/>
        </p:spPr>
        <p:txBody>
          <a:bodyPr wrap="square" lIns="0" tIns="0" rIns="0" bIns="0" rtlCol="0" anchor="ctr"/>
          <a:lstStyle/>
          <a:p>
            <a:pPr indent="0" marL="0">
              <a:buNone/>
            </a:pPr>
            <a:r>
              <a:rPr lang="en-US" sz="1100" i="1" dirty="0">
                <a:solidFill>
                  <a:srgbClr val="1A2230"/>
                </a:solidFill>
              </a:rPr>
              <a:t>a project rather than a run</a:t>
            </a:r>
            <a:endParaRPr lang="en-US" sz="1100" dirty="0"/>
          </a:p>
        </p:txBody>
      </p:sp>
      <p:sp>
        <p:nvSpPr>
          <p:cNvPr id="2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A change of substrate also helps: obfuscation_tax_refusal.ipynb puts both labels under one prompt on AdvBench and HarmBench.</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66928" y="93268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WHAT THE RUN STILL SUPPORTS</a:t>
            </a:r>
            <a:endParaRPr lang="en-US" sz="1200" dirty="0"/>
          </a:p>
        </p:txBody>
      </p:sp>
      <p:sp>
        <p:nvSpPr>
          <p:cNvPr id="3" name="Text 0"/>
          <p:cNvSpPr/>
          <p:nvPr>
            <p:ph idx="100" type="title" hasCustomPrompt="1"/>
          </p:nvPr>
        </p:nvSpPr>
        <p:spPr>
          <a:xfrm>
            <a:off x="566928" y="1335024"/>
            <a:ext cx="11057839" cy="932688"/>
          </a:xfrm>
          <a:prstGeom prst="rect">
            <a:avLst/>
          </a:prstGeom>
          <a:noFill/>
          <a:ln/>
        </p:spPr>
        <p:txBody>
          <a:bodyPr wrap="square" rtlCol="0" anchor="t"/>
          <a:lstStyle/>
          <a:p>
            <a:pPr indent="0" marL="0">
              <a:buNone/>
            </a:pPr>
            <a:r>
              <a:rPr lang="en-US" sz="5400" dirty="0">
                <a:solidFill>
                  <a:srgbClr val="FFFFFF"/>
                </a:solidFill>
                <a:latin typeface="Cambria" pitchFamily="34" charset="0"/>
                <a:ea typeface="Cambria" pitchFamily="34" charset="-122"/>
                <a:cs typeface="Cambria" pitchFamily="34" charset="-120"/>
              </a:rPr>
              <a:t>Naive steering does not evade</a:t>
            </a:r>
            <a:endParaRPr lang="en-US" sz="5400" dirty="0"/>
          </a:p>
        </p:txBody>
      </p:sp>
      <p:sp>
        <p:nvSpPr>
          <p:cNvPr id="4" name="Text 2"/>
          <p:cNvSpPr txBox="1"/>
          <p:nvPr/>
        </p:nvSpPr>
        <p:spPr>
          <a:xfrm>
            <a:off x="566928" y="2487168"/>
            <a:ext cx="9875520" cy="822960"/>
          </a:xfrm>
          <a:prstGeom prst="rect">
            <a:avLst/>
          </a:prstGeom>
          <a:noFill/>
          <a:ln/>
        </p:spPr>
        <p:txBody>
          <a:bodyPr wrap="square" lIns="0" tIns="0" rIns="0" bIns="0" rtlCol="0" anchor="ctr"/>
          <a:lstStyle/>
          <a:p>
            <a:pPr indent="0" marL="0">
              <a:lnSpc>
                <a:spcPct val="120000"/>
              </a:lnSpc>
              <a:buNone/>
            </a:pPr>
            <a:r>
              <a:rPr lang="en-US" sz="1800" dirty="0">
                <a:solidFill>
                  <a:srgbClr val="E7ECF1"/>
                </a:solidFill>
              </a:rPr>
              <a:t>It overshoots into a region a two-sided threshold catches, it fails to transfer one layer, and the sabotage that survives is a different sabotage.</a:t>
            </a:r>
            <a:endParaRPr lang="en-US" sz="1800" dirty="0"/>
          </a:p>
        </p:txBody>
      </p:sp>
      <p:sp>
        <p:nvSpPr>
          <p:cNvPr id="5" name="mirror"/>
          <p:cNvSpPr/>
          <p:nvPr/>
        </p:nvSpPr>
        <p:spPr>
          <a:xfrm>
            <a:off x="566928" y="3657600"/>
            <a:ext cx="11057839" cy="1042416"/>
          </a:xfrm>
          <a:prstGeom prst="roundRect">
            <a:avLst>
              <a:gd name="adj" fmla="val 7018"/>
            </a:avLst>
          </a:prstGeom>
          <a:solidFill>
            <a:srgbClr val="1E2A38"/>
          </a:solidFill>
          <a:ln w="12700">
            <a:solidFill>
              <a:srgbClr val="1E2A38"/>
            </a:solidFill>
            <a:prstDash val="solid"/>
          </a:ln>
        </p:spPr>
      </p:sp>
      <p:sp>
        <p:nvSpPr>
          <p:cNvPr id="6" name="Text 4"/>
          <p:cNvSpPr txBox="1"/>
          <p:nvPr/>
        </p:nvSpPr>
        <p:spPr>
          <a:xfrm>
            <a:off x="896112" y="3657600"/>
            <a:ext cx="10399471" cy="1042416"/>
          </a:xfrm>
          <a:prstGeom prst="rect">
            <a:avLst/>
          </a:prstGeom>
          <a:noFill/>
          <a:ln/>
        </p:spPr>
        <p:txBody>
          <a:bodyPr wrap="square" lIns="0" tIns="0" rIns="0" bIns="0" rtlCol="0" anchor="ctr"/>
          <a:lstStyle/>
          <a:p>
            <a:pPr indent="0" marL="0">
              <a:buNone/>
            </a:pPr>
            <a:r>
              <a:rPr lang="en-US" sz="1500" dirty="0">
                <a:solidFill>
                  <a:srgbClr val="9DADBC"/>
                </a:solidFill>
              </a:rPr>
              <a:t>The mirror image of the obfuscated-activations result:  </a:t>
            </a:r>
            <a:pPr indent="0" marL="0">
              <a:buNone/>
            </a:pPr>
            <a:r>
              <a:rPr lang="en-US" sz="1500" b="1" dirty="0">
                <a:solidFill>
                  <a:srgbClr val="FFFFFF"/>
                </a:solidFill>
              </a:rPr>
              <a:t>optimised attacks evade latent monitors, and the unoptimised one does not evade at all.</a:t>
            </a:r>
            <a:endParaRPr lang="en-US" sz="1500" dirty="0"/>
          </a:p>
        </p:txBody>
      </p:sp>
      <p:sp>
        <p:nvSpPr>
          <p:cNvPr id="7" name="close-mark"/>
          <p:cNvSpPr/>
          <p:nvPr/>
        </p:nvSpPr>
        <p:spPr>
          <a:xfrm>
            <a:off x="566928" y="5120640"/>
            <a:ext cx="1371600" cy="25603"/>
          </a:xfrm>
          <a:prstGeom prst="rect">
            <a:avLst/>
          </a:prstGeom>
          <a:solidFill>
            <a:srgbClr val="E8873F"/>
          </a:solidFill>
          <a:ln w="12700">
            <a:solidFill>
              <a:srgbClr val="E8873F"/>
            </a:solidFill>
            <a:prstDash val="solid"/>
          </a:ln>
        </p:spPr>
      </p:sp>
      <p:sp>
        <p:nvSpPr>
          <p:cNvPr id="8" name="Text 6"/>
          <p:cNvSpPr txBox="1"/>
          <p:nvPr/>
        </p:nvSpPr>
        <p:spPr>
          <a:xfrm>
            <a:off x="566928" y="5321808"/>
            <a:ext cx="10607040" cy="274320"/>
          </a:xfrm>
          <a:prstGeom prst="rect">
            <a:avLst/>
          </a:prstGeom>
          <a:noFill/>
          <a:ln/>
        </p:spPr>
        <p:txBody>
          <a:bodyPr wrap="square" lIns="0" tIns="0" rIns="0" bIns="0" rtlCol="0" anchor="ctr"/>
          <a:lstStyle/>
          <a:p>
            <a:pPr indent="0" marL="0">
              <a:buNone/>
            </a:pPr>
            <a:r>
              <a:rPr lang="en-US" sz="1100" dirty="0">
                <a:solidFill>
                  <a:srgbClr val="7E8FA0"/>
                </a:solidFill>
              </a:rPr>
              <a:t>Full write-up in ANALYSIS.md  ·  one track only: mbpp, 300 problems, Qwen3.5-4B, reasoning off, greedy.</a:t>
            </a:r>
            <a:endParaRPr lang="en-US" sz="1100" dirty="0"/>
          </a:p>
        </p:txBody>
      </p:sp>
    </p:spTree>
  </p:cSld>
  <p:clrMapOvr>
    <a:masterClrMapping/>
  </p:clrMapOvr>
</p:sld>
</file>

<file path=ppt/theme/theme1.xml><?xml version="1.0" encoding="utf-8"?>
<a:theme xmlns:a="http://schemas.openxmlformats.org/drawingml/2006/main" name="Obfuscation Tax">
  <a:themeElements>
    <a:clrScheme name="Obfuscation Tax">
      <a:dk1>
        <a:srgbClr val="1A2230"/>
      </a:dk1>
      <a:lt1>
        <a:srgbClr val="FFFFFF"/>
      </a:lt1>
      <a:dk2>
        <a:srgbClr val="4A5663"/>
      </a:dk2>
      <a:lt2>
        <a:srgbClr val="EEF1F4"/>
      </a:lt2>
      <a:accent1>
        <a:srgbClr val="C2541B"/>
      </a:accent1>
      <a:accent2>
        <a:srgbClr val="2E6E8E"/>
      </a:accent2>
      <a:accent3>
        <a:srgbClr val="15202B"/>
      </a:accent3>
      <a:accent4>
        <a:srgbClr val="8A9BA8"/>
      </a:accent4>
      <a:accent5>
        <a:srgbClr val="D7DEE4"/>
      </a:accent5>
      <a:accent6>
        <a:srgbClr val="6B7A88"/>
      </a:accent6>
      <a:hlink>
        <a:srgbClr val="2E6E8E"/>
      </a:hlink>
      <a:folHlink>
        <a:srgbClr val="6B7A88"/>
      </a:folHlink>
    </a:clrScheme>
    <a:fontScheme name="Obfuscation Ta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obsfucation-tax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Obfuscation Tax</dc:title>
  <dc:subject>What does a model give up to hide from an activation probe?</dc:subject>
  <dc:creator>obsfucation-tax</dc:creator>
  <cp:lastModifiedBy>obsfucation-tax</cp:lastModifiedBy>
  <cp:revision>1</cp:revision>
  <dcterms:created xsi:type="dcterms:W3CDTF">2026-10-30T04:08:29Z</dcterms:created>
  <dcterms:modified xsi:type="dcterms:W3CDTF">2026-10-30T04:08:29Z</dcterms:modified>
</cp:coreProperties>
</file>