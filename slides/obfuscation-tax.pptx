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ckground" id="{a14e286c-0dad-ce1e-bd27-a0c798761caf}">
          <p14:sldIdLst>
            <p14:sldId id="256"/>
            <p14:sldId id="257"/>
            <p14:sldId id="258"/>
          </p14:sldIdLst>
        </p14:section>
        <p14:section name="Design and preconditions" id="{87505647-71b7-7d7f-e85b-60439619919c}">
          <p14:sldIdLst>
            <p14:sldId id="259"/>
            <p14:sldId id="260"/>
            <p14:sldId id="261"/>
          </p14:sldIdLst>
        </p14:section>
        <p14:section name="The sweep and the turn" id="{2b8e50d0-ddec-fa90-427e-f61c0226ce57}">
          <p14:sldIdLst>
            <p14:sldId id="262"/>
            <p14:sldId id="263"/>
            <p14:sldId id="264"/>
            <p14:sldId id="265"/>
            <p14:sldId id="266"/>
            <p14:sldId id="267"/>
          </p14:sldIdLst>
        </p14:section>
        <p14:section name="What it means" id="{4a7d5f8e-2a10-07ac-28c6-4d420e89d420}">
          <p14:sldIdLst>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What the defender sees as alpha rises</a:t>
            </a:r>
          </a:p>
        </c:rich>
      </c:tx>
      <c:layout/>
      <c:overlay val="0"/>
    </c:title>
    <c:autoTitleDeleted val="0"/>
    <c:plotArea>
      <c:layout/>
      <c:lineChart>
        <c:varyColors val="0"/>
        <c:ser>
          <c:idx val="0"/>
          <c:order val="0"/>
          <c:tx>
            <c:strRef>
              <c:f>Sheet1!$B$1</c:f>
              <c:strCache>
                <c:ptCount val="1"/>
                <c:pt idx="0">
                  <c:v>One-sided AUROC</c:v>
                </c:pt>
              </c:strCache>
            </c:strRef>
          </c:tx>
          <c:spPr>
            <a:solidFill>
              <a:srgbClr val="C2541B"/>
            </a:solidFill>
            <a:ln w="38100" cap="flat">
              <a:solidFill>
                <a:srgbClr val="C254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2541B"/>
              </a:solidFill>
              <a:ln w="9525" cap="flat">
                <a:solidFill>
                  <a:srgbClr val="C2541B"/>
                </a:solidFill>
                <a:prstDash val="solid"/>
                <a:round/>
              </a:ln>
              <a:effectLst/>
            </c:spPr>
          </c:marker>
          <c:cat>
            <c:multiLvlStrRef>
              <c:f>Sheet1!$A$2:$A$6</c:f>
              <c:multiLvlStrCache>
                <c:ptCount val="5"/>
                <c:lvl>
                  <c:pt idx="0">
                    <c:v>0</c:v>
                  </c:pt>
                  <c:pt idx="1">
                    <c:v>1</c:v>
                  </c:pt>
                  <c:pt idx="2">
                    <c:v>2</c:v>
                  </c:pt>
                  <c:pt idx="3">
                    <c:v>4</c:v>
                  </c:pt>
                  <c:pt idx="4">
                    <c:v>8</c:v>
                  </c:pt>
                </c:lvl>
              </c:multiLvlStrCache>
            </c:multiLvlStrRef>
          </c:cat>
          <c:val>
            <c:numRef>
              <c:f>Sheet1!$B$2:$B$6</c:f>
              <c:numCache>
                <c:formatCode>General</c:formatCode>
                <c:ptCount val="5"/>
                <c:pt idx="0">
                  <c:v>1</c:v>
                </c:pt>
                <c:pt idx="1">
                  <c:v>0.999</c:v>
                </c:pt>
                <c:pt idx="2">
                  <c:v>0.572</c:v>
                </c:pt>
                <c:pt idx="3">
                  <c:v>0</c:v>
                </c:pt>
                <c:pt idx="4">
                  <c:v>0</c:v>
                </c:pt>
              </c:numCache>
            </c:numRef>
          </c:val>
          <c:smooth val="0"/>
        </c:ser>
        <c:ser>
          <c:idx val="1"/>
          <c:order val="1"/>
          <c:tx>
            <c:strRef>
              <c:f>Sheet1!$C$1</c:f>
              <c:strCache>
                <c:ptCount val="1"/>
                <c:pt idx="0">
                  <c:v>Two-sided AUROC</c:v>
                </c:pt>
              </c:strCache>
            </c:strRef>
          </c:tx>
          <c:spPr>
            <a:solidFill>
              <a:srgbClr val="2E6E8E"/>
            </a:solidFill>
            <a:ln w="38100" cap="flat">
              <a:solidFill>
                <a:srgbClr val="2E6E8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6E8E"/>
              </a:solidFill>
              <a:ln w="9525" cap="flat">
                <a:solidFill>
                  <a:srgbClr val="2E6E8E"/>
                </a:solidFill>
                <a:prstDash val="solid"/>
                <a:round/>
              </a:ln>
              <a:effectLst/>
            </c:spPr>
          </c:marker>
          <c:cat>
            <c:multiLvlStrRef>
              <c:f>Sheet1!$A$2:$A$6</c:f>
              <c:multiLvlStrCache>
                <c:ptCount val="5"/>
                <c:lvl>
                  <c:pt idx="0">
                    <c:v>0</c:v>
                  </c:pt>
                  <c:pt idx="1">
                    <c:v>1</c:v>
                  </c:pt>
                  <c:pt idx="2">
                    <c:v>2</c:v>
                  </c:pt>
                  <c:pt idx="3">
                    <c:v>4</c:v>
                  </c:pt>
                  <c:pt idx="4">
                    <c:v>8</c:v>
                  </c:pt>
                </c:lvl>
              </c:multiLvlStrCache>
            </c:multiLvlStrRef>
          </c:cat>
          <c:val>
            <c:numRef>
              <c:f>Sheet1!$C$2:$C$6</c:f>
              <c:numCache>
                <c:formatCode>General</c:formatCode>
                <c:ptCount val="5"/>
                <c:pt idx="0">
                  <c:v>1</c:v>
                </c:pt>
                <c:pt idx="1">
                  <c:v>0.999</c:v>
                </c:pt>
                <c:pt idx="2">
                  <c:v>0.604</c:v>
                </c:pt>
                <c:pt idx="3">
                  <c:v>1</c:v>
                </c:pt>
                <c:pt idx="4">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B7A88"/>
                    </a:solidFill>
                    <a:latin typeface="+mn-lt"/>
                  </a:defRPr>
                </a:pPr>
                <a:r>
                  <a:rPr sz="1100" b="0" i="0" u="none" strike="noStrike">
                    <a:solidFill>
                      <a:srgbClr val="6B7A88"/>
                    </a:solidFill>
                    <a:latin typeface="+mn-lt"/>
                  </a:rPr>
                  <a:t>alpha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56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Jaccard overlap of the failing problems, against alpha 0</a:t>
            </a:r>
          </a:p>
        </c:rich>
      </c:tx>
      <c:layout/>
      <c:overlay val="0"/>
    </c:title>
    <c:autoTitleDeleted val="0"/>
    <c:plotArea>
      <c:layout/>
      <c:barChart>
        <c:barDir val="col"/>
        <c:grouping val="clustered"/>
        <c:varyColors val="0"/>
        <c:ser>
          <c:idx val="0"/>
          <c:order val="0"/>
          <c:tx>
            <c:strRef>
              <c:f>Sheet1!$B$1</c:f>
              <c:strCache>
                <c:ptCount val="1"/>
                <c:pt idx="0">
                  <c:v>Overlap with the unsteered failure set</c:v>
                </c:pt>
              </c:strCache>
            </c:strRef>
          </c:tx>
          <c:spPr>
            <a:solidFill>
              <a:srgbClr val="2E6E8E"/>
            </a:solidFill>
            <a:effectLst/>
          </c:spPr>
          <c:invertIfNegative val="0"/>
          <c:dLbls>
            <c:numFmt formatCode="0.00" sourceLinked="0"/>
            <c:txPr>
              <a:bodyPr/>
              <a:lstStyle/>
              <a:p>
                <a:pPr>
                  <a:defRPr b="0" i="0" strike="noStrike" sz="1100" u="none">
                    <a:solidFill>
                      <a:srgbClr val="1A2230"/>
                    </a:solidFill>
                    <a:latin typeface="+mn-lt"/>
                  </a:defRPr>
                </a:pPr>
              </a:p>
            </c:txPr>
            <c:showLegendKey val="0"/>
            <c:showVal val="1"/>
            <c:showCatName val="0"/>
            <c:showSerName val="0"/>
            <c:showPercent val="0"/>
            <c:showBubbleSize val="0"/>
            <c:showLeaderLines val="0"/>
          </c:dLbls>
          <c:cat>
            <c:multiLvlStrRef>
              <c:f>Sheet1!$A$2:$A$6</c:f>
              <c:multiLvlStrCache>
                <c:ptCount val="5"/>
                <c:lvl>
                  <c:pt idx="0">
                    <c:v>0</c:v>
                  </c:pt>
                  <c:pt idx="1">
                    <c:v>1</c:v>
                  </c:pt>
                  <c:pt idx="2">
                    <c:v>2</c:v>
                  </c:pt>
                  <c:pt idx="3">
                    <c:v>4</c:v>
                  </c:pt>
                  <c:pt idx="4">
                    <c:v>8</c:v>
                  </c:pt>
                </c:lvl>
              </c:multiLvlStrCache>
            </c:multiLvlStrRef>
          </c:cat>
          <c:val>
            <c:numRef>
              <c:f>Sheet1!$B$2:$B$6</c:f>
              <c:numCache>
                <c:formatCode>General</c:formatCode>
                <c:ptCount val="5"/>
                <c:pt idx="0">
                  <c:v>1</c:v>
                </c:pt>
                <c:pt idx="1">
                  <c:v>0.86</c:v>
                </c:pt>
                <c:pt idx="2">
                  <c:v>0.67</c:v>
                </c:pt>
                <c:pt idx="3">
                  <c:v>0.48</c:v>
                </c:pt>
                <c:pt idx="4">
                  <c:v>0.29</c:v>
                </c:pt>
              </c:numCache>
            </c:numRef>
          </c:val>
        </c:ser>
        <c:dLbls>
          <c:numFmt formatCode="0.00" sourceLinked="0"/>
          <c:txPr>
            <a:bodyPr/>
            <a:lstStyle/>
            <a:p>
              <a:pPr>
                <a:defRPr b="0" i="0" strike="noStrike" sz="1100" u="none">
                  <a:solidFill>
                    <a:srgbClr val="1A223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6B7A88"/>
                    </a:solidFill>
                    <a:latin typeface="+mn-lt"/>
                  </a:defRPr>
                </a:pPr>
                <a:r>
                  <a:rPr sz="1100" b="0" i="0" u="none" strike="noStrike">
                    <a:solidFill>
                      <a:srgbClr val="6B7A88"/>
                    </a:solidFill>
                    <a:latin typeface="+mn-lt"/>
                  </a:rPr>
                  <a:t>alpha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230"/>
                </a:solidFill>
                <a:latin typeface="+mn-lt"/>
              </a:defRPr>
            </a:pPr>
            <a:r>
              <a:rPr sz="1300" b="0" i="0" u="none" strike="noStrike">
                <a:solidFill>
                  <a:srgbClr val="1A2230"/>
                </a:solidFill>
                <a:latin typeface="+mn-lt"/>
              </a:rPr>
              <a:t>Within-prompt AUROC, out of fold, all fifteen cells</a:t>
            </a:r>
          </a:p>
        </c:rich>
      </c:tx>
      <c:layout/>
      <c:overlay val="0"/>
    </c:title>
    <c:autoTitleDeleted val="0"/>
    <c:plotArea>
      <c:layout/>
      <c:lineChart>
        <c:varyColors val="0"/>
        <c:ser>
          <c:idx val="0"/>
          <c:order val="0"/>
          <c:tx>
            <c:strRef>
              <c:f>Sheet1!$B$1</c:f>
              <c:strCache>
                <c:ptCount val="1"/>
                <c:pt idx="0">
                  <c:v>last-pooled</c:v>
                </c:pt>
              </c:strCache>
            </c:strRef>
          </c:tx>
          <c:spPr>
            <a:solidFill>
              <a:srgbClr val="2E6E8E"/>
            </a:solidFill>
            <a:ln w="38100" cap="flat">
              <a:solidFill>
                <a:srgbClr val="2E6E8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6E8E"/>
              </a:solidFill>
              <a:ln w="9525" cap="flat">
                <a:solidFill>
                  <a:srgbClr val="2E6E8E"/>
                </a:solidFill>
                <a:prstDash val="solid"/>
                <a:round/>
              </a:ln>
              <a:effectLst/>
            </c:spPr>
          </c:marker>
          <c:cat>
            <c:multiLvlStrRef>
              <c:f>Sheet1!$A$2:$A$6</c:f>
              <c:multiLvlStrCache>
                <c:ptCount val="5"/>
                <c:lvl>
                  <c:pt idx="0">
                    <c:v>L12</c:v>
                  </c:pt>
                  <c:pt idx="1">
                    <c:v>L16</c:v>
                  </c:pt>
                  <c:pt idx="2">
                    <c:v>L20</c:v>
                  </c:pt>
                  <c:pt idx="3">
                    <c:v>L24</c:v>
                  </c:pt>
                  <c:pt idx="4">
                    <c:v>L28</c:v>
                  </c:pt>
                </c:lvl>
              </c:multiLvlStrCache>
            </c:multiLvlStrRef>
          </c:cat>
          <c:val>
            <c:numRef>
              <c:f>Sheet1!$B$2:$B$6</c:f>
              <c:numCache>
                <c:formatCode>General</c:formatCode>
                <c:ptCount val="5"/>
                <c:pt idx="0">
                  <c:v>0.571</c:v>
                </c:pt>
                <c:pt idx="1">
                  <c:v>0.847</c:v>
                </c:pt>
                <c:pt idx="2">
                  <c:v>0.859</c:v>
                </c:pt>
                <c:pt idx="3">
                  <c:v>0.823</c:v>
                </c:pt>
                <c:pt idx="4">
                  <c:v>0.819</c:v>
                </c:pt>
              </c:numCache>
            </c:numRef>
          </c:val>
          <c:smooth val="0"/>
        </c:ser>
        <c:ser>
          <c:idx val="1"/>
          <c:order val="1"/>
          <c:tx>
            <c:strRef>
              <c:f>Sheet1!$C$1</c:f>
              <c:strCache>
                <c:ptCount val="1"/>
                <c:pt idx="0">
                  <c:v>last32-pooled</c:v>
                </c:pt>
              </c:strCache>
            </c:strRef>
          </c:tx>
          <c:spPr>
            <a:solidFill>
              <a:srgbClr val="8A9BA8"/>
            </a:solidFill>
            <a:ln w="38100" cap="flat">
              <a:solidFill>
                <a:srgbClr val="8A9B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A9BA8"/>
              </a:solidFill>
              <a:ln w="9525" cap="flat">
                <a:solidFill>
                  <a:srgbClr val="8A9BA8"/>
                </a:solidFill>
                <a:prstDash val="solid"/>
                <a:round/>
              </a:ln>
              <a:effectLst/>
            </c:spPr>
          </c:marker>
          <c:cat>
            <c:multiLvlStrRef>
              <c:f>Sheet1!$A$2:$A$6</c:f>
              <c:multiLvlStrCache>
                <c:ptCount val="5"/>
                <c:lvl>
                  <c:pt idx="0">
                    <c:v>L12</c:v>
                  </c:pt>
                  <c:pt idx="1">
                    <c:v>L16</c:v>
                  </c:pt>
                  <c:pt idx="2">
                    <c:v>L20</c:v>
                  </c:pt>
                  <c:pt idx="3">
                    <c:v>L24</c:v>
                  </c:pt>
                  <c:pt idx="4">
                    <c:v>L28</c:v>
                  </c:pt>
                </c:lvl>
              </c:multiLvlStrCache>
            </c:multiLvlStrRef>
          </c:cat>
          <c:val>
            <c:numRef>
              <c:f>Sheet1!$C$2:$C$6</c:f>
              <c:numCache>
                <c:formatCode>General</c:formatCode>
                <c:ptCount val="5"/>
                <c:pt idx="0">
                  <c:v>0.587</c:v>
                </c:pt>
                <c:pt idx="1">
                  <c:v>0.804</c:v>
                </c:pt>
                <c:pt idx="2">
                  <c:v>0.714</c:v>
                </c:pt>
                <c:pt idx="3">
                  <c:v>0.727</c:v>
                </c:pt>
                <c:pt idx="4">
                  <c:v>0.694</c:v>
                </c:pt>
              </c:numCache>
            </c:numRef>
          </c:val>
          <c:smooth val="0"/>
        </c:ser>
        <c:ser>
          <c:idx val="2"/>
          <c:order val="2"/>
          <c:tx>
            <c:strRef>
              <c:f>Sheet1!$D$1</c:f>
              <c:strCache>
                <c:ptCount val="1"/>
                <c:pt idx="0">
                  <c:v>mean-pooled (steered)</c:v>
                </c:pt>
              </c:strCache>
            </c:strRef>
          </c:tx>
          <c:spPr>
            <a:solidFill>
              <a:srgbClr val="C2541B"/>
            </a:solidFill>
            <a:ln w="38100" cap="flat">
              <a:solidFill>
                <a:srgbClr val="C254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2541B"/>
              </a:solidFill>
              <a:ln w="9525" cap="flat">
                <a:solidFill>
                  <a:srgbClr val="C2541B"/>
                </a:solidFill>
                <a:prstDash val="solid"/>
                <a:round/>
              </a:ln>
              <a:effectLst/>
            </c:spPr>
          </c:marker>
          <c:cat>
            <c:multiLvlStrRef>
              <c:f>Sheet1!$A$2:$A$6</c:f>
              <c:multiLvlStrCache>
                <c:ptCount val="5"/>
                <c:lvl>
                  <c:pt idx="0">
                    <c:v>L12</c:v>
                  </c:pt>
                  <c:pt idx="1">
                    <c:v>L16</c:v>
                  </c:pt>
                  <c:pt idx="2">
                    <c:v>L20</c:v>
                  </c:pt>
                  <c:pt idx="3">
                    <c:v>L24</c:v>
                  </c:pt>
                  <c:pt idx="4">
                    <c:v>L28</c:v>
                  </c:pt>
                </c:lvl>
              </c:multiLvlStrCache>
            </c:multiLvlStrRef>
          </c:cat>
          <c:val>
            <c:numRef>
              <c:f>Sheet1!$D$2:$D$6</c:f>
              <c:numCache>
                <c:formatCode>General</c:formatCode>
                <c:ptCount val="5"/>
                <c:pt idx="0">
                  <c:v>0.571</c:v>
                </c:pt>
                <c:pt idx="1">
                  <c:v>0.769</c:v>
                </c:pt>
                <c:pt idx="2">
                  <c:v>0.644</c:v>
                </c:pt>
                <c:pt idx="3">
                  <c:v>0.645</c:v>
                </c:pt>
                <c:pt idx="4">
                  <c:v>0.602</c:v>
                </c:pt>
              </c:numCache>
            </c:numRef>
          </c:val>
          <c:smooth val="0"/>
        </c:ser>
        <c:ser>
          <c:idx val="3"/>
          <c:order val="3"/>
          <c:tx>
            <c:strRef>
              <c:f>Sheet1!$E$1</c:f>
              <c:strCache>
                <c:ptCount val="1"/>
                <c:pt idx="0">
                  <c:v>shuffled-label null, 95th pct</c:v>
                </c:pt>
              </c:strCache>
            </c:strRef>
          </c:tx>
          <c:spPr>
            <a:solidFill>
              <a:srgbClr val="C8D3DC"/>
            </a:solidFill>
            <a:ln w="38100" cap="flat">
              <a:solidFill>
                <a:srgbClr val="C8D3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8D3DC"/>
              </a:solidFill>
              <a:ln w="9525" cap="flat">
                <a:solidFill>
                  <a:srgbClr val="C8D3DC"/>
                </a:solidFill>
                <a:prstDash val="solid"/>
                <a:round/>
              </a:ln>
              <a:effectLst/>
            </c:spPr>
          </c:marker>
          <c:cat>
            <c:multiLvlStrRef>
              <c:f>Sheet1!$A$2:$A$6</c:f>
              <c:multiLvlStrCache>
                <c:ptCount val="5"/>
                <c:lvl>
                  <c:pt idx="0">
                    <c:v>L12</c:v>
                  </c:pt>
                  <c:pt idx="1">
                    <c:v>L16</c:v>
                  </c:pt>
                  <c:pt idx="2">
                    <c:v>L20</c:v>
                  </c:pt>
                  <c:pt idx="3">
                    <c:v>L24</c:v>
                  </c:pt>
                  <c:pt idx="4">
                    <c:v>L28</c:v>
                  </c:pt>
                </c:lvl>
              </c:multiLvlStrCache>
            </c:multiLvlStrRef>
          </c:cat>
          <c:val>
            <c:numRef>
              <c:f>Sheet1!$E$2:$E$6</c:f>
              <c:numCache>
                <c:formatCode>General</c:formatCode>
                <c:ptCount val="5"/>
                <c:pt idx="0">
                  <c:v>0.616</c:v>
                </c:pt>
                <c:pt idx="1">
                  <c:v>0.628</c:v>
                </c:pt>
                <c:pt idx="2">
                  <c:v>0.634</c:v>
                </c:pt>
                <c:pt idx="3">
                  <c:v>0.647</c:v>
                </c:pt>
                <c:pt idx="4">
                  <c:v>0.636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12700" cap="flat">
              <a:solidFill>
                <a:srgbClr val="E7EC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3"/>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050">
              <a:solidFill>
                <a:srgbClr val="4A56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ANALYSIS.md in the order the experiment happened: what we set out to measure, where it went wrong, and what the run still supports. Every number traces to a file in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Bailey finds performance drops on the one task where performance is measurable. Gupta and Jenner have to add a scoring term to stop completions degrading. Neither measures what evasion costs the attacker.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outcomes are the measurement's whole design. Outcome 1 is what the table appeared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is off because a trace costs 68.5 s per generation, which was not affordable on the hardware to hand. The write-up carries it as a limitation of this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warnings were ignored. We wrote the gate in advance so that continuing would be awkward if the preconditions did not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control is the one that should have stopped us. It reads 1.000, which means the probe cannot tell a landed sabotage from an instruction that was ignored.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as it came back. Taken at face value it is a clean publishable result, and we read it that way for about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text does change: mean answer tokens fall from 60.4 to 54.2 and the failing problems churn. The representation along the probe direction moves by the constant we imposed and almost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table reporting only the one-sided number reads this backwards and calls alpha 8 a complete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claim the run supports, and it is a defence result rather than the tax we went looking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table reports the rate, and the rate cannot see this. A Jaccard column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probe can separate a landed sabotage from an ignored instruction at 0.86, which is a usable detector rather than a confound. The earlier 0.771 figure came from reading only the mean-pooled row. The across-prompt grid reads 1.000 in all fifteen cells, so it cannot choose a layer and this grid is the one to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cannot test the hypothesis. What it does give us is the specific design choice that blocked it, which is worth more than a vague sense that something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defence result and the within-prompt number are what to carry forward. Everything in the right-hand column is reusable as it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have a fix on the next slide. Only the first one changes what the run is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on the left changed what we conclude without costing a single generation. Both notebooks now compute them during the run rather than needing a re-read afterwards, and the attack notebook asserts the alpha grid overlaps the informative window before it spends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one is the only one that needs running before deciding anything else. It is one pass and it settles whether the rest is worth doing.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is defensible. The defence result is real and cheap to strengthen, and the tax measurement needs a different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2148840"/>
            <a:ext cx="11057839" cy="2103120"/>
          </a:xfrm>
          <a:prstGeom prst="rect">
            <a:avLst/>
          </a:prstGeom>
          <a:noFill/>
          <a:ln/>
        </p:spPr>
        <p:txBody>
          <a:bodyPr wrap="square" rtlCol="0"/>
          <a:lstStyle>
            <a:lvl1pPr indent="0" marL="0">
              <a:buNone/>
              <a:defRPr lang="en-US" sz="4000" dirty="0">
                <a:solidFill>
                  <a:srgbClr val="FFFFFF"/>
                </a:solidFill>
              </a:defRPr>
            </a:lvl1pPr>
          </a:lstStyle>
          <a:p>
            <a:pPr indent="0" marL="0">
              <a:buNone/>
            </a:pPr>
            <a:endParaRPr lang="en-US" sz="4000" dirty="0"/>
          </a:p>
        </p:txBody>
      </p:sp>
      <p:sp>
        <p:nvSpPr>
          <p:cNvPr id="3" name="Text 0"/>
          <p:cNvSpPr/>
          <p:nvPr>
            <p:ph idx="101" type="body" hasCustomPrompt="1"/>
          </p:nvPr>
        </p:nvSpPr>
        <p:spPr>
          <a:xfrm>
            <a:off x="566928" y="4343400"/>
            <a:ext cx="8595360" cy="1097280"/>
          </a:xfrm>
          <a:prstGeom prst="rect">
            <a:avLst/>
          </a:prstGeom>
          <a:noFill/>
          <a:ln/>
        </p:spPr>
        <p:txBody>
          <a:bodyPr wrap="square" rtlCol="0"/>
          <a:lstStyle>
            <a:lvl1pPr indent="0" marL="0">
              <a:buNone/>
              <a:defRPr lang="en-US" sz="1600" dirty="0">
                <a:solidFill>
                  <a:srgbClr val="9DADBC"/>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749808"/>
            <a:ext cx="11057839" cy="658368"/>
          </a:xfrm>
          <a:prstGeom prst="rect">
            <a:avLst/>
          </a:prstGeom>
          <a:noFill/>
          <a:ln/>
        </p:spPr>
        <p:txBody>
          <a:bodyPr wrap="square" rtlCol="0"/>
          <a:lstStyle>
            <a:lvl1pPr indent="0" marL="0">
              <a:buNone/>
              <a:defRPr lang="en-US" sz="2800" b="1" dirty="0">
                <a:solidFill>
                  <a:srgbClr val="1A2230"/>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rgbClr val="15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66928" y="1335024"/>
            <a:ext cx="11057839" cy="932688"/>
          </a:xfrm>
          <a:prstGeom prst="rect">
            <a:avLst/>
          </a:prstGeom>
          <a:noFill/>
          <a:ln/>
        </p:spPr>
        <p:txBody>
          <a:bodyPr wrap="square" rtlCol="0"/>
          <a:lstStyle>
            <a:lvl1pPr indent="0" marL="0">
              <a:buNone/>
              <a:defRPr lang="en-US" sz="5400" dirty="0">
                <a:solidFill>
                  <a:srgbClr val="FFFFFF"/>
                </a:solidFill>
              </a:defRPr>
            </a:lvl1pPr>
          </a:lstStyle>
          <a:p>
            <a:pPr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1572768"/>
            <a:ext cx="11057839" cy="310896"/>
          </a:xfrm>
          <a:prstGeom prst="rect">
            <a:avLst/>
          </a:prstGeom>
          <a:noFill/>
          <a:ln/>
        </p:spPr>
        <p:txBody>
          <a:bodyPr wrap="square" lIns="0" tIns="0" rIns="0" bIns="0" rtlCol="0" anchor="ctr"/>
          <a:lstStyle/>
          <a:p>
            <a:pPr indent="0" marL="0">
              <a:buNone/>
            </a:pPr>
            <a:r>
              <a:rPr lang="en-US" sz="1200" b="1" spc="240" kern="0" dirty="0">
                <a:solidFill>
                  <a:srgbClr val="E8873F"/>
                </a:solidFill>
              </a:rPr>
              <a:t>THE OBFUSCATION TAX</a:t>
            </a:r>
            <a:endParaRPr lang="en-US" sz="1200" dirty="0"/>
          </a:p>
        </p:txBody>
      </p:sp>
      <p:sp>
        <p:nvSpPr>
          <p:cNvPr id="3" name="Text 0"/>
          <p:cNvSpPr/>
          <p:nvPr>
            <p:ph idx="100" type="title" hasCustomPrompt="1"/>
          </p:nvPr>
        </p:nvSpPr>
        <p:spPr>
          <a:xfrm>
            <a:off x="566928" y="2148840"/>
            <a:ext cx="11057839" cy="2103120"/>
          </a:xfrm>
          <a:prstGeom prst="rect">
            <a:avLst/>
          </a:prstGeom>
          <a:noFill/>
          <a:ln/>
        </p:spPr>
        <p:txBody>
          <a:bodyPr wrap="square" rtlCol="0" anchor="t"/>
          <a:lstStyle/>
          <a:p>
            <a:pPr indent="0" marL="0">
              <a:buNone/>
            </a:pPr>
            <a:r>
              <a:rPr lang="en-US" sz="4000" dirty="0">
                <a:solidFill>
                  <a:srgbClr val="FFFFFF"/>
                </a:solidFill>
                <a:latin typeface="Cambria" pitchFamily="34" charset="0"/>
                <a:ea typeface="Cambria" pitchFamily="34" charset="-122"/>
                <a:cs typeface="Cambria" pitchFamily="34" charset="-120"/>
              </a:rPr>
              <a:t>What does a model give up to hide from an activation probe?</a:t>
            </a:r>
            <a:endParaRPr lang="en-US" sz="4000" dirty="0"/>
          </a:p>
        </p:txBody>
      </p:sp>
      <p:sp>
        <p:nvSpPr>
          <p:cNvPr id="4" name="Text 0"/>
          <p:cNvSpPr/>
          <p:nvPr>
            <p:ph idx="101" type="body" hasCustomPrompt="1"/>
          </p:nvPr>
        </p:nvSpPr>
        <p:spPr>
          <a:xfrm>
            <a:off x="566928" y="4343400"/>
            <a:ext cx="8595360" cy="1097280"/>
          </a:xfrm>
          <a:prstGeom prst="rect">
            <a:avLst/>
          </a:prstGeom>
          <a:noFill/>
          <a:ln/>
        </p:spPr>
        <p:txBody>
          <a:bodyPr wrap="square" rtlCol="0" anchor="t"/>
          <a:lstStyle/>
          <a:p>
            <a:pPr indent="0" marL="0">
              <a:buNone/>
            </a:pPr>
            <a:r>
              <a:rPr lang="en-US" sz="1600" dirty="0">
                <a:solidFill>
                  <a:srgbClr val="9DADBC"/>
                </a:solidFill>
              </a:rPr>
              <a:t>One run on mbpp with Qwen3.5-4B. It could not measure the tax we came for, and working out why produced a defence result instead.</a:t>
            </a:r>
            <a:endParaRPr lang="en-US" sz="1600" dirty="0"/>
          </a:p>
        </p:txBody>
      </p:sp>
      <p:sp>
        <p:nvSpPr>
          <p:cNvPr id="5" name="cover-mark"/>
          <p:cNvSpPr/>
          <p:nvPr/>
        </p:nvSpPr>
        <p:spPr>
          <a:xfrm>
            <a:off x="566928" y="5888736"/>
            <a:ext cx="1371600" cy="25603"/>
          </a:xfrm>
          <a:prstGeom prst="rect">
            <a:avLst/>
          </a:prstGeom>
          <a:solidFill>
            <a:srgbClr val="E8873F"/>
          </a:solidFill>
          <a:ln w="12700">
            <a:solidFill>
              <a:srgbClr val="E8873F"/>
            </a:solidFill>
            <a:prstDash val="solid"/>
          </a:ln>
        </p:spPr>
      </p:sp>
      <p:sp>
        <p:nvSpPr>
          <p:cNvPr id="6" name="Text 4"/>
          <p:cNvSpPr txBox="1"/>
          <p:nvPr/>
        </p:nvSpPr>
        <p:spPr>
          <a:xfrm>
            <a:off x="566928" y="6089904"/>
            <a:ext cx="7315200" cy="274320"/>
          </a:xfrm>
          <a:prstGeom prst="rect">
            <a:avLst/>
          </a:prstGeom>
          <a:noFill/>
          <a:ln/>
        </p:spPr>
        <p:txBody>
          <a:bodyPr wrap="square" lIns="0" tIns="0" rIns="0" bIns="0" rtlCol="0" anchor="ctr"/>
          <a:lstStyle/>
          <a:p>
            <a:pPr indent="0" marL="0">
              <a:buNone/>
            </a:pPr>
            <a:r>
              <a:rPr lang="en-US" sz="1100" dirty="0">
                <a:solidFill>
                  <a:srgbClr val="7E8FA0"/>
                </a:solidFill>
              </a:rPr>
              <a:t>obsfucation-tax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WHERE THE QUESTION COMES FROM</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Three papers, and the thing none of them measures</a:t>
            </a:r>
            <a:endParaRPr lang="en-US" sz="2800" dirty="0"/>
          </a:p>
        </p:txBody>
      </p:sp>
      <p:sp>
        <p:nvSpPr>
          <p:cNvPr id="4" name="paper-0"/>
          <p:cNvSpPr/>
          <p:nvPr/>
        </p:nvSpPr>
        <p:spPr>
          <a:xfrm>
            <a:off x="566928" y="1499616"/>
            <a:ext cx="3493008" cy="3255264"/>
          </a:xfrm>
          <a:prstGeom prst="roundRect">
            <a:avLst>
              <a:gd name="adj" fmla="val 2247"/>
            </a:avLst>
          </a:prstGeom>
          <a:solidFill>
            <a:srgbClr val="EEF1F4"/>
          </a:solidFill>
          <a:ln w="12700">
            <a:solidFill>
              <a:srgbClr val="EEF1F4"/>
            </a:solidFill>
            <a:prstDash val="solid"/>
          </a:ln>
        </p:spPr>
      </p:sp>
      <p:sp>
        <p:nvSpPr>
          <p:cNvPr id="5" name="Text 3"/>
          <p:cNvSpPr txBox="1"/>
          <p:nvPr/>
        </p:nvSpPr>
        <p:spPr>
          <a:xfrm>
            <a:off x="804672"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Goldowsky-Dill et al.  ·  ICML 2025</a:t>
            </a:r>
            <a:endParaRPr lang="en-US" sz="1050" dirty="0"/>
          </a:p>
        </p:txBody>
      </p:sp>
      <p:sp>
        <p:nvSpPr>
          <p:cNvPr id="6" name="Text 4"/>
          <p:cNvSpPr txBox="1"/>
          <p:nvPr/>
        </p:nvSpPr>
        <p:spPr>
          <a:xfrm>
            <a:off x="804672" y="1938528"/>
            <a:ext cx="3017520" cy="365760"/>
          </a:xfrm>
          <a:prstGeom prst="rect">
            <a:avLst/>
          </a:prstGeom>
          <a:noFill/>
          <a:ln/>
        </p:spPr>
        <p:txBody>
          <a:bodyPr wrap="square" lIns="0" tIns="0" rIns="0" bIns="0" rtlCol="0" anchor="ctr"/>
          <a:lstStyle/>
          <a:p>
            <a:pPr indent="0" marL="0">
              <a:buNone/>
            </a:pPr>
            <a:r>
              <a:rPr lang="en-US" sz="1900" b="1" dirty="0">
                <a:solidFill>
                  <a:srgbClr val="2E6E8E"/>
                </a:solidFill>
                <a:latin typeface="Cambria" pitchFamily="34" charset="0"/>
                <a:ea typeface="Cambria" pitchFamily="34" charset="-122"/>
                <a:cs typeface="Cambria" pitchFamily="34" charset="-120"/>
              </a:rPr>
              <a:t>The defence works</a:t>
            </a:r>
            <a:endParaRPr lang="en-US" sz="1900" dirty="0"/>
          </a:p>
        </p:txBody>
      </p:sp>
      <p:sp>
        <p:nvSpPr>
          <p:cNvPr id="7" name="Text 5"/>
          <p:cNvSpPr txBox="1"/>
          <p:nvPr/>
        </p:nvSpPr>
        <p:spPr>
          <a:xfrm>
            <a:off x="804672"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Linear probes on the residual stream of Llama-3.3-70B, read after layer 22 of 80. AUROC 0.96 to 0.999. At a 1% false-positive threshold they catch 95 to 99% of deceptive responses.</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Probing two layers later drops recall to nearly zero.</a:t>
            </a:r>
            <a:endParaRPr lang="en-US" sz="1200" dirty="0"/>
          </a:p>
        </p:txBody>
      </p:sp>
      <p:sp>
        <p:nvSpPr>
          <p:cNvPr id="8" name="paper-1"/>
          <p:cNvSpPr/>
          <p:nvPr/>
        </p:nvSpPr>
        <p:spPr>
          <a:xfrm>
            <a:off x="4334256" y="1499616"/>
            <a:ext cx="3493008" cy="3255264"/>
          </a:xfrm>
          <a:prstGeom prst="roundRect">
            <a:avLst>
              <a:gd name="adj" fmla="val 2247"/>
            </a:avLst>
          </a:prstGeom>
          <a:solidFill>
            <a:srgbClr val="EEF1F4"/>
          </a:solidFill>
          <a:ln w="12700">
            <a:solidFill>
              <a:srgbClr val="EEF1F4"/>
            </a:solidFill>
            <a:prstDash val="solid"/>
          </a:ln>
        </p:spPr>
      </p:sp>
      <p:sp>
        <p:nvSpPr>
          <p:cNvPr id="9" name="Text 7"/>
          <p:cNvSpPr txBox="1"/>
          <p:nvPr/>
        </p:nvSpPr>
        <p:spPr>
          <a:xfrm>
            <a:off x="4572000"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Bailey et al.  ·  ICLR 2026</a:t>
            </a:r>
            <a:endParaRPr lang="en-US" sz="1050" dirty="0"/>
          </a:p>
        </p:txBody>
      </p:sp>
      <p:sp>
        <p:nvSpPr>
          <p:cNvPr id="10" name="Text 8"/>
          <p:cNvSpPr txBox="1"/>
          <p:nvPr/>
        </p:nvSpPr>
        <p:spPr>
          <a:xfrm>
            <a:off x="4572000" y="1938528"/>
            <a:ext cx="301752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It can be fooled</a:t>
            </a:r>
            <a:endParaRPr lang="en-US" sz="1900" dirty="0"/>
          </a:p>
        </p:txBody>
      </p:sp>
      <p:sp>
        <p:nvSpPr>
          <p:cNvPr id="11" name="Text 9"/>
          <p:cNvSpPr txBox="1"/>
          <p:nvPr/>
        </p:nvSpPr>
        <p:spPr>
          <a:xfrm>
            <a:off x="4572000"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Monitor recall driven to 0% while keeping a 90% jailbreak rate, and the obfuscated activations carry over to probes they never attacked.</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One limit: “on a complex task (writing SQL code), obfuscation reduces model performance.”</a:t>
            </a:r>
            <a:endParaRPr lang="en-US" sz="1200" dirty="0"/>
          </a:p>
        </p:txBody>
      </p:sp>
      <p:sp>
        <p:nvSpPr>
          <p:cNvPr id="12" name="paper-2"/>
          <p:cNvSpPr/>
          <p:nvPr/>
        </p:nvSpPr>
        <p:spPr>
          <a:xfrm>
            <a:off x="8101584" y="1499616"/>
            <a:ext cx="3493008" cy="3255264"/>
          </a:xfrm>
          <a:prstGeom prst="roundRect">
            <a:avLst>
              <a:gd name="adj" fmla="val 2247"/>
            </a:avLst>
          </a:prstGeom>
          <a:solidFill>
            <a:srgbClr val="EEF1F4"/>
          </a:solidFill>
          <a:ln w="12700">
            <a:solidFill>
              <a:srgbClr val="EEF1F4"/>
            </a:solidFill>
            <a:prstDash val="solid"/>
          </a:ln>
        </p:spPr>
      </p:sp>
      <p:sp>
        <p:nvSpPr>
          <p:cNvPr id="13" name="Text 11"/>
          <p:cNvSpPr txBox="1"/>
          <p:nvPr/>
        </p:nvSpPr>
        <p:spPr>
          <a:xfrm>
            <a:off x="8339328" y="1682496"/>
            <a:ext cx="3017520" cy="237744"/>
          </a:xfrm>
          <a:prstGeom prst="rect">
            <a:avLst/>
          </a:prstGeom>
          <a:noFill/>
          <a:ln/>
        </p:spPr>
        <p:txBody>
          <a:bodyPr wrap="square" lIns="0" tIns="0" rIns="0" bIns="0" rtlCol="0" anchor="ctr"/>
          <a:lstStyle/>
          <a:p>
            <a:pPr indent="0" marL="0">
              <a:buNone/>
            </a:pPr>
            <a:r>
              <a:rPr lang="en-US" sz="1050" dirty="0">
                <a:solidFill>
                  <a:srgbClr val="6B7A88"/>
                </a:solidFill>
              </a:rPr>
              <a:t>Gupta &amp; Jenner  ·  2025</a:t>
            </a:r>
            <a:endParaRPr lang="en-US" sz="1050" dirty="0"/>
          </a:p>
        </p:txBody>
      </p:sp>
      <p:sp>
        <p:nvSpPr>
          <p:cNvPr id="14" name="Text 12"/>
          <p:cNvSpPr txBox="1"/>
          <p:nvPr/>
        </p:nvSpPr>
        <p:spPr>
          <a:xfrm>
            <a:off x="8339328" y="1938528"/>
            <a:ext cx="301752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The strongest attacker</a:t>
            </a:r>
            <a:endParaRPr lang="en-US" sz="1900" dirty="0"/>
          </a:p>
        </p:txBody>
      </p:sp>
      <p:sp>
        <p:nvSpPr>
          <p:cNvPr id="15" name="Text 13"/>
          <p:cNvSpPr txBox="1"/>
          <p:nvPr/>
        </p:nvSpPr>
        <p:spPr>
          <a:xfrm>
            <a:off x="8339328" y="2377440"/>
            <a:ext cx="3017520" cy="2249424"/>
          </a:xfrm>
          <a:prstGeom prst="rect">
            <a:avLst/>
          </a:prstGeom>
          <a:noFill/>
          <a:ln/>
        </p:spPr>
        <p:txBody>
          <a:bodyPr wrap="square" lIns="0" tIns="0" rIns="0" bIns="0" rtlCol="0" anchor="t"/>
          <a:lstStyle/>
          <a:p>
            <a:pPr indent="0" marL="0">
              <a:lnSpc>
                <a:spcPct val="126000"/>
              </a:lnSpc>
              <a:buNone/>
            </a:pPr>
            <a:r>
              <a:rPr lang="en-US" sz="1200" dirty="0">
                <a:solidFill>
                  <a:srgbClr val="4A5663"/>
                </a:solidFill>
              </a:rPr>
              <a:t>RL-Obfuscation finetunes a model to evade latent-space monitors while holding its black-box behaviour steady.</a:t>
            </a:r>
            <a:endParaRPr lang="en-US" sz="1200" dirty="0"/>
          </a:p>
          <a:p>
            <a:pPr indent="0" marL="0">
              <a:lnSpc>
                <a:spcPct val="126000"/>
              </a:lnSpc>
              <a:buNone/>
            </a:pPr>
            <a:endParaRPr lang="en-US" sz="1200" dirty="0"/>
          </a:p>
          <a:p>
            <a:pPr indent="0" marL="0">
              <a:lnSpc>
                <a:spcPct val="126000"/>
              </a:lnSpc>
              <a:buNone/>
            </a:pPr>
            <a:r>
              <a:rPr lang="en-US" sz="1200" dirty="0">
                <a:solidFill>
                  <a:srgbClr val="4A5663"/>
                </a:solidFill>
              </a:rPr>
              <a:t>Holding it steady needs an explicit quality term in the reward. Without paying to hold the output up, evasion degrades it.</a:t>
            </a:r>
            <a:endParaRPr lang="en-US" sz="1200" dirty="0"/>
          </a:p>
        </p:txBody>
      </p:sp>
      <p:sp>
        <p:nvSpPr>
          <p:cNvPr id="16" name="gap"/>
          <p:cNvSpPr/>
          <p:nvPr/>
        </p:nvSpPr>
        <p:spPr>
          <a:xfrm>
            <a:off x="566928" y="5010912"/>
            <a:ext cx="11057839" cy="822960"/>
          </a:xfrm>
          <a:prstGeom prst="roundRect">
            <a:avLst>
              <a:gd name="adj" fmla="val 8889"/>
            </a:avLst>
          </a:prstGeom>
          <a:solidFill>
            <a:srgbClr val="15202B"/>
          </a:solidFill>
          <a:ln w="12700">
            <a:solidFill>
              <a:srgbClr val="15202B"/>
            </a:solidFill>
            <a:prstDash val="solid"/>
          </a:ln>
        </p:spPr>
      </p:sp>
      <p:sp>
        <p:nvSpPr>
          <p:cNvPr id="17" name="gap-text"/>
          <p:cNvSpPr txBox="1"/>
          <p:nvPr/>
        </p:nvSpPr>
        <p:spPr>
          <a:xfrm>
            <a:off x="877824" y="5010912"/>
            <a:ext cx="10436047" cy="822960"/>
          </a:xfrm>
          <a:prstGeom prst="rect">
            <a:avLst/>
          </a:prstGeom>
          <a:noFill/>
          <a:ln/>
        </p:spPr>
        <p:txBody>
          <a:bodyPr wrap="square" lIns="0" tIns="0" rIns="0" bIns="0" rtlCol="0" anchor="ctr"/>
          <a:lstStyle/>
          <a:p>
            <a:pPr indent="0" marL="0">
              <a:buNone/>
            </a:pPr>
            <a:r>
              <a:rPr lang="en-US" sz="1500" b="1" dirty="0">
                <a:solidFill>
                  <a:srgbClr val="FFFFFF"/>
                </a:solidFill>
              </a:rPr>
              <a:t>All three ask whether evasion works, and it does. </a:t>
            </a:r>
            <a:pPr indent="0" marL="0">
              <a:buNone/>
            </a:pPr>
            <a:r>
              <a:rPr lang="en-US" sz="1500" dirty="0">
                <a:solidFill>
                  <a:srgbClr val="9DADBC"/>
                </a:solidFill>
              </a:rPr>
              <a:t>The cost shows up twice as a side condition, and neither paper treats it as the measurement.</a:t>
            </a:r>
            <a:endParaRPr lang="en-US" sz="15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THE BET</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Assume the model can fool the probe. What does that cost?</a:t>
            </a:r>
            <a:endParaRPr lang="en-US" sz="2800" dirty="0"/>
          </a:p>
        </p:txBody>
      </p:sp>
      <p:sp>
        <p:nvSpPr>
          <p:cNvPr id="4" name="Text 2"/>
          <p:cNvSpPr txBox="1"/>
          <p:nvPr/>
        </p:nvSpPr>
        <p:spPr>
          <a:xfrm>
            <a:off x="566928" y="1481328"/>
            <a:ext cx="9509760" cy="475488"/>
          </a:xfrm>
          <a:prstGeom prst="rect">
            <a:avLst/>
          </a:prstGeom>
          <a:noFill/>
          <a:ln/>
        </p:spPr>
        <p:txBody>
          <a:bodyPr wrap="square" lIns="0" tIns="0" rIns="0" bIns="0" rtlCol="0" anchor="ctr"/>
          <a:lstStyle/>
          <a:p>
            <a:pPr indent="0" marL="0">
              <a:buNone/>
            </a:pPr>
            <a:r>
              <a:rPr lang="en-US" sz="1400" dirty="0">
                <a:solidFill>
                  <a:srgbClr val="4A5663"/>
                </a:solidFill>
              </a:rPr>
              <a:t>The probe reads the same internal state the model computes with, so pushing that state around should not be free. Three outcomes, written down before anything ran.</a:t>
            </a:r>
            <a:endParaRPr lang="en-US" sz="1400" dirty="0"/>
          </a:p>
        </p:txBody>
      </p:sp>
      <p:sp>
        <p:nvSpPr>
          <p:cNvPr id="5" name="outcome-0"/>
          <p:cNvSpPr/>
          <p:nvPr/>
        </p:nvSpPr>
        <p:spPr>
          <a:xfrm>
            <a:off x="566928" y="2139696"/>
            <a:ext cx="11057839" cy="914400"/>
          </a:xfrm>
          <a:prstGeom prst="roundRect">
            <a:avLst>
              <a:gd name="adj" fmla="val 8000"/>
            </a:avLst>
          </a:prstGeom>
          <a:solidFill>
            <a:srgbClr val="EEF1F4"/>
          </a:solidFill>
          <a:ln w="12700">
            <a:solidFill>
              <a:srgbClr val="EEF1F4"/>
            </a:solidFill>
            <a:prstDash val="solid"/>
          </a:ln>
        </p:spPr>
      </p:sp>
      <p:sp>
        <p:nvSpPr>
          <p:cNvPr id="6" name="badge-1"/>
          <p:cNvSpPr/>
          <p:nvPr/>
        </p:nvSpPr>
        <p:spPr>
          <a:xfrm>
            <a:off x="841248" y="2404872"/>
            <a:ext cx="384048" cy="384048"/>
          </a:xfrm>
          <a:prstGeom prst="ellipse">
            <a:avLst/>
          </a:prstGeom>
          <a:solidFill>
            <a:srgbClr val="C2541B"/>
          </a:solidFill>
          <a:ln w="12700">
            <a:solidFill>
              <a:srgbClr val="C2541B"/>
            </a:solidFill>
            <a:prstDash val="solid"/>
          </a:ln>
        </p:spPr>
      </p:sp>
      <p:sp>
        <p:nvSpPr>
          <p:cNvPr id="7" name="Text 5"/>
          <p:cNvSpPr txBox="1"/>
          <p:nvPr/>
        </p:nvSpPr>
        <p:spPr>
          <a:xfrm>
            <a:off x="841248" y="24048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6"/>
          <p:cNvSpPr txBox="1"/>
          <p:nvPr/>
        </p:nvSpPr>
        <p:spPr>
          <a:xfrm>
            <a:off x="1444752" y="2286000"/>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and sandbags just as well</a:t>
            </a:r>
            <a:endParaRPr lang="en-US" sz="1500" dirty="0"/>
          </a:p>
        </p:txBody>
      </p:sp>
      <p:sp>
        <p:nvSpPr>
          <p:cNvPr id="9" name="Text 7"/>
          <p:cNvSpPr txBox="1"/>
          <p:nvPr/>
        </p:nvSpPr>
        <p:spPr>
          <a:xfrm>
            <a:off x="1444752" y="2633472"/>
            <a:ext cx="9692640" cy="329184"/>
          </a:xfrm>
          <a:prstGeom prst="rect">
            <a:avLst/>
          </a:prstGeom>
          <a:noFill/>
          <a:ln/>
        </p:spPr>
        <p:txBody>
          <a:bodyPr wrap="square" lIns="0" tIns="0" rIns="0" bIns="0" rtlCol="0" anchor="ctr"/>
          <a:lstStyle/>
          <a:p>
            <a:pPr indent="0" marL="0">
              <a:buNone/>
            </a:pPr>
            <a:r>
              <a:rPr lang="en-US" sz="1250" dirty="0">
                <a:solidFill>
                  <a:srgbClr val="4A5663"/>
                </a:solidFill>
              </a:rPr>
              <a:t>The probe is close to useless against an attacker who knows about it.</a:t>
            </a:r>
            <a:endParaRPr lang="en-US" sz="1250" dirty="0"/>
          </a:p>
        </p:txBody>
      </p:sp>
      <p:sp>
        <p:nvSpPr>
          <p:cNvPr id="10" name="outcome-1"/>
          <p:cNvSpPr/>
          <p:nvPr/>
        </p:nvSpPr>
        <p:spPr>
          <a:xfrm>
            <a:off x="566928" y="3218688"/>
            <a:ext cx="11057839" cy="914400"/>
          </a:xfrm>
          <a:prstGeom prst="roundRect">
            <a:avLst>
              <a:gd name="adj" fmla="val 8000"/>
            </a:avLst>
          </a:prstGeom>
          <a:solidFill>
            <a:srgbClr val="EEF1F4"/>
          </a:solidFill>
          <a:ln w="12700">
            <a:solidFill>
              <a:srgbClr val="EEF1F4"/>
            </a:solidFill>
            <a:prstDash val="solid"/>
          </a:ln>
        </p:spPr>
      </p:sp>
      <p:sp>
        <p:nvSpPr>
          <p:cNvPr id="11" name="badge-2"/>
          <p:cNvSpPr/>
          <p:nvPr/>
        </p:nvSpPr>
        <p:spPr>
          <a:xfrm>
            <a:off x="841248" y="3483864"/>
            <a:ext cx="384048" cy="384048"/>
          </a:xfrm>
          <a:prstGeom prst="ellipse">
            <a:avLst/>
          </a:prstGeom>
          <a:solidFill>
            <a:srgbClr val="2E6E8E"/>
          </a:solidFill>
          <a:ln w="12700">
            <a:solidFill>
              <a:srgbClr val="2E6E8E"/>
            </a:solidFill>
            <a:prstDash val="solid"/>
          </a:ln>
        </p:spPr>
      </p:sp>
      <p:sp>
        <p:nvSpPr>
          <p:cNvPr id="12" name="Text 10"/>
          <p:cNvSpPr txBox="1"/>
          <p:nvPr/>
        </p:nvSpPr>
        <p:spPr>
          <a:xfrm>
            <a:off x="841248" y="3483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1"/>
          <p:cNvSpPr txBox="1"/>
          <p:nvPr/>
        </p:nvSpPr>
        <p:spPr>
          <a:xfrm>
            <a:off x="1444752" y="3364992"/>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and stops sandbagging</a:t>
            </a:r>
            <a:endParaRPr lang="en-US" sz="1500" dirty="0"/>
          </a:p>
        </p:txBody>
      </p:sp>
      <p:sp>
        <p:nvSpPr>
          <p:cNvPr id="14" name="Text 12"/>
          <p:cNvSpPr txBox="1"/>
          <p:nvPr/>
        </p:nvSpPr>
        <p:spPr>
          <a:xfrm>
            <a:off x="1444752" y="3712464"/>
            <a:ext cx="9692640" cy="329184"/>
          </a:xfrm>
          <a:prstGeom prst="rect">
            <a:avLst/>
          </a:prstGeom>
          <a:noFill/>
          <a:ln/>
        </p:spPr>
        <p:txBody>
          <a:bodyPr wrap="square" lIns="0" tIns="0" rIns="0" bIns="0" rtlCol="0" anchor="ctr"/>
          <a:lstStyle/>
          <a:p>
            <a:pPr indent="0" marL="0">
              <a:buNone/>
            </a:pPr>
            <a:r>
              <a:rPr lang="en-US" sz="1250" dirty="0">
                <a:solidFill>
                  <a:srgbClr val="4A5663"/>
                </a:solidFill>
              </a:rPr>
              <a:t>Evasion cost the attack. The probe was doing real work even though it can be evaded.</a:t>
            </a:r>
            <a:endParaRPr lang="en-US" sz="1250" dirty="0"/>
          </a:p>
        </p:txBody>
      </p:sp>
      <p:sp>
        <p:nvSpPr>
          <p:cNvPr id="15" name="outcome-2"/>
          <p:cNvSpPr/>
          <p:nvPr/>
        </p:nvSpPr>
        <p:spPr>
          <a:xfrm>
            <a:off x="566928" y="4297680"/>
            <a:ext cx="11057839" cy="914400"/>
          </a:xfrm>
          <a:prstGeom prst="roundRect">
            <a:avLst>
              <a:gd name="adj" fmla="val 8000"/>
            </a:avLst>
          </a:prstGeom>
          <a:solidFill>
            <a:srgbClr val="EEF1F4"/>
          </a:solidFill>
          <a:ln w="12700">
            <a:solidFill>
              <a:srgbClr val="EEF1F4"/>
            </a:solidFill>
            <a:prstDash val="solid"/>
          </a:ln>
        </p:spPr>
      </p:sp>
      <p:sp>
        <p:nvSpPr>
          <p:cNvPr id="16" name="badge-3"/>
          <p:cNvSpPr/>
          <p:nvPr/>
        </p:nvSpPr>
        <p:spPr>
          <a:xfrm>
            <a:off x="841248" y="4562856"/>
            <a:ext cx="384048" cy="384048"/>
          </a:xfrm>
          <a:prstGeom prst="ellipse">
            <a:avLst/>
          </a:prstGeom>
          <a:solidFill>
            <a:srgbClr val="2E6E8E"/>
          </a:solidFill>
          <a:ln w="12700">
            <a:solidFill>
              <a:srgbClr val="2E6E8E"/>
            </a:solidFill>
            <a:prstDash val="solid"/>
          </a:ln>
        </p:spPr>
      </p:sp>
      <p:sp>
        <p:nvSpPr>
          <p:cNvPr id="17" name="Text 15"/>
          <p:cNvSpPr txBox="1"/>
          <p:nvPr/>
        </p:nvSpPr>
        <p:spPr>
          <a:xfrm>
            <a:off x="841248" y="4562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444752" y="4443984"/>
            <a:ext cx="4114800" cy="329184"/>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Dodges, but the text monitor lights up</a:t>
            </a:r>
            <a:endParaRPr lang="en-US" sz="1500" dirty="0"/>
          </a:p>
        </p:txBody>
      </p:sp>
      <p:sp>
        <p:nvSpPr>
          <p:cNvPr id="19" name="Text 17"/>
          <p:cNvSpPr txBox="1"/>
          <p:nvPr/>
        </p:nvSpPr>
        <p:spPr>
          <a:xfrm>
            <a:off x="1444752" y="4791456"/>
            <a:ext cx="9692640" cy="329184"/>
          </a:xfrm>
          <a:prstGeom prst="rect">
            <a:avLst/>
          </a:prstGeom>
          <a:noFill/>
          <a:ln/>
        </p:spPr>
        <p:txBody>
          <a:bodyPr wrap="square" lIns="0" tIns="0" rIns="0" bIns="0" rtlCol="0" anchor="ctr"/>
          <a:lstStyle/>
          <a:p>
            <a:pPr indent="0" marL="0">
              <a:buNone/>
            </a:pPr>
            <a:r>
              <a:rPr lang="en-US" sz="1250" dirty="0">
                <a:solidFill>
                  <a:srgbClr val="4A5663"/>
                </a:solidFill>
              </a:rPr>
              <a:t>The probe pushed the attack somewhere another defence can see.</a:t>
            </a:r>
            <a:endParaRPr lang="en-US" sz="1250" dirty="0"/>
          </a:p>
        </p:txBody>
      </p:sp>
      <p:sp>
        <p:nvSpPr>
          <p:cNvPr id="20" name="Text 18"/>
          <p:cNvSpPr txBox="1"/>
          <p:nvPr/>
        </p:nvSpPr>
        <p:spPr>
          <a:xfrm>
            <a:off x="566928" y="5522976"/>
            <a:ext cx="11057839" cy="365760"/>
          </a:xfrm>
          <a:prstGeom prst="rect">
            <a:avLst/>
          </a:prstGeom>
          <a:noFill/>
          <a:ln/>
        </p:spPr>
        <p:txBody>
          <a:bodyPr wrap="square" lIns="0" tIns="0" rIns="0" bIns="0" rtlCol="0" anchor="ctr"/>
          <a:lstStyle/>
          <a:p>
            <a:pPr indent="0" marL="0">
              <a:buNone/>
            </a:pPr>
            <a:r>
              <a:rPr lang="en-US" sz="1400" b="1" dirty="0">
                <a:solidFill>
                  <a:srgbClr val="1A2230"/>
                </a:solidFill>
              </a:rPr>
              <a:t>The tax</a:t>
            </a:r>
            <a:pPr indent="0" marL="0">
              <a:buNone/>
            </a:pPr>
            <a:r>
              <a:rPr lang="en-US" sz="1400" dirty="0">
                <a:solidFill>
                  <a:srgbClr val="4A5663"/>
                </a:solidFill>
              </a:rPr>
              <a:t>  is the gap between how fast detection falls and how fast the attack falls.</a:t>
            </a:r>
            <a:endParaRPr lang="en-US" sz="1400" dirty="0"/>
          </a:p>
        </p:txBody>
      </p:sp>
      <p:sp>
        <p:nvSpPr>
          <p:cNvPr id="21"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A fourth pattern was written down as a non-result: detection falling because the model was steered into incoherence.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METHOD</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How the measurement is built</a:t>
            </a:r>
            <a:endParaRPr lang="en-US" sz="2800" dirty="0"/>
          </a:p>
        </p:txBody>
      </p:sp>
      <p:sp>
        <p:nvSpPr>
          <p:cNvPr id="4" name="step-0"/>
          <p:cNvSpPr/>
          <p:nvPr/>
        </p:nvSpPr>
        <p:spPr>
          <a:xfrm>
            <a:off x="566928" y="1481328"/>
            <a:ext cx="3493008" cy="1389888"/>
          </a:xfrm>
          <a:prstGeom prst="roundRect">
            <a:avLst>
              <a:gd name="adj" fmla="val 5263"/>
            </a:avLst>
          </a:prstGeom>
          <a:solidFill>
            <a:srgbClr val="EEF1F4"/>
          </a:solidFill>
          <a:ln w="12700">
            <a:solidFill>
              <a:srgbClr val="EEF1F4"/>
            </a:solidFill>
            <a:prstDash val="solid"/>
          </a:ln>
        </p:spPr>
      </p:sp>
      <p:sp>
        <p:nvSpPr>
          <p:cNvPr id="5" name="badge-1"/>
          <p:cNvSpPr/>
          <p:nvPr/>
        </p:nvSpPr>
        <p:spPr>
          <a:xfrm>
            <a:off x="786384" y="1700784"/>
            <a:ext cx="329184" cy="329184"/>
          </a:xfrm>
          <a:prstGeom prst="ellipse">
            <a:avLst/>
          </a:prstGeom>
          <a:solidFill>
            <a:srgbClr val="1A2230"/>
          </a:solidFill>
          <a:ln w="12700">
            <a:solidFill>
              <a:srgbClr val="1A2230"/>
            </a:solidFill>
            <a:prstDash val="solid"/>
          </a:ln>
        </p:spPr>
      </p:sp>
      <p:sp>
        <p:nvSpPr>
          <p:cNvPr id="6" name="Text 4"/>
          <p:cNvSpPr txBox="1"/>
          <p:nvPr/>
        </p:nvSpPr>
        <p:spPr>
          <a:xfrm>
            <a:off x="786384"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207008"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300 mbpp problems</a:t>
            </a:r>
            <a:endParaRPr lang="en-US" sz="1400" dirty="0"/>
          </a:p>
        </p:txBody>
      </p:sp>
      <p:sp>
        <p:nvSpPr>
          <p:cNvPr id="8" name="Text 6"/>
          <p:cNvSpPr txBox="1"/>
          <p:nvPr/>
        </p:nvSpPr>
        <p:spPr>
          <a:xfrm>
            <a:off x="786384"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Natural-language spec plus a visible test. Scored by running the official tests, so the ground truth is executable.</a:t>
            </a:r>
            <a:endParaRPr lang="en-US" sz="1150" dirty="0"/>
          </a:p>
        </p:txBody>
      </p:sp>
      <p:sp>
        <p:nvSpPr>
          <p:cNvPr id="9" name="step-1"/>
          <p:cNvSpPr/>
          <p:nvPr/>
        </p:nvSpPr>
        <p:spPr>
          <a:xfrm>
            <a:off x="4334256" y="1481328"/>
            <a:ext cx="3493008" cy="1389888"/>
          </a:xfrm>
          <a:prstGeom prst="roundRect">
            <a:avLst>
              <a:gd name="adj" fmla="val 5263"/>
            </a:avLst>
          </a:prstGeom>
          <a:solidFill>
            <a:srgbClr val="EEF1F4"/>
          </a:solidFill>
          <a:ln w="12700">
            <a:solidFill>
              <a:srgbClr val="EEF1F4"/>
            </a:solidFill>
            <a:prstDash val="solid"/>
          </a:ln>
        </p:spPr>
      </p:sp>
      <p:sp>
        <p:nvSpPr>
          <p:cNvPr id="10" name="badge-2"/>
          <p:cNvSpPr/>
          <p:nvPr/>
        </p:nvSpPr>
        <p:spPr>
          <a:xfrm>
            <a:off x="4553712" y="1700784"/>
            <a:ext cx="329184" cy="329184"/>
          </a:xfrm>
          <a:prstGeom prst="ellipse">
            <a:avLst/>
          </a:prstGeom>
          <a:solidFill>
            <a:srgbClr val="1A2230"/>
          </a:solidFill>
          <a:ln w="12700">
            <a:solidFill>
              <a:srgbClr val="1A2230"/>
            </a:solidFill>
            <a:prstDash val="solid"/>
          </a:ln>
        </p:spPr>
      </p:sp>
      <p:sp>
        <p:nvSpPr>
          <p:cNvPr id="11" name="Text 9"/>
          <p:cNvSpPr txBox="1"/>
          <p:nvPr/>
        </p:nvSpPr>
        <p:spPr>
          <a:xfrm>
            <a:off x="4553712"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4974336"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Two prompts per problem</a:t>
            </a:r>
            <a:endParaRPr lang="en-US" sz="1400" dirty="0"/>
          </a:p>
        </p:txBody>
      </p:sp>
      <p:sp>
        <p:nvSpPr>
          <p:cNvPr id="13" name="Text 11"/>
          <p:cNvSpPr txBox="1"/>
          <p:nvPr/>
        </p:nvSpPr>
        <p:spPr>
          <a:xfrm>
            <a:off x="4553712"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Honest, and a sandbagging prompt asking for something subtly wrong that still reads as sincere.</a:t>
            </a:r>
            <a:endParaRPr lang="en-US" sz="1150" dirty="0"/>
          </a:p>
        </p:txBody>
      </p:sp>
      <p:sp>
        <p:nvSpPr>
          <p:cNvPr id="14" name="step-2"/>
          <p:cNvSpPr/>
          <p:nvPr/>
        </p:nvSpPr>
        <p:spPr>
          <a:xfrm>
            <a:off x="8101584" y="1481328"/>
            <a:ext cx="3493008" cy="1389888"/>
          </a:xfrm>
          <a:prstGeom prst="roundRect">
            <a:avLst>
              <a:gd name="adj" fmla="val 5263"/>
            </a:avLst>
          </a:prstGeom>
          <a:solidFill>
            <a:srgbClr val="EEF1F4"/>
          </a:solidFill>
          <a:ln w="12700">
            <a:solidFill>
              <a:srgbClr val="EEF1F4"/>
            </a:solidFill>
            <a:prstDash val="solid"/>
          </a:ln>
        </p:spPr>
      </p:sp>
      <p:sp>
        <p:nvSpPr>
          <p:cNvPr id="15" name="badge-3"/>
          <p:cNvSpPr/>
          <p:nvPr/>
        </p:nvSpPr>
        <p:spPr>
          <a:xfrm>
            <a:off x="8321040" y="1700784"/>
            <a:ext cx="329184" cy="329184"/>
          </a:xfrm>
          <a:prstGeom prst="ellipse">
            <a:avLst/>
          </a:prstGeom>
          <a:solidFill>
            <a:srgbClr val="1A2230"/>
          </a:solidFill>
          <a:ln w="12700">
            <a:solidFill>
              <a:srgbClr val="1A2230"/>
            </a:solidFill>
            <a:prstDash val="solid"/>
          </a:ln>
        </p:spPr>
      </p:sp>
      <p:sp>
        <p:nvSpPr>
          <p:cNvPr id="16" name="Text 14"/>
          <p:cNvSpPr txBox="1"/>
          <p:nvPr/>
        </p:nvSpPr>
        <p:spPr>
          <a:xfrm>
            <a:off x="8321040"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8741664" y="168249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Attack = a flip</a:t>
            </a:r>
            <a:endParaRPr lang="en-US" sz="1400" dirty="0"/>
          </a:p>
        </p:txBody>
      </p:sp>
      <p:sp>
        <p:nvSpPr>
          <p:cNvPr id="18" name="Text 16"/>
          <p:cNvSpPr txBox="1"/>
          <p:nvPr/>
        </p:nvSpPr>
        <p:spPr>
          <a:xfrm>
            <a:off x="8321040" y="206654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Right under the honest prompt and wrong under the sandbagging one, on the same problem. A validity flag keeps breakage out.</a:t>
            </a:r>
            <a:endParaRPr lang="en-US" sz="1150" dirty="0"/>
          </a:p>
        </p:txBody>
      </p:sp>
      <p:sp>
        <p:nvSpPr>
          <p:cNvPr id="19" name="step-3"/>
          <p:cNvSpPr/>
          <p:nvPr/>
        </p:nvSpPr>
        <p:spPr>
          <a:xfrm>
            <a:off x="566928" y="3127248"/>
            <a:ext cx="3493008" cy="1389888"/>
          </a:xfrm>
          <a:prstGeom prst="roundRect">
            <a:avLst>
              <a:gd name="adj" fmla="val 5263"/>
            </a:avLst>
          </a:prstGeom>
          <a:solidFill>
            <a:srgbClr val="EEF1F4"/>
          </a:solidFill>
          <a:ln w="12700">
            <a:solidFill>
              <a:srgbClr val="EEF1F4"/>
            </a:solidFill>
            <a:prstDash val="solid"/>
          </a:ln>
        </p:spPr>
      </p:sp>
      <p:sp>
        <p:nvSpPr>
          <p:cNvPr id="20" name="badge-4"/>
          <p:cNvSpPr/>
          <p:nvPr/>
        </p:nvSpPr>
        <p:spPr>
          <a:xfrm>
            <a:off x="786384" y="3346704"/>
            <a:ext cx="329184" cy="329184"/>
          </a:xfrm>
          <a:prstGeom prst="ellipse">
            <a:avLst/>
          </a:prstGeom>
          <a:solidFill>
            <a:srgbClr val="2E6E8E"/>
          </a:solidFill>
          <a:ln w="12700">
            <a:solidFill>
              <a:srgbClr val="2E6E8E"/>
            </a:solidFill>
            <a:prstDash val="solid"/>
          </a:ln>
        </p:spPr>
      </p:sp>
      <p:sp>
        <p:nvSpPr>
          <p:cNvPr id="21" name="Text 19"/>
          <p:cNvSpPr txBox="1"/>
          <p:nvPr/>
        </p:nvSpPr>
        <p:spPr>
          <a:xfrm>
            <a:off x="786384"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2" name="Text 20"/>
          <p:cNvSpPr txBox="1"/>
          <p:nvPr/>
        </p:nvSpPr>
        <p:spPr>
          <a:xfrm>
            <a:off x="1207008"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Probe at layer 20</a:t>
            </a:r>
            <a:endParaRPr lang="en-US" sz="1400" dirty="0"/>
          </a:p>
        </p:txBody>
      </p:sp>
      <p:sp>
        <p:nvSpPr>
          <p:cNvPr id="23" name="Text 21"/>
          <p:cNvSpPr txBox="1"/>
          <p:nvPr/>
        </p:nvSpPr>
        <p:spPr>
          <a:xfrm>
            <a:off x="786384"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Logistic regression on the residual stream, pooled over answer tokens only, split by problem.</a:t>
            </a:r>
            <a:endParaRPr lang="en-US" sz="1150" dirty="0"/>
          </a:p>
        </p:txBody>
      </p:sp>
      <p:sp>
        <p:nvSpPr>
          <p:cNvPr id="24" name="step-4"/>
          <p:cNvSpPr/>
          <p:nvPr/>
        </p:nvSpPr>
        <p:spPr>
          <a:xfrm>
            <a:off x="4334256" y="3127248"/>
            <a:ext cx="3493008" cy="1389888"/>
          </a:xfrm>
          <a:prstGeom prst="roundRect">
            <a:avLst>
              <a:gd name="adj" fmla="val 5263"/>
            </a:avLst>
          </a:prstGeom>
          <a:solidFill>
            <a:srgbClr val="EEF1F4"/>
          </a:solidFill>
          <a:ln w="12700">
            <a:solidFill>
              <a:srgbClr val="EEF1F4"/>
            </a:solidFill>
            <a:prstDash val="solid"/>
          </a:ln>
        </p:spPr>
      </p:sp>
      <p:sp>
        <p:nvSpPr>
          <p:cNvPr id="25" name="badge-5"/>
          <p:cNvSpPr/>
          <p:nvPr/>
        </p:nvSpPr>
        <p:spPr>
          <a:xfrm>
            <a:off x="4553712" y="3346704"/>
            <a:ext cx="329184" cy="329184"/>
          </a:xfrm>
          <a:prstGeom prst="ellipse">
            <a:avLst/>
          </a:prstGeom>
          <a:solidFill>
            <a:srgbClr val="2E6E8E"/>
          </a:solidFill>
          <a:ln w="12700">
            <a:solidFill>
              <a:srgbClr val="2E6E8E"/>
            </a:solidFill>
            <a:prstDash val="solid"/>
          </a:ln>
        </p:spPr>
      </p:sp>
      <p:sp>
        <p:nvSpPr>
          <p:cNvPr id="26" name="Text 24"/>
          <p:cNvSpPr txBox="1"/>
          <p:nvPr/>
        </p:nvSpPr>
        <p:spPr>
          <a:xfrm>
            <a:off x="4553712"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7" name="Text 25"/>
          <p:cNvSpPr txBox="1"/>
          <p:nvPr/>
        </p:nvSpPr>
        <p:spPr>
          <a:xfrm>
            <a:off x="4974336"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Steer during generation</a:t>
            </a:r>
            <a:endParaRPr lang="en-US" sz="1400" dirty="0"/>
          </a:p>
        </p:txBody>
      </p:sp>
      <p:sp>
        <p:nvSpPr>
          <p:cNvPr id="28" name="Text 26"/>
          <p:cNvSpPr txBox="1"/>
          <p:nvPr/>
        </p:nvSpPr>
        <p:spPr>
          <a:xfrm>
            <a:off x="4553712"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Subtract alpha × unit(w) at every position. Features re-read under the same hook.</a:t>
            </a:r>
            <a:endParaRPr lang="en-US" sz="1150" dirty="0"/>
          </a:p>
        </p:txBody>
      </p:sp>
      <p:sp>
        <p:nvSpPr>
          <p:cNvPr id="29" name="step-5"/>
          <p:cNvSpPr/>
          <p:nvPr/>
        </p:nvSpPr>
        <p:spPr>
          <a:xfrm>
            <a:off x="8101584" y="3127248"/>
            <a:ext cx="3493008" cy="1389888"/>
          </a:xfrm>
          <a:prstGeom prst="roundRect">
            <a:avLst>
              <a:gd name="adj" fmla="val 5263"/>
            </a:avLst>
          </a:prstGeom>
          <a:solidFill>
            <a:srgbClr val="EEF1F4"/>
          </a:solidFill>
          <a:ln w="12700">
            <a:solidFill>
              <a:srgbClr val="EEF1F4"/>
            </a:solidFill>
            <a:prstDash val="solid"/>
          </a:ln>
        </p:spPr>
      </p:sp>
      <p:sp>
        <p:nvSpPr>
          <p:cNvPr id="30" name="badge-6"/>
          <p:cNvSpPr/>
          <p:nvPr/>
        </p:nvSpPr>
        <p:spPr>
          <a:xfrm>
            <a:off x="8321040" y="3346704"/>
            <a:ext cx="329184" cy="329184"/>
          </a:xfrm>
          <a:prstGeom prst="ellipse">
            <a:avLst/>
          </a:prstGeom>
          <a:solidFill>
            <a:srgbClr val="2E6E8E"/>
          </a:solidFill>
          <a:ln w="12700">
            <a:solidFill>
              <a:srgbClr val="2E6E8E"/>
            </a:solidFill>
            <a:prstDash val="solid"/>
          </a:ln>
        </p:spPr>
      </p:sp>
      <p:sp>
        <p:nvSpPr>
          <p:cNvPr id="31" name="Text 29"/>
          <p:cNvSpPr txBox="1"/>
          <p:nvPr/>
        </p:nvSpPr>
        <p:spPr>
          <a:xfrm>
            <a:off x="8321040" y="3346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2" name="Text 30"/>
          <p:cNvSpPr txBox="1"/>
          <p:nvPr/>
        </p:nvSpPr>
        <p:spPr>
          <a:xfrm>
            <a:off x="8741664" y="3328416"/>
            <a:ext cx="2615184" cy="310896"/>
          </a:xfrm>
          <a:prstGeom prst="rect">
            <a:avLst/>
          </a:prstGeom>
          <a:noFill/>
          <a:ln/>
        </p:spPr>
        <p:txBody>
          <a:bodyPr wrap="square" lIns="0" tIns="0" rIns="0" bIns="0" rtlCol="0" anchor="ctr"/>
          <a:lstStyle/>
          <a:p>
            <a:pPr indent="0" marL="0">
              <a:buNone/>
            </a:pPr>
            <a:r>
              <a:rPr lang="en-US" sz="1400" b="1" dirty="0">
                <a:solidFill>
                  <a:srgbClr val="1A2230"/>
                </a:solidFill>
                <a:latin typeface="Cambria" pitchFamily="34" charset="0"/>
                <a:ea typeface="Cambria" pitchFamily="34" charset="-122"/>
                <a:cs typeface="Cambria" pitchFamily="34" charset="-120"/>
              </a:rPr>
              <a:t>Measure four columns</a:t>
            </a:r>
            <a:endParaRPr lang="en-US" sz="1400" dirty="0"/>
          </a:p>
        </p:txBody>
      </p:sp>
      <p:sp>
        <p:nvSpPr>
          <p:cNvPr id="33" name="Text 31"/>
          <p:cNvSpPr txBox="1"/>
          <p:nvPr/>
        </p:nvSpPr>
        <p:spPr>
          <a:xfrm>
            <a:off x="8321040" y="3712464"/>
            <a:ext cx="3054096" cy="731520"/>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Attacked probe, a transfer probe at layer 28 never steered, the accuracy drop, and a text-only monitor.</a:t>
            </a:r>
            <a:endParaRPr lang="en-US" sz="1150" dirty="0"/>
          </a:p>
        </p:txBody>
      </p:sp>
      <p:sp>
        <p:nvSpPr>
          <p:cNvPr id="34" name="gates"/>
          <p:cNvSpPr/>
          <p:nvPr/>
        </p:nvSpPr>
        <p:spPr>
          <a:xfrm>
            <a:off x="566928" y="4736592"/>
            <a:ext cx="11057839" cy="786384"/>
          </a:xfrm>
          <a:prstGeom prst="roundRect">
            <a:avLst>
              <a:gd name="adj" fmla="val 9302"/>
            </a:avLst>
          </a:prstGeom>
          <a:solidFill>
            <a:srgbClr val="15202B"/>
          </a:solidFill>
          <a:ln w="12700">
            <a:solidFill>
              <a:srgbClr val="15202B"/>
            </a:solidFill>
            <a:prstDash val="solid"/>
          </a:ln>
        </p:spPr>
      </p:sp>
      <p:sp>
        <p:nvSpPr>
          <p:cNvPr id="35" name="Text 33"/>
          <p:cNvSpPr txBox="1"/>
          <p:nvPr/>
        </p:nvSpPr>
        <p:spPr>
          <a:xfrm>
            <a:off x="877824" y="4736592"/>
            <a:ext cx="10436047" cy="786384"/>
          </a:xfrm>
          <a:prstGeom prst="rect">
            <a:avLst/>
          </a:prstGeom>
          <a:noFill/>
          <a:ln/>
        </p:spPr>
        <p:txBody>
          <a:bodyPr wrap="square" lIns="0" tIns="0" rIns="0" bIns="0" rtlCol="0" anchor="ctr"/>
          <a:lstStyle/>
          <a:p>
            <a:pPr indent="0" marL="0">
              <a:buNone/>
            </a:pPr>
            <a:r>
              <a:rPr lang="en-US" sz="1400" dirty="0">
                <a:solidFill>
                  <a:srgbClr val="9DADBC"/>
                </a:solidFill>
              </a:rPr>
              <a:t>Gated before any steering runs:  </a:t>
            </a:r>
            <a:pPr indent="0" marL="0">
              <a:buNone/>
            </a:pPr>
            <a:r>
              <a:rPr lang="en-US" sz="1400" b="1" dirty="0">
                <a:solidFill>
                  <a:srgbClr val="FFFFFF"/>
                </a:solidFill>
              </a:rPr>
              <a:t>at least 40 successful attacks</a:t>
            </a:r>
            <a:pPr indent="0" marL="0">
              <a:buNone/>
            </a:pPr>
            <a:r>
              <a:rPr lang="en-US" sz="1400" dirty="0">
                <a:solidFill>
                  <a:srgbClr val="9DADBC"/>
                </a:solidFill>
              </a:rPr>
              <a:t>  and  </a:t>
            </a:r>
            <a:pPr indent="0" marL="0">
              <a:buNone/>
            </a:pPr>
            <a:r>
              <a:rPr lang="en-US" sz="1400" b="1" dirty="0">
                <a:solidFill>
                  <a:srgbClr val="FFFFFF"/>
                </a:solidFill>
              </a:rPr>
              <a:t>a headline AUROC above 0.65</a:t>
            </a:r>
            <a:endParaRPr lang="en-US" sz="1400" dirty="0"/>
          </a:p>
        </p:txBody>
      </p:sp>
      <p:sp>
        <p:nvSpPr>
          <p:cNvPr id="36"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Model: Qwen/Qwen3.5-4B, reasoning off, greedy. Reasoning on costs 68.5 s per generation, 11.4 hours for one pass.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STEPS 1 AND 2</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preconditions, and the first warning we ignored</a:t>
            </a:r>
            <a:endParaRPr lang="en-US" sz="2800" dirty="0"/>
          </a:p>
        </p:txBody>
      </p:sp>
      <p:sp>
        <p:nvSpPr>
          <p:cNvPr id="4" name="pre-0"/>
          <p:cNvSpPr/>
          <p:nvPr/>
        </p:nvSpPr>
        <p:spPr>
          <a:xfrm>
            <a:off x="566928" y="1481328"/>
            <a:ext cx="2633472" cy="1335024"/>
          </a:xfrm>
          <a:prstGeom prst="roundRect">
            <a:avLst>
              <a:gd name="adj" fmla="val 5479"/>
            </a:avLst>
          </a:prstGeom>
          <a:solidFill>
            <a:srgbClr val="EEF1F4"/>
          </a:solidFill>
          <a:ln w="12700">
            <a:solidFill>
              <a:srgbClr val="EEF1F4"/>
            </a:solidFill>
            <a:prstDash val="solid"/>
          </a:ln>
        </p:spPr>
      </p:sp>
      <p:sp>
        <p:nvSpPr>
          <p:cNvPr id="5" name="stat-accuracy drop, 48.7% to 44.0%"/>
          <p:cNvSpPr txBox="1"/>
          <p:nvPr/>
        </p:nvSpPr>
        <p:spPr>
          <a:xfrm>
            <a:off x="804672"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4.67 pts</a:t>
            </a:r>
            <a:endParaRPr lang="en-US" sz="2500" dirty="0"/>
          </a:p>
        </p:txBody>
      </p:sp>
      <p:sp>
        <p:nvSpPr>
          <p:cNvPr id="6" name="Text 4"/>
          <p:cNvSpPr txBox="1"/>
          <p:nvPr/>
        </p:nvSpPr>
        <p:spPr>
          <a:xfrm>
            <a:off x="804672"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accuracy drop, 48.7% to 44.0%</a:t>
            </a:r>
            <a:endParaRPr lang="en-US" sz="1200" dirty="0"/>
          </a:p>
        </p:txBody>
      </p:sp>
      <p:sp>
        <p:nvSpPr>
          <p:cNvPr id="7" name="pre-1"/>
          <p:cNvSpPr/>
          <p:nvPr/>
        </p:nvSpPr>
        <p:spPr>
          <a:xfrm>
            <a:off x="3374136" y="1481328"/>
            <a:ext cx="2633472" cy="1335024"/>
          </a:xfrm>
          <a:prstGeom prst="roundRect">
            <a:avLst>
              <a:gd name="adj" fmla="val 5479"/>
            </a:avLst>
          </a:prstGeom>
          <a:solidFill>
            <a:srgbClr val="EEF1F4"/>
          </a:solidFill>
          <a:ln w="12700">
            <a:solidFill>
              <a:srgbClr val="EEF1F4"/>
            </a:solidFill>
            <a:prstDash val="solid"/>
          </a:ln>
        </p:spPr>
      </p:sp>
      <p:sp>
        <p:nvSpPr>
          <p:cNvPr id="8" name="stat-McNemar, on the paired flips"/>
          <p:cNvSpPr txBox="1"/>
          <p:nvPr/>
        </p:nvSpPr>
        <p:spPr>
          <a:xfrm>
            <a:off x="3611880"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p = 0.092</a:t>
            </a:r>
            <a:endParaRPr lang="en-US" sz="2500" dirty="0"/>
          </a:p>
        </p:txBody>
      </p:sp>
      <p:sp>
        <p:nvSpPr>
          <p:cNvPr id="9" name="Text 7"/>
          <p:cNvSpPr txBox="1"/>
          <p:nvPr/>
        </p:nvSpPr>
        <p:spPr>
          <a:xfrm>
            <a:off x="3611880"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McNemar, on the paired flips</a:t>
            </a:r>
            <a:endParaRPr lang="en-US" sz="1200" dirty="0"/>
          </a:p>
        </p:txBody>
      </p:sp>
      <p:sp>
        <p:nvSpPr>
          <p:cNvPr id="10" name="pre-2"/>
          <p:cNvSpPr/>
          <p:nvPr/>
        </p:nvSpPr>
        <p:spPr>
          <a:xfrm>
            <a:off x="6181344" y="1481328"/>
            <a:ext cx="2633472" cy="1335024"/>
          </a:xfrm>
          <a:prstGeom prst="roundRect">
            <a:avLst>
              <a:gd name="adj" fmla="val 5479"/>
            </a:avLst>
          </a:prstGeom>
          <a:solidFill>
            <a:srgbClr val="EEF1F4"/>
          </a:solidFill>
          <a:ln w="12700">
            <a:solidFill>
              <a:srgbClr val="EEF1F4"/>
            </a:solidFill>
            <a:prstDash val="solid"/>
          </a:ln>
        </p:spPr>
      </p:sp>
      <p:sp>
        <p:nvSpPr>
          <p:cNvPr id="11" name="stat-answerable problems of 300"/>
          <p:cNvSpPr txBox="1"/>
          <p:nvPr/>
        </p:nvSpPr>
        <p:spPr>
          <a:xfrm>
            <a:off x="6419088"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146</a:t>
            </a:r>
            <a:endParaRPr lang="en-US" sz="2500" dirty="0"/>
          </a:p>
        </p:txBody>
      </p:sp>
      <p:sp>
        <p:nvSpPr>
          <p:cNvPr id="12" name="Text 10"/>
          <p:cNvSpPr txBox="1"/>
          <p:nvPr/>
        </p:nvSpPr>
        <p:spPr>
          <a:xfrm>
            <a:off x="6419088"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answerable problems of 300</a:t>
            </a:r>
            <a:endParaRPr lang="en-US" sz="1200" dirty="0"/>
          </a:p>
        </p:txBody>
      </p:sp>
      <p:sp>
        <p:nvSpPr>
          <p:cNvPr id="13" name="pre-3"/>
          <p:cNvSpPr/>
          <p:nvPr/>
        </p:nvSpPr>
        <p:spPr>
          <a:xfrm>
            <a:off x="8988552" y="1481328"/>
            <a:ext cx="2633472" cy="1335024"/>
          </a:xfrm>
          <a:prstGeom prst="roundRect">
            <a:avLst>
              <a:gd name="adj" fmla="val 5479"/>
            </a:avLst>
          </a:prstGeom>
          <a:solidFill>
            <a:srgbClr val="EEF1F4"/>
          </a:solidFill>
          <a:ln w="12700">
            <a:solidFill>
              <a:srgbClr val="EEF1F4"/>
            </a:solidFill>
            <a:prstDash val="solid"/>
          </a:ln>
        </p:spPr>
      </p:sp>
      <p:sp>
        <p:nvSpPr>
          <p:cNvPr id="14" name="stat-attack rate on answerable"/>
          <p:cNvSpPr txBox="1"/>
          <p:nvPr/>
        </p:nvSpPr>
        <p:spPr>
          <a:xfrm>
            <a:off x="9226296" y="1664208"/>
            <a:ext cx="2157984" cy="603504"/>
          </a:xfrm>
          <a:prstGeom prst="rect">
            <a:avLst/>
          </a:prstGeom>
          <a:noFill/>
          <a:ln/>
        </p:spPr>
        <p:txBody>
          <a:bodyPr wrap="square" lIns="0" tIns="0" rIns="0" bIns="0" rtlCol="0" anchor="ctr"/>
          <a:lstStyle/>
          <a:p>
            <a:pPr indent="0" marL="0">
              <a:buNone/>
            </a:pPr>
            <a:r>
              <a:rPr lang="en-US" sz="2500" b="1" dirty="0">
                <a:solidFill>
                  <a:srgbClr val="1A2230"/>
                </a:solidFill>
                <a:latin typeface="Cambria" pitchFamily="34" charset="0"/>
                <a:ea typeface="Cambria" pitchFamily="34" charset="-122"/>
                <a:cs typeface="Cambria" pitchFamily="34" charset="-120"/>
              </a:rPr>
              <a:t>25.3%</a:t>
            </a:r>
            <a:endParaRPr lang="en-US" sz="2500" dirty="0"/>
          </a:p>
        </p:txBody>
      </p:sp>
      <p:sp>
        <p:nvSpPr>
          <p:cNvPr id="15" name="Text 13"/>
          <p:cNvSpPr txBox="1"/>
          <p:nvPr/>
        </p:nvSpPr>
        <p:spPr>
          <a:xfrm>
            <a:off x="9226296" y="2286000"/>
            <a:ext cx="2157984" cy="512064"/>
          </a:xfrm>
          <a:prstGeom prst="rect">
            <a:avLst/>
          </a:prstGeom>
          <a:noFill/>
          <a:ln/>
        </p:spPr>
        <p:txBody>
          <a:bodyPr wrap="square" lIns="0" tIns="0" rIns="0" bIns="0" rtlCol="0" anchor="ctr"/>
          <a:lstStyle/>
          <a:p>
            <a:pPr indent="0" marL="0">
              <a:buNone/>
            </a:pPr>
            <a:r>
              <a:rPr lang="en-US" sz="1200" dirty="0">
                <a:solidFill>
                  <a:srgbClr val="4A5663"/>
                </a:solidFill>
              </a:rPr>
              <a:t>attack rate on answerable</a:t>
            </a:r>
            <a:endParaRPr lang="en-US" sz="1200" dirty="0"/>
          </a:p>
        </p:txBody>
      </p:sp>
      <p:sp>
        <p:nvSpPr>
          <p:cNvPr id="16" name="gate-fail"/>
          <p:cNvSpPr/>
          <p:nvPr/>
        </p:nvSpPr>
        <p:spPr>
          <a:xfrm>
            <a:off x="566928" y="3035808"/>
            <a:ext cx="5394960" cy="2286000"/>
          </a:xfrm>
          <a:prstGeom prst="roundRect">
            <a:avLst>
              <a:gd name="adj" fmla="val 3200"/>
            </a:avLst>
          </a:prstGeom>
          <a:solidFill>
            <a:srgbClr val="F7E9E1"/>
          </a:solidFill>
          <a:ln w="12700">
            <a:solidFill>
              <a:srgbClr val="F7E9E1"/>
            </a:solidFill>
            <a:prstDash val="solid"/>
          </a:ln>
        </p:spPr>
      </p:sp>
      <p:sp>
        <p:nvSpPr>
          <p:cNvPr id="17" name="Text 15"/>
          <p:cNvSpPr txBox="1"/>
          <p:nvPr/>
        </p:nvSpPr>
        <p:spPr>
          <a:xfrm>
            <a:off x="877824" y="3236976"/>
            <a:ext cx="4754880" cy="365760"/>
          </a:xfrm>
          <a:prstGeom prst="rect">
            <a:avLst/>
          </a:prstGeom>
          <a:noFill/>
          <a:ln/>
        </p:spPr>
        <p:txBody>
          <a:bodyPr wrap="square" lIns="0" tIns="0" rIns="0" bIns="0" rtlCol="0" anchor="ctr"/>
          <a:lstStyle/>
          <a:p>
            <a:pPr indent="0" marL="0">
              <a:buNone/>
            </a:pPr>
            <a:r>
              <a:rPr lang="en-US" sz="1900" b="1" dirty="0">
                <a:solidFill>
                  <a:srgbClr val="C2541B"/>
                </a:solidFill>
                <a:latin typeface="Cambria" pitchFamily="34" charset="0"/>
                <a:ea typeface="Cambria" pitchFamily="34" charset="-122"/>
                <a:cs typeface="Cambria" pitchFamily="34" charset="-120"/>
              </a:rPr>
              <a:t>The gate failed</a:t>
            </a:r>
            <a:endParaRPr lang="en-US" sz="1900" dirty="0"/>
          </a:p>
        </p:txBody>
      </p:sp>
      <p:sp>
        <p:nvSpPr>
          <p:cNvPr id="18" name="Text 16"/>
          <p:cNvSpPr txBox="1"/>
          <p:nvPr/>
        </p:nvSpPr>
        <p:spPr>
          <a:xfrm>
            <a:off x="877824" y="3675888"/>
            <a:ext cx="4754880" cy="786384"/>
          </a:xfrm>
          <a:prstGeom prst="rect">
            <a:avLst/>
          </a:prstGeom>
          <a:noFill/>
          <a:ln/>
        </p:spPr>
        <p:txBody>
          <a:bodyPr wrap="square" lIns="0" tIns="0" rIns="0" bIns="0" rtlCol="0" anchor="ctr"/>
          <a:lstStyle/>
          <a:p>
            <a:pPr indent="0" marL="0">
              <a:buNone/>
            </a:pPr>
            <a:r>
              <a:rPr lang="en-US" sz="4000" b="1" dirty="0">
                <a:solidFill>
                  <a:srgbClr val="C2541B"/>
                </a:solidFill>
                <a:latin typeface="Cambria" pitchFamily="34" charset="0"/>
                <a:ea typeface="Cambria" pitchFamily="34" charset="-122"/>
                <a:cs typeface="Cambria" pitchFamily="34" charset="-120"/>
              </a:rPr>
              <a:t>37</a:t>
            </a:r>
            <a:pPr indent="0" marL="0">
              <a:buNone/>
            </a:pPr>
            <a:r>
              <a:rPr lang="en-US" sz="1400" dirty="0">
                <a:solidFill>
                  <a:srgbClr val="4A5663"/>
                </a:solidFill>
              </a:rPr>
              <a:t>  successful attacks against a minimum of 40.</a:t>
            </a:r>
            <a:endParaRPr lang="en-US" sz="4000" dirty="0"/>
          </a:p>
        </p:txBody>
      </p:sp>
      <p:sp>
        <p:nvSpPr>
          <p:cNvPr id="19" name="Text 17"/>
          <p:cNvSpPr txBox="1"/>
          <p:nvPr/>
        </p:nvSpPr>
        <p:spPr>
          <a:xfrm>
            <a:off x="877824" y="4517136"/>
            <a:ext cx="4754880" cy="749808"/>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The sweep ran anyway, on a held-out half holding 20 of those 37. Every confidence interval in this deck is wide because of that.</a:t>
            </a:r>
            <a:endParaRPr lang="en-US" sz="1250" dirty="0"/>
          </a:p>
        </p:txBody>
      </p:sp>
      <p:sp>
        <p:nvSpPr>
          <p:cNvPr id="20" name="grid-warn"/>
          <p:cNvSpPr/>
          <p:nvPr/>
        </p:nvSpPr>
        <p:spPr>
          <a:xfrm>
            <a:off x="6236208" y="3035808"/>
            <a:ext cx="5385816" cy="2286000"/>
          </a:xfrm>
          <a:prstGeom prst="roundRect">
            <a:avLst>
              <a:gd name="adj" fmla="val 3200"/>
            </a:avLst>
          </a:prstGeom>
          <a:solidFill>
            <a:srgbClr val="EEF1F4"/>
          </a:solidFill>
          <a:ln w="12700">
            <a:solidFill>
              <a:srgbClr val="EEF1F4"/>
            </a:solidFill>
            <a:prstDash val="solid"/>
          </a:ln>
        </p:spPr>
      </p:sp>
      <p:sp>
        <p:nvSpPr>
          <p:cNvPr id="21" name="Text 19"/>
          <p:cNvSpPr txBox="1"/>
          <p:nvPr/>
        </p:nvSpPr>
        <p:spPr>
          <a:xfrm>
            <a:off x="6547104" y="3236976"/>
            <a:ext cx="4754880" cy="365760"/>
          </a:xfrm>
          <a:prstGeom prst="rect">
            <a:avLst/>
          </a:prstGeom>
          <a:noFill/>
          <a:ln/>
        </p:spPr>
        <p:txBody>
          <a:bodyPr wrap="square" lIns="0" tIns="0" rIns="0" bIns="0" rtlCol="0" anchor="ctr"/>
          <a:lstStyle/>
          <a:p>
            <a:pPr indent="0" marL="0">
              <a:buNone/>
            </a:pPr>
            <a:r>
              <a:rPr lang="en-US" sz="1900" b="1" dirty="0">
                <a:solidFill>
                  <a:srgbClr val="1A2230"/>
                </a:solidFill>
                <a:latin typeface="Cambria" pitchFamily="34" charset="0"/>
                <a:ea typeface="Cambria" pitchFamily="34" charset="-122"/>
                <a:cs typeface="Cambria" pitchFamily="34" charset="-120"/>
              </a:rPr>
              <a:t>The second warning</a:t>
            </a:r>
            <a:endParaRPr lang="en-US" sz="1900" dirty="0"/>
          </a:p>
        </p:txBody>
      </p:sp>
      <p:sp>
        <p:nvSpPr>
          <p:cNvPr id="22" name="Text 20"/>
          <p:cNvSpPr txBox="1"/>
          <p:nvPr/>
        </p:nvSpPr>
        <p:spPr>
          <a:xfrm>
            <a:off x="6547104" y="3675888"/>
            <a:ext cx="4754880" cy="786384"/>
          </a:xfrm>
          <a:prstGeom prst="rect">
            <a:avLst/>
          </a:prstGeom>
          <a:noFill/>
          <a:ln/>
        </p:spPr>
        <p:txBody>
          <a:bodyPr wrap="square" lIns="0" tIns="0" rIns="0" bIns="0" rtlCol="0" anchor="ctr"/>
          <a:lstStyle/>
          <a:p>
            <a:pPr indent="0" marL="0">
              <a:buNone/>
            </a:pPr>
            <a:r>
              <a:rPr lang="en-US" sz="4000" b="1" dirty="0">
                <a:solidFill>
                  <a:srgbClr val="1A2230"/>
                </a:solidFill>
                <a:latin typeface="Cambria" pitchFamily="34" charset="0"/>
                <a:ea typeface="Cambria" pitchFamily="34" charset="-122"/>
                <a:cs typeface="Cambria" pitchFamily="34" charset="-120"/>
              </a:rPr>
              <a:t>1.000</a:t>
            </a:r>
            <a:pPr indent="0" marL="0">
              <a:buNone/>
            </a:pPr>
            <a:r>
              <a:rPr lang="en-US" sz="1400" dirty="0">
                <a:solidFill>
                  <a:srgbClr val="4A5663"/>
                </a:solidFill>
              </a:rPr>
              <a:t>  at every layer and every pooling.</a:t>
            </a:r>
            <a:endParaRPr lang="en-US" sz="4000" dirty="0"/>
          </a:p>
        </p:txBody>
      </p:sp>
      <p:sp>
        <p:nvSpPr>
          <p:cNvPr id="23" name="Text 21"/>
          <p:cNvSpPr txBox="1"/>
          <p:nvPr/>
        </p:nvSpPr>
        <p:spPr>
          <a:xfrm>
            <a:off x="6547104" y="4517136"/>
            <a:ext cx="4754880" cy="749808"/>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A grid where every entry is perfect cannot tell you which layer to attack, so the choice of layer 20 was effectively arbitrary.</a:t>
            </a:r>
            <a:endParaRPr lang="en-US" sz="1250" dirty="0"/>
          </a:p>
        </p:txBody>
      </p:sp>
      <p:sp>
        <p:nvSpPr>
          <p:cNvPr id="24"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Source: results/pre_qwen35_4b_thinking_off_summary.json</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CONTROLS</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Two of three controls failed</a:t>
            </a:r>
            <a:endParaRPr lang="en-US" sz="2800" dirty="0"/>
          </a:p>
        </p:txBody>
      </p:sp>
      <p:graphicFrame>
        <p:nvGraphicFramePr>
          <p:cNvPr id="7" name="controls-table"/>
          <p:cNvGraphicFramePr>
            <a:graphicFrameLocks noGrp="1"/>
          </p:cNvGraphicFramePr>
          <p:nvPr>
            <p:extLst>
              <p:ext uri="{D42A27DB-BD31-4B8C-83A1-F6EECF244321}">
                <p14:modId xmlns:p14="http://schemas.microsoft.com/office/powerpoint/2010/main" val="1579011935"/>
              </p:ext>
            </p:extLst>
          </p:nvPr>
        </p:nvGraphicFramePr>
        <p:xfrm>
          <a:off x="566928" y="1481328"/>
          <a:ext cx="6035040" cy="914400"/>
        </p:xfrm>
        <a:graphic>
          <a:graphicData uri="http://schemas.openxmlformats.org/drawingml/2006/table">
            <a:tbl>
              <a:tblPr/>
              <a:tblGrid>
                <a:gridCol w="2834640"/>
                <a:gridCol w="1097280"/>
                <a:gridCol w="1188720"/>
                <a:gridCol w="914400"/>
              </a:tblGrid>
              <a:tr h="347472">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Wanted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Headline: honest-correct vs attack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37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Text only</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Answer length alone</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0.672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35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Prompt, not behaviour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C2541B"/>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109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47472">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Wrongness, not intent</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0.789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146 / 154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6B7A88"/>
                          </a:solidFill>
                          <a:latin typeface="Calibri" pitchFamily="34" charset="0"/>
                          <a:ea typeface="Calibri" pitchFamily="34" charset="-122"/>
                          <a:cs typeface="Calibri" pitchFamily="34" charset="-120"/>
                        </a:rPr>
                        <a:t>near 0.5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5" name="means"/>
          <p:cNvSpPr/>
          <p:nvPr/>
        </p:nvSpPr>
        <p:spPr>
          <a:xfrm>
            <a:off x="6967728" y="1481328"/>
            <a:ext cx="4654296" cy="2157984"/>
          </a:xfrm>
          <a:prstGeom prst="roundRect">
            <a:avLst>
              <a:gd name="adj" fmla="val 3390"/>
            </a:avLst>
          </a:prstGeom>
          <a:solidFill>
            <a:srgbClr val="EEF1F4"/>
          </a:solidFill>
          <a:ln w="12700">
            <a:solidFill>
              <a:srgbClr val="EEF1F4"/>
            </a:solidFill>
            <a:prstDash val="solid"/>
          </a:ln>
        </p:spPr>
      </p:sp>
      <p:sp>
        <p:nvSpPr>
          <p:cNvPr id="6" name="Text 3"/>
          <p:cNvSpPr txBox="1"/>
          <p:nvPr/>
        </p:nvSpPr>
        <p:spPr>
          <a:xfrm>
            <a:off x="7242048" y="1664208"/>
            <a:ext cx="4114800" cy="274320"/>
          </a:xfrm>
          <a:prstGeom prst="rect">
            <a:avLst/>
          </a:prstGeom>
          <a:noFill/>
          <a:ln/>
        </p:spPr>
        <p:txBody>
          <a:bodyPr wrap="square" lIns="0" tIns="0" rIns="0" bIns="0" rtlCol="0" anchor="ctr"/>
          <a:lstStyle/>
          <a:p>
            <a:pPr indent="0" marL="0">
              <a:buNone/>
            </a:pPr>
            <a:r>
              <a:rPr lang="en-US" sz="1200" b="1" dirty="0">
                <a:solidFill>
                  <a:srgbClr val="6B7A88"/>
                </a:solidFill>
              </a:rPr>
              <a:t>Group means at layer 20</a:t>
            </a:r>
            <a:endParaRPr lang="en-US" sz="1200" dirty="0"/>
          </a:p>
        </p:txBody>
      </p:sp>
      <p:sp>
        <p:nvSpPr>
          <p:cNvPr id="7" name="Text 4"/>
          <p:cNvSpPr txBox="1"/>
          <p:nvPr/>
        </p:nvSpPr>
        <p:spPr>
          <a:xfrm>
            <a:off x="7242048" y="2029968"/>
            <a:ext cx="3017520" cy="310896"/>
          </a:xfrm>
          <a:prstGeom prst="rect">
            <a:avLst/>
          </a:prstGeom>
          <a:noFill/>
          <a:ln/>
        </p:spPr>
        <p:txBody>
          <a:bodyPr wrap="square" lIns="0" tIns="0" rIns="0" bIns="0" rtlCol="0" anchor="ctr"/>
          <a:lstStyle/>
          <a:p>
            <a:pPr indent="0" marL="0">
              <a:buNone/>
            </a:pPr>
            <a:r>
              <a:rPr lang="en-US" sz="1250" dirty="0">
                <a:solidFill>
                  <a:srgbClr val="4A5663"/>
                </a:solidFill>
              </a:rPr>
              <a:t>attack</a:t>
            </a:r>
            <a:endParaRPr lang="en-US" sz="1250" dirty="0"/>
          </a:p>
        </p:txBody>
      </p:sp>
      <p:sp>
        <p:nvSpPr>
          <p:cNvPr id="8" name="Text 5"/>
          <p:cNvSpPr txBox="1"/>
          <p:nvPr/>
        </p:nvSpPr>
        <p:spPr>
          <a:xfrm>
            <a:off x="10259568" y="2029968"/>
            <a:ext cx="1005840" cy="310896"/>
          </a:xfrm>
          <a:prstGeom prst="rect">
            <a:avLst/>
          </a:prstGeom>
          <a:noFill/>
          <a:ln/>
        </p:spPr>
        <p:txBody>
          <a:bodyPr wrap="square" lIns="0" tIns="0" rIns="0" bIns="0" rtlCol="0" anchor="ctr"/>
          <a:lstStyle/>
          <a:p>
            <a:pPr algn="r" indent="0" marL="0">
              <a:buNone/>
            </a:pPr>
            <a:r>
              <a:rPr lang="en-US" sz="1350" b="1" dirty="0">
                <a:solidFill>
                  <a:srgbClr val="C2541B"/>
                </a:solidFill>
              </a:rPr>
              <a:t>+7.92</a:t>
            </a:r>
            <a:endParaRPr lang="en-US" sz="1350" dirty="0"/>
          </a:p>
        </p:txBody>
      </p:sp>
      <p:sp>
        <p:nvSpPr>
          <p:cNvPr id="9" name="Text 6"/>
          <p:cNvSpPr txBox="1"/>
          <p:nvPr/>
        </p:nvSpPr>
        <p:spPr>
          <a:xfrm>
            <a:off x="7242048" y="2395728"/>
            <a:ext cx="3017520" cy="310896"/>
          </a:xfrm>
          <a:prstGeom prst="rect">
            <a:avLst/>
          </a:prstGeom>
          <a:noFill/>
          <a:ln/>
        </p:spPr>
        <p:txBody>
          <a:bodyPr wrap="square" lIns="0" tIns="0" rIns="0" bIns="0" rtlCol="0" anchor="ctr"/>
          <a:lstStyle/>
          <a:p>
            <a:pPr indent="0" marL="0">
              <a:buNone/>
            </a:pPr>
            <a:r>
              <a:rPr lang="en-US" sz="1250" dirty="0">
                <a:solidFill>
                  <a:srgbClr val="4A5663"/>
                </a:solidFill>
              </a:rPr>
              <a:t>sandbag-prompted, still correct</a:t>
            </a:r>
            <a:endParaRPr lang="en-US" sz="1250" dirty="0"/>
          </a:p>
        </p:txBody>
      </p:sp>
      <p:sp>
        <p:nvSpPr>
          <p:cNvPr id="10" name="Text 7"/>
          <p:cNvSpPr txBox="1"/>
          <p:nvPr/>
        </p:nvSpPr>
        <p:spPr>
          <a:xfrm>
            <a:off x="10259568" y="2395728"/>
            <a:ext cx="1005840" cy="310896"/>
          </a:xfrm>
          <a:prstGeom prst="rect">
            <a:avLst/>
          </a:prstGeom>
          <a:noFill/>
          <a:ln/>
        </p:spPr>
        <p:txBody>
          <a:bodyPr wrap="square" lIns="0" tIns="0" rIns="0" bIns="0" rtlCol="0" anchor="ctr"/>
          <a:lstStyle/>
          <a:p>
            <a:pPr algn="r" indent="0" marL="0">
              <a:buNone/>
            </a:pPr>
            <a:r>
              <a:rPr lang="en-US" sz="1350" b="1" dirty="0">
                <a:solidFill>
                  <a:srgbClr val="C2541B"/>
                </a:solidFill>
              </a:rPr>
              <a:t>+7.74</a:t>
            </a:r>
            <a:endParaRPr lang="en-US" sz="1350" dirty="0"/>
          </a:p>
        </p:txBody>
      </p:sp>
      <p:sp>
        <p:nvSpPr>
          <p:cNvPr id="11" name="Text 8"/>
          <p:cNvSpPr txBox="1"/>
          <p:nvPr/>
        </p:nvSpPr>
        <p:spPr>
          <a:xfrm>
            <a:off x="7242048" y="2761488"/>
            <a:ext cx="3017520" cy="310896"/>
          </a:xfrm>
          <a:prstGeom prst="rect">
            <a:avLst/>
          </a:prstGeom>
          <a:noFill/>
          <a:ln/>
        </p:spPr>
        <p:txBody>
          <a:bodyPr wrap="square" lIns="0" tIns="0" rIns="0" bIns="0" rtlCol="0" anchor="ctr"/>
          <a:lstStyle/>
          <a:p>
            <a:pPr indent="0" marL="0">
              <a:buNone/>
            </a:pPr>
            <a:r>
              <a:rPr lang="en-US" sz="1250" dirty="0">
                <a:solidFill>
                  <a:srgbClr val="4A5663"/>
                </a:solidFill>
              </a:rPr>
              <a:t>honest, correct</a:t>
            </a:r>
            <a:endParaRPr lang="en-US" sz="1250" dirty="0"/>
          </a:p>
        </p:txBody>
      </p:sp>
      <p:sp>
        <p:nvSpPr>
          <p:cNvPr id="12" name="Text 9"/>
          <p:cNvSpPr txBox="1"/>
          <p:nvPr/>
        </p:nvSpPr>
        <p:spPr>
          <a:xfrm>
            <a:off x="10259568" y="2761488"/>
            <a:ext cx="1005840" cy="310896"/>
          </a:xfrm>
          <a:prstGeom prst="rect">
            <a:avLst/>
          </a:prstGeom>
          <a:noFill/>
          <a:ln/>
        </p:spPr>
        <p:txBody>
          <a:bodyPr wrap="square" lIns="0" tIns="0" rIns="0" bIns="0" rtlCol="0" anchor="ctr"/>
          <a:lstStyle/>
          <a:p>
            <a:pPr algn="r" indent="0" marL="0">
              <a:buNone/>
            </a:pPr>
            <a:r>
              <a:rPr lang="en-US" sz="1350" b="1" dirty="0">
                <a:solidFill>
                  <a:srgbClr val="2E6E8E"/>
                </a:solidFill>
              </a:rPr>
              <a:t>−7.71</a:t>
            </a:r>
            <a:endParaRPr lang="en-US" sz="1350" dirty="0"/>
          </a:p>
        </p:txBody>
      </p:sp>
      <p:sp>
        <p:nvSpPr>
          <p:cNvPr id="13" name="Text 10"/>
          <p:cNvSpPr txBox="1"/>
          <p:nvPr/>
        </p:nvSpPr>
        <p:spPr>
          <a:xfrm>
            <a:off x="7242048" y="3127248"/>
            <a:ext cx="3017520" cy="310896"/>
          </a:xfrm>
          <a:prstGeom prst="rect">
            <a:avLst/>
          </a:prstGeom>
          <a:noFill/>
          <a:ln/>
        </p:spPr>
        <p:txBody>
          <a:bodyPr wrap="square" lIns="0" tIns="0" rIns="0" bIns="0" rtlCol="0" anchor="ctr"/>
          <a:lstStyle/>
          <a:p>
            <a:pPr indent="0" marL="0">
              <a:buNone/>
            </a:pPr>
            <a:r>
              <a:rPr lang="en-US" sz="1250" dirty="0">
                <a:solidFill>
                  <a:srgbClr val="4A5663"/>
                </a:solidFill>
              </a:rPr>
              <a:t>honest, wrong</a:t>
            </a:r>
            <a:endParaRPr lang="en-US" sz="1250" dirty="0"/>
          </a:p>
        </p:txBody>
      </p:sp>
      <p:sp>
        <p:nvSpPr>
          <p:cNvPr id="14" name="Text 11"/>
          <p:cNvSpPr txBox="1"/>
          <p:nvPr/>
        </p:nvSpPr>
        <p:spPr>
          <a:xfrm>
            <a:off x="10259568" y="3127248"/>
            <a:ext cx="1005840" cy="310896"/>
          </a:xfrm>
          <a:prstGeom prst="rect">
            <a:avLst/>
          </a:prstGeom>
          <a:noFill/>
          <a:ln/>
        </p:spPr>
        <p:txBody>
          <a:bodyPr wrap="square" lIns="0" tIns="0" rIns="0" bIns="0" rtlCol="0" anchor="ctr"/>
          <a:lstStyle/>
          <a:p>
            <a:pPr algn="r" indent="0" marL="0">
              <a:buNone/>
            </a:pPr>
            <a:r>
              <a:rPr lang="en-US" sz="1350" b="1" dirty="0">
                <a:solidFill>
                  <a:srgbClr val="2E6E8E"/>
                </a:solidFill>
              </a:rPr>
              <a:t>−5.41</a:t>
            </a:r>
            <a:endParaRPr lang="en-US" sz="1350" dirty="0"/>
          </a:p>
        </p:txBody>
      </p:sp>
      <p:sp>
        <p:nvSpPr>
          <p:cNvPr id="15" name="verdict-controls"/>
          <p:cNvSpPr/>
          <p:nvPr/>
        </p:nvSpPr>
        <p:spPr>
          <a:xfrm>
            <a:off x="566928" y="3877056"/>
            <a:ext cx="11057839" cy="1481328"/>
          </a:xfrm>
          <a:prstGeom prst="roundRect">
            <a:avLst>
              <a:gd name="adj" fmla="val 4938"/>
            </a:avLst>
          </a:prstGeom>
          <a:solidFill>
            <a:srgbClr val="15202B"/>
          </a:solidFill>
          <a:ln w="12700">
            <a:solidFill>
              <a:srgbClr val="15202B"/>
            </a:solidFill>
            <a:prstDash val="solid"/>
          </a:ln>
        </p:spPr>
      </p:sp>
      <p:sp>
        <p:nvSpPr>
          <p:cNvPr id="16" name="Text 13"/>
          <p:cNvSpPr txBox="1"/>
          <p:nvPr/>
        </p:nvSpPr>
        <p:spPr>
          <a:xfrm>
            <a:off x="896112" y="4078224"/>
            <a:ext cx="10399471"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The probe was reading which prompt was used, and never the sabotage</a:t>
            </a:r>
            <a:endParaRPr lang="en-US" sz="1900" dirty="0"/>
          </a:p>
        </p:txBody>
      </p:sp>
      <p:sp>
        <p:nvSpPr>
          <p:cNvPr id="17" name="Text 14"/>
          <p:cNvSpPr txBox="1"/>
          <p:nvPr/>
        </p:nvSpPr>
        <p:spPr>
          <a:xfrm>
            <a:off x="896112" y="4535424"/>
            <a:ext cx="10399471" cy="786384"/>
          </a:xfrm>
          <a:prstGeom prst="rect">
            <a:avLst/>
          </a:prstGeom>
          <a:noFill/>
          <a:ln/>
        </p:spPr>
        <p:txBody>
          <a:bodyPr wrap="square" lIns="0" tIns="0" rIns="0" bIns="0" rtlCol="0" anchor="ctr"/>
          <a:lstStyle/>
          <a:p>
            <a:pPr indent="0" marL="0">
              <a:lnSpc>
                <a:spcPct val="120000"/>
              </a:lnSpc>
              <a:buNone/>
            </a:pPr>
            <a:r>
              <a:rPr lang="en-US" sz="1250" dirty="0">
                <a:solidFill>
                  <a:srgbClr val="9DADBC"/>
                </a:solidFill>
              </a:rPr>
              <a:t>An attack and a sandbag-prompted answer that came out correct sit 0.18 apart on a scale spanning 15.6. Hold the prompt constant and the same cell drops from 1.000 to 0.644, against a shuffled-label null that reaches 0.634. Answer length does much of the rest: 0.672 across prompts, 0.516 within. We noted the control and continued, because the headline was 1.000 and the attack machinery was already built.</a:t>
            </a:r>
            <a:endParaRPr lang="en-US" sz="1250" dirty="0"/>
          </a:p>
        </p:txBody>
      </p:sp>
      <p:sp>
        <p:nvSpPr>
          <p:cNvPr id="1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Mean answer tokens: honest-correct 43.8, sabotaged 59.1, instruction ignored 57.1. Mean pooling sees length.</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STEPS 4 AND 5</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sweep, and ten minutes of thinking we had a result</a:t>
            </a:r>
            <a:endParaRPr lang="en-US" sz="2800" dirty="0"/>
          </a:p>
        </p:txBody>
      </p:sp>
      <p:graphicFrame>
        <p:nvGraphicFramePr>
          <p:cNvPr id="8" name="sweep-table"/>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1005840"/>
                <a:gridCol w="1691640"/>
                <a:gridCol w="1783080"/>
                <a:gridCol w="1965960"/>
                <a:gridCol w="1463040"/>
                <a:gridCol w="1316736"/>
                <a:gridCol w="1828800"/>
              </a:tblGrid>
              <a:tr h="420624">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probe L20</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transfer L28</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accuracy drop</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monitor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valid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6B7A88"/>
                          </a:solidFill>
                          <a:latin typeface="Calibri" pitchFamily="34" charset="0"/>
                          <a:ea typeface="Calibri" pitchFamily="34" charset="-122"/>
                          <a:cs typeface="Calibri" pitchFamily="34" charset="-120"/>
                        </a:rPr>
                        <a:t>mean probe score</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+8.04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0.288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0.342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0.131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−6.16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0.718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0.117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−20.14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b="1" dirty="0">
                          <a:solidFill>
                            <a:srgbClr val="C2541B"/>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0.274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0.126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algn="l" indent="0" marL="0">
                        <a:buNone/>
                      </a:pPr>
                      <a:r>
                        <a:rPr lang="en-US" sz="1300" dirty="0">
                          <a:solidFill>
                            <a:srgbClr val="6B7A88"/>
                          </a:solidFill>
                          <a:latin typeface="Calibri" pitchFamily="34" charset="0"/>
                          <a:ea typeface="Calibri" pitchFamily="34" charset="-122"/>
                          <a:cs typeface="Calibri" pitchFamily="34" charset="-120"/>
                        </a:rPr>
                        <a:t>−48.60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5" name="read-0"/>
          <p:cNvSpPr/>
          <p:nvPr/>
        </p:nvSpPr>
        <p:spPr>
          <a:xfrm>
            <a:off x="566928" y="4718304"/>
            <a:ext cx="2633472" cy="987552"/>
          </a:xfrm>
          <a:prstGeom prst="roundRect">
            <a:avLst>
              <a:gd name="adj" fmla="val 7407"/>
            </a:avLst>
          </a:prstGeom>
          <a:solidFill>
            <a:srgbClr val="EEF1F4"/>
          </a:solidFill>
          <a:ln w="12700">
            <a:solidFill>
              <a:srgbClr val="EEF1F4"/>
            </a:solidFill>
            <a:prstDash val="solid"/>
          </a:ln>
        </p:spPr>
      </p:sp>
      <p:sp>
        <p:nvSpPr>
          <p:cNvPr id="6" name="Text 3"/>
          <p:cNvSpPr txBox="1"/>
          <p:nvPr/>
        </p:nvSpPr>
        <p:spPr>
          <a:xfrm>
            <a:off x="786384"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Detection collapses</a:t>
            </a:r>
            <a:endParaRPr lang="en-US" sz="1300" dirty="0"/>
          </a:p>
        </p:txBody>
      </p:sp>
      <p:sp>
        <p:nvSpPr>
          <p:cNvPr id="7" name="Text 4"/>
          <p:cNvSpPr txBox="1"/>
          <p:nvPr/>
        </p:nvSpPr>
        <p:spPr>
          <a:xfrm>
            <a:off x="786384" y="5212080"/>
            <a:ext cx="2194560" cy="274320"/>
          </a:xfrm>
          <a:prstGeom prst="rect">
            <a:avLst/>
          </a:prstGeom>
          <a:noFill/>
          <a:ln/>
        </p:spPr>
        <p:txBody>
          <a:bodyPr wrap="square" lIns="0" tIns="0" rIns="0" bIns="0" rtlCol="0" anchor="ctr"/>
          <a:lstStyle/>
          <a:p>
            <a:pPr indent="0" marL="0">
              <a:buNone/>
            </a:pPr>
            <a:r>
              <a:rPr lang="en-US" sz="1200" dirty="0">
                <a:solidFill>
                  <a:srgbClr val="C2541B"/>
                </a:solidFill>
              </a:rPr>
              <a:t>1.000 → 0.000</a:t>
            </a:r>
            <a:endParaRPr lang="en-US" sz="1200" dirty="0"/>
          </a:p>
        </p:txBody>
      </p:sp>
      <p:sp>
        <p:nvSpPr>
          <p:cNvPr id="8" name="read-1"/>
          <p:cNvSpPr/>
          <p:nvPr/>
        </p:nvSpPr>
        <p:spPr>
          <a:xfrm>
            <a:off x="3374136" y="4718304"/>
            <a:ext cx="2633472" cy="987552"/>
          </a:xfrm>
          <a:prstGeom prst="roundRect">
            <a:avLst>
              <a:gd name="adj" fmla="val 7407"/>
            </a:avLst>
          </a:prstGeom>
          <a:solidFill>
            <a:srgbClr val="EEF1F4"/>
          </a:solidFill>
          <a:ln w="12700">
            <a:solidFill>
              <a:srgbClr val="EEF1F4"/>
            </a:solidFill>
            <a:prstDash val="solid"/>
          </a:ln>
        </p:spPr>
      </p:sp>
      <p:sp>
        <p:nvSpPr>
          <p:cNvPr id="9" name="Text 6"/>
          <p:cNvSpPr txBox="1"/>
          <p:nvPr/>
        </p:nvSpPr>
        <p:spPr>
          <a:xfrm>
            <a:off x="3593592"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The attack survives</a:t>
            </a:r>
            <a:endParaRPr lang="en-US" sz="1300" dirty="0"/>
          </a:p>
        </p:txBody>
      </p:sp>
      <p:sp>
        <p:nvSpPr>
          <p:cNvPr id="10" name="Text 7"/>
          <p:cNvSpPr txBox="1"/>
          <p:nvPr/>
        </p:nvSpPr>
        <p:spPr>
          <a:xfrm>
            <a:off x="3593592" y="5212080"/>
            <a:ext cx="2194560" cy="274320"/>
          </a:xfrm>
          <a:prstGeom prst="rect">
            <a:avLst/>
          </a:prstGeom>
          <a:noFill/>
          <a:ln/>
        </p:spPr>
        <p:txBody>
          <a:bodyPr wrap="square" lIns="0" tIns="0" rIns="0" bIns="0" rtlCol="0" anchor="ctr"/>
          <a:lstStyle/>
          <a:p>
            <a:pPr indent="0" marL="0">
              <a:buNone/>
            </a:pPr>
            <a:r>
              <a:rPr lang="en-US" sz="1200" dirty="0">
                <a:solidFill>
                  <a:srgbClr val="C2541B"/>
                </a:solidFill>
              </a:rPr>
              <a:t>drop holds 0.27 to 0.34</a:t>
            </a:r>
            <a:endParaRPr lang="en-US" sz="1200" dirty="0"/>
          </a:p>
        </p:txBody>
      </p:sp>
      <p:sp>
        <p:nvSpPr>
          <p:cNvPr id="11" name="read-2"/>
          <p:cNvSpPr/>
          <p:nvPr/>
        </p:nvSpPr>
        <p:spPr>
          <a:xfrm>
            <a:off x="6181344" y="4718304"/>
            <a:ext cx="2633472" cy="987552"/>
          </a:xfrm>
          <a:prstGeom prst="roundRect">
            <a:avLst>
              <a:gd name="adj" fmla="val 7407"/>
            </a:avLst>
          </a:prstGeom>
          <a:solidFill>
            <a:srgbClr val="EEF1F4"/>
          </a:solidFill>
          <a:ln w="12700">
            <a:solidFill>
              <a:srgbClr val="EEF1F4"/>
            </a:solidFill>
            <a:prstDash val="solid"/>
          </a:ln>
        </p:spPr>
      </p:sp>
      <p:sp>
        <p:nvSpPr>
          <p:cNvPr id="12" name="Text 9"/>
          <p:cNvSpPr txBox="1"/>
          <p:nvPr/>
        </p:nvSpPr>
        <p:spPr>
          <a:xfrm>
            <a:off x="6400800"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The monitor never moves</a:t>
            </a:r>
            <a:endParaRPr lang="en-US" sz="1300" dirty="0"/>
          </a:p>
        </p:txBody>
      </p:sp>
      <p:sp>
        <p:nvSpPr>
          <p:cNvPr id="13" name="Text 10"/>
          <p:cNvSpPr txBox="1"/>
          <p:nvPr/>
        </p:nvSpPr>
        <p:spPr>
          <a:xfrm>
            <a:off x="6400800" y="5212080"/>
            <a:ext cx="2194560" cy="274320"/>
          </a:xfrm>
          <a:prstGeom prst="rect">
            <a:avLst/>
          </a:prstGeom>
          <a:noFill/>
          <a:ln/>
        </p:spPr>
        <p:txBody>
          <a:bodyPr wrap="square" lIns="0" tIns="0" rIns="0" bIns="0" rtlCol="0" anchor="ctr"/>
          <a:lstStyle/>
          <a:p>
            <a:pPr indent="0" marL="0">
              <a:buNone/>
            </a:pPr>
            <a:r>
              <a:rPr lang="en-US" sz="1200" dirty="0">
                <a:solidFill>
                  <a:srgbClr val="1A2230"/>
                </a:solidFill>
              </a:rPr>
              <a:t>0.117 to 0.131</a:t>
            </a:r>
            <a:endParaRPr lang="en-US" sz="1200" dirty="0"/>
          </a:p>
        </p:txBody>
      </p:sp>
      <p:sp>
        <p:nvSpPr>
          <p:cNvPr id="14" name="read-3"/>
          <p:cNvSpPr/>
          <p:nvPr/>
        </p:nvSpPr>
        <p:spPr>
          <a:xfrm>
            <a:off x="8988552" y="4718304"/>
            <a:ext cx="2633472" cy="987552"/>
          </a:xfrm>
          <a:prstGeom prst="roundRect">
            <a:avLst>
              <a:gd name="adj" fmla="val 7407"/>
            </a:avLst>
          </a:prstGeom>
          <a:solidFill>
            <a:srgbClr val="EEF1F4"/>
          </a:solidFill>
          <a:ln w="12700">
            <a:solidFill>
              <a:srgbClr val="EEF1F4"/>
            </a:solidFill>
            <a:prstDash val="solid"/>
          </a:ln>
        </p:spPr>
      </p:sp>
      <p:sp>
        <p:nvSpPr>
          <p:cNvPr id="15" name="Text 12"/>
          <p:cNvSpPr txBox="1"/>
          <p:nvPr/>
        </p:nvSpPr>
        <p:spPr>
          <a:xfrm>
            <a:off x="9208008" y="4882896"/>
            <a:ext cx="2194560" cy="274320"/>
          </a:xfrm>
          <a:prstGeom prst="rect">
            <a:avLst/>
          </a:prstGeom>
          <a:noFill/>
          <a:ln/>
        </p:spPr>
        <p:txBody>
          <a:bodyPr wrap="square" lIns="0" tIns="0" rIns="0" bIns="0" rtlCol="0" anchor="ctr"/>
          <a:lstStyle/>
          <a:p>
            <a:pPr indent="0" marL="0">
              <a:buNone/>
            </a:pPr>
            <a:r>
              <a:rPr lang="en-US" sz="1300" b="1" dirty="0">
                <a:solidFill>
                  <a:srgbClr val="1A2230"/>
                </a:solidFill>
                <a:latin typeface="Cambria" pitchFamily="34" charset="0"/>
                <a:ea typeface="Cambria" pitchFamily="34" charset="-122"/>
                <a:cs typeface="Cambria" pitchFamily="34" charset="-120"/>
              </a:rPr>
              <a:t>Nothing breaks</a:t>
            </a:r>
            <a:endParaRPr lang="en-US" sz="1300" dirty="0"/>
          </a:p>
        </p:txBody>
      </p:sp>
      <p:sp>
        <p:nvSpPr>
          <p:cNvPr id="16" name="Text 13"/>
          <p:cNvSpPr txBox="1"/>
          <p:nvPr/>
        </p:nvSpPr>
        <p:spPr>
          <a:xfrm>
            <a:off x="9208008" y="5212080"/>
            <a:ext cx="2194560" cy="274320"/>
          </a:xfrm>
          <a:prstGeom prst="rect">
            <a:avLst/>
          </a:prstGeom>
          <a:noFill/>
          <a:ln/>
        </p:spPr>
        <p:txBody>
          <a:bodyPr wrap="square" lIns="0" tIns="0" rIns="0" bIns="0" rtlCol="0" anchor="ctr"/>
          <a:lstStyle/>
          <a:p>
            <a:pPr indent="0" marL="0">
              <a:buNone/>
            </a:pPr>
            <a:r>
              <a:rPr lang="en-US" sz="1200" dirty="0">
                <a:solidFill>
                  <a:srgbClr val="1A2230"/>
                </a:solidFill>
              </a:rPr>
              <a:t>valid rate 1.000</a:t>
            </a:r>
            <a:endParaRPr lang="en-US" sz="1200" dirty="0"/>
          </a:p>
        </p:txBody>
      </p:sp>
      <p:sp>
        <p:nvSpPr>
          <p:cNvPr id="17"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Reads as outcome 1: evasion is cheap and probes are weak. Five things in the saved features say otherwise.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THE TURN</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probe score was never measuring the model</a:t>
            </a:r>
            <a:endParaRPr lang="en-US" sz="2800" dirty="0"/>
          </a:p>
        </p:txBody>
      </p:sp>
      <p:sp>
        <p:nvSpPr>
          <p:cNvPr id="4" name="Text 2"/>
          <p:cNvSpPr txBox="1"/>
          <p:nvPr/>
        </p:nvSpPr>
        <p:spPr>
          <a:xfrm>
            <a:off x="566928" y="1426464"/>
            <a:ext cx="6492240" cy="731520"/>
          </a:xfrm>
          <a:prstGeom prst="rect">
            <a:avLst/>
          </a:prstGeom>
          <a:noFill/>
          <a:ln/>
        </p:spPr>
        <p:txBody>
          <a:bodyPr wrap="square" lIns="0" tIns="0" rIns="0" bIns="0" rtlCol="0" anchor="ctr"/>
          <a:lstStyle/>
          <a:p>
            <a:pPr indent="0" marL="0">
              <a:lnSpc>
                <a:spcPct val="120000"/>
              </a:lnSpc>
              <a:buNone/>
            </a:pPr>
            <a:r>
              <a:rPr lang="en-US" sz="1350" dirty="0">
                <a:solidFill>
                  <a:srgbClr val="4A5663"/>
                </a:solidFill>
              </a:rPr>
              <a:t>A logistic regression is affine in its input, so subtracting alpha × unit(w) from every answer token moves the decision score by a known amount. From the fitted probe, that amount is:</a:t>
            </a:r>
            <a:endParaRPr lang="en-US" sz="1350" dirty="0"/>
          </a:p>
        </p:txBody>
      </p:sp>
      <p:sp>
        <p:nvSpPr>
          <p:cNvPr id="5" name="predicted"/>
          <p:cNvSpPr/>
          <p:nvPr/>
        </p:nvSpPr>
        <p:spPr>
          <a:xfrm>
            <a:off x="566928" y="2249424"/>
            <a:ext cx="6492240" cy="1133856"/>
          </a:xfrm>
          <a:prstGeom prst="roundRect">
            <a:avLst>
              <a:gd name="adj" fmla="val 6452"/>
            </a:avLst>
          </a:prstGeom>
          <a:solidFill>
            <a:srgbClr val="15202B"/>
          </a:solidFill>
          <a:ln w="12700">
            <a:solidFill>
              <a:srgbClr val="15202B"/>
            </a:solidFill>
            <a:prstDash val="solid"/>
          </a:ln>
        </p:spPr>
      </p:sp>
      <p:sp>
        <p:nvSpPr>
          <p:cNvPr id="6" name="Text 4"/>
          <p:cNvSpPr txBox="1"/>
          <p:nvPr/>
        </p:nvSpPr>
        <p:spPr>
          <a:xfrm>
            <a:off x="877824" y="2249424"/>
            <a:ext cx="5852160" cy="1133856"/>
          </a:xfrm>
          <a:prstGeom prst="rect">
            <a:avLst/>
          </a:prstGeom>
          <a:noFill/>
          <a:ln/>
        </p:spPr>
        <p:txBody>
          <a:bodyPr wrap="square" lIns="0" tIns="0" rIns="0" bIns="0" rtlCol="0" anchor="ctr"/>
          <a:lstStyle/>
          <a:p>
            <a:pPr indent="0" marL="0">
              <a:buNone/>
            </a:pPr>
            <a:r>
              <a:rPr lang="en-US" sz="4200" b="1" dirty="0">
                <a:solidFill>
                  <a:srgbClr val="E8873F"/>
                </a:solidFill>
                <a:latin typeface="Cambria" pitchFamily="34" charset="0"/>
                <a:ea typeface="Cambria" pitchFamily="34" charset="-122"/>
                <a:cs typeface="Cambria" pitchFamily="34" charset="-120"/>
              </a:rPr>
              <a:t>6.9907</a:t>
            </a:r>
            <a:pPr indent="0" marL="0">
              <a:buNone/>
            </a:pPr>
            <a:r>
              <a:rPr lang="en-US" sz="1400" dirty="0">
                <a:solidFill>
                  <a:srgbClr val="9DADBC"/>
                </a:solidFill>
              </a:rPr>
              <a:t>   scaled units per alpha, predicted</a:t>
            </a:r>
            <a:endParaRPr lang="en-US" sz="4200" dirty="0"/>
          </a:p>
        </p:txBody>
      </p:sp>
      <p:graphicFrame>
        <p:nvGraphicFramePr>
          <p:cNvPr id="9" name="residual-table"/>
          <p:cNvGraphicFramePr>
            <a:graphicFrameLocks noGrp="1"/>
          </p:cNvGraphicFramePr>
          <p:nvPr>
            <p:extLst>
              <p:ext uri="{D42A27DB-BD31-4B8C-83A1-F6EECF244321}">
                <p14:modId xmlns:p14="http://schemas.microsoft.com/office/powerpoint/2010/main" val="1579011935"/>
              </p:ext>
            </p:extLst>
          </p:nvPr>
        </p:nvGraphicFramePr>
        <p:xfrm>
          <a:off x="566928" y="3602736"/>
          <a:ext cx="6492240" cy="914400"/>
        </p:xfrm>
        <a:graphic>
          <a:graphicData uri="http://schemas.openxmlformats.org/drawingml/2006/table">
            <a:tbl>
              <a:tblPr/>
              <a:tblGrid>
                <a:gridCol w="1188720"/>
                <a:gridCol w="2011680"/>
                <a:gridCol w="1645920"/>
                <a:gridCol w="1645920"/>
              </a:tblGrid>
              <a:tr h="384048">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realised shift</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residual</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 of imposed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7.019</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−0.028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7.100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−0.218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7.047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−0.225</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384048">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7.080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−0.717</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8" name="turn-note"/>
          <p:cNvSpPr/>
          <p:nvPr/>
        </p:nvSpPr>
        <p:spPr>
          <a:xfrm>
            <a:off x="7424928" y="1426464"/>
            <a:ext cx="4197096" cy="4096512"/>
          </a:xfrm>
          <a:prstGeom prst="roundRect">
            <a:avLst>
              <a:gd name="adj" fmla="val 1786"/>
            </a:avLst>
          </a:prstGeom>
          <a:solidFill>
            <a:srgbClr val="EEF1F4"/>
          </a:solidFill>
          <a:ln w="12700">
            <a:solidFill>
              <a:srgbClr val="EEF1F4"/>
            </a:solidFill>
            <a:prstDash val="solid"/>
          </a:ln>
        </p:spPr>
      </p:sp>
      <p:sp>
        <p:nvSpPr>
          <p:cNvPr id="9" name="Text 6"/>
          <p:cNvSpPr txBox="1"/>
          <p:nvPr/>
        </p:nvSpPr>
        <p:spPr>
          <a:xfrm>
            <a:off x="7699248" y="1627632"/>
            <a:ext cx="3657600" cy="310896"/>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What that means</a:t>
            </a:r>
            <a:endParaRPr lang="en-US" sz="1500" dirty="0"/>
          </a:p>
        </p:txBody>
      </p:sp>
      <p:sp>
        <p:nvSpPr>
          <p:cNvPr id="10" name="Text 7"/>
          <p:cNvSpPr txBox="1"/>
          <p:nvPr/>
        </p:nvSpPr>
        <p:spPr>
          <a:xfrm>
            <a:off x="7699248" y="2029968"/>
            <a:ext cx="3657600" cy="3291840"/>
          </a:xfrm>
          <a:prstGeom prst="rect">
            <a:avLst/>
          </a:prstGeom>
          <a:noFill/>
          <a:ln/>
        </p:spPr>
        <p:txBody>
          <a:bodyPr wrap="square" lIns="0" tIns="0" rIns="0" bIns="0" rtlCol="0" anchor="t"/>
          <a:lstStyle/>
          <a:p>
            <a:pPr indent="0" marL="0">
              <a:lnSpc>
                <a:spcPct val="122000"/>
              </a:lnSpc>
              <a:buNone/>
            </a:pPr>
            <a:r>
              <a:rPr lang="en-US" sz="1250" dirty="0">
                <a:solidFill>
                  <a:srgbClr val="4A5663"/>
                </a:solidFill>
              </a:rPr>
              <a:t>The residual is the only part of the score that reflects the model responding rather than being displaced. It is under 2% everywhere.
</a:t>
            </a:r>
            <a:pPr indent="0" marL="0">
              <a:lnSpc>
                <a:spcPct val="122000"/>
              </a:lnSpc>
              <a:buNone/>
            </a:pPr>
            <a:r>
              <a:rPr lang="en-US" sz="1250" b="1" dirty="0">
                <a:solidFill>
                  <a:srgbClr val="1A2230"/>
                </a:solidFill>
              </a:rPr>
              <a:t>So the entire AUROC column was computable before the sweep ran.
</a:t>
            </a:r>
            <a:pPr indent="0" marL="0">
              <a:lnSpc>
                <a:spcPct val="122000"/>
              </a:lnSpc>
              <a:buNone/>
            </a:pPr>
            <a:r>
              <a:rPr lang="en-US" sz="1100" dirty="0">
                <a:solidFill>
                  <a:srgbClr val="4A5663"/>
                </a:solidFill>
                <a:latin typeface="Courier New" pitchFamily="34" charset="0"/>
                <a:ea typeface="Courier New" pitchFamily="34" charset="-122"/>
                <a:cs typeface="Courier New" pitchFamily="34" charset="-120"/>
              </a:rPr>
              <a:t>Predicted  1.000 · 0.999 · 0.651 · 0.000 · 0.000
Measured   1.000 · 0.999 · 0.572 · 0.000 · 0.000
</a:t>
            </a:r>
            <a:pPr indent="0" marL="0">
              <a:lnSpc>
                <a:spcPct val="122000"/>
              </a:lnSpc>
              <a:buNone/>
            </a:pPr>
            <a:r>
              <a:rPr lang="en-US" sz="1250" b="1" dirty="0">
                <a:solidFill>
                  <a:srgbClr val="C2541B"/>
                </a:solidFill>
              </a:rPr>
              <a:t>We spent a GPU pass measuring a subtraction.</a:t>
            </a:r>
            <a:endParaRPr lang="en-US" sz="1250" dirty="0"/>
          </a:p>
        </p:txBody>
      </p:sp>
      <p:sp>
        <p:nvSpPr>
          <p:cNvPr id="11"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Derived from results/attack_qwen35_4b_thinking_off_mbpp_feats.npz against the refit probe.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FINDING 1</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An AUROC of 0.000 is overshoot, not evasion</a:t>
            </a:r>
            <a:endParaRPr lang="en-US" sz="2800" dirty="0"/>
          </a:p>
        </p:txBody>
      </p:sp>
      <p:graphicFrame>
        <p:nvGraphicFramePr>
          <p:cNvPr id="4" name="twosided-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ts-note1"/>
          <p:cNvSpPr/>
          <p:nvPr/>
        </p:nvSpPr>
        <p:spPr>
          <a:xfrm>
            <a:off x="7607808" y="1481328"/>
            <a:ext cx="4014216" cy="1920240"/>
          </a:xfrm>
          <a:prstGeom prst="roundRect">
            <a:avLst>
              <a:gd name="adj" fmla="val 3810"/>
            </a:avLst>
          </a:prstGeom>
          <a:solidFill>
            <a:srgbClr val="EEF1F4"/>
          </a:solidFill>
          <a:ln w="12700">
            <a:solidFill>
              <a:srgbClr val="EEF1F4"/>
            </a:solidFill>
            <a:prstDash val="solid"/>
          </a:ln>
        </p:spPr>
      </p:sp>
      <p:sp>
        <p:nvSpPr>
          <p:cNvPr id="6" name="Text 3"/>
          <p:cNvSpPr txBox="1"/>
          <p:nvPr/>
        </p:nvSpPr>
        <p:spPr>
          <a:xfrm>
            <a:off x="7882128" y="1682496"/>
            <a:ext cx="3474720" cy="1554480"/>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Below 0.5 the classes are still perfectly separable, with the sign reversed. A defender who thresholds on distance from the honest median instead of on sign gets everything back.</a:t>
            </a:r>
            <a:endParaRPr lang="en-US" sz="1250" dirty="0"/>
          </a:p>
        </p:txBody>
      </p:sp>
      <p:sp>
        <p:nvSpPr>
          <p:cNvPr id="7" name="ts-note2"/>
          <p:cNvSpPr/>
          <p:nvPr/>
        </p:nvSpPr>
        <p:spPr>
          <a:xfrm>
            <a:off x="7607808" y="3547872"/>
            <a:ext cx="4014216" cy="1773936"/>
          </a:xfrm>
          <a:prstGeom prst="roundRect">
            <a:avLst>
              <a:gd name="adj" fmla="val 4124"/>
            </a:avLst>
          </a:prstGeom>
          <a:solidFill>
            <a:srgbClr val="F7E9E1"/>
          </a:solidFill>
          <a:ln w="12700">
            <a:solidFill>
              <a:srgbClr val="F7E9E1"/>
            </a:solidFill>
            <a:prstDash val="solid"/>
          </a:ln>
        </p:spPr>
      </p:sp>
      <p:sp>
        <p:nvSpPr>
          <p:cNvPr id="8" name="Text 5"/>
          <p:cNvSpPr txBox="1"/>
          <p:nvPr/>
        </p:nvSpPr>
        <p:spPr>
          <a:xfrm>
            <a:off x="7882128" y="3712464"/>
            <a:ext cx="3474720" cy="274320"/>
          </a:xfrm>
          <a:prstGeom prst="rect">
            <a:avLst/>
          </a:prstGeom>
          <a:noFill/>
          <a:ln/>
        </p:spPr>
        <p:txBody>
          <a:bodyPr wrap="square" lIns="0" tIns="0" rIns="0" bIns="0" rtlCol="0" anchor="ctr"/>
          <a:lstStyle/>
          <a:p>
            <a:pPr indent="0" marL="0">
              <a:buNone/>
            </a:pPr>
            <a:r>
              <a:rPr lang="en-US" sz="1200" b="1" dirty="0">
                <a:solidFill>
                  <a:srgbClr val="6B7A88"/>
                </a:solidFill>
              </a:rPr>
              <a:t>The only setting that hides</a:t>
            </a:r>
            <a:endParaRPr lang="en-US" sz="1200" dirty="0"/>
          </a:p>
        </p:txBody>
      </p:sp>
      <p:sp>
        <p:nvSpPr>
          <p:cNvPr id="9" name="Text 6"/>
          <p:cNvSpPr txBox="1"/>
          <p:nvPr/>
        </p:nvSpPr>
        <p:spPr>
          <a:xfrm>
            <a:off x="7882128" y="4005072"/>
            <a:ext cx="3474720" cy="1188720"/>
          </a:xfrm>
          <a:prstGeom prst="rect">
            <a:avLst/>
          </a:prstGeom>
          <a:noFill/>
          <a:ln/>
        </p:spPr>
        <p:txBody>
          <a:bodyPr wrap="square" lIns="0" tIns="0" rIns="0" bIns="0" rtlCol="0" anchor="ctr"/>
          <a:lstStyle/>
          <a:p>
            <a:pPr indent="0" marL="0">
              <a:lnSpc>
                <a:spcPct val="120000"/>
              </a:lnSpc>
              <a:buNone/>
            </a:pPr>
            <a:r>
              <a:rPr lang="en-US" sz="2600" b="1" dirty="0">
                <a:solidFill>
                  <a:srgbClr val="C2541B"/>
                </a:solidFill>
                <a:latin typeface="Cambria" pitchFamily="34" charset="0"/>
                <a:ea typeface="Cambria" pitchFamily="34" charset="-122"/>
                <a:cs typeface="Cambria" pitchFamily="34" charset="-120"/>
              </a:rPr>
              <a:t>alpha 2</a:t>
            </a:r>
            <a:pPr indent="0" marL="0">
              <a:lnSpc>
                <a:spcPct val="120000"/>
              </a:lnSpc>
              <a:buNone/>
            </a:pPr>
            <a:endParaRPr lang="en-US" sz="2600" dirty="0"/>
          </a:p>
          <a:p>
            <a:pPr indent="0" marL="0">
              <a:lnSpc>
                <a:spcPct val="120000"/>
              </a:lnSpc>
              <a:buNone/>
            </a:pPr>
            <a:r>
              <a:rPr lang="en-US" sz="1250" dirty="0">
                <a:solidFill>
                  <a:srgbClr val="4A5663"/>
                </a:solidFill>
              </a:rPr>
              <a:t>0.604 two-sided, CI [0.48, 0.74], on 25 attacks.</a:t>
            </a:r>
            <a:endParaRPr lang="en-US" sz="2600" dirty="0"/>
          </a:p>
          <a:p>
            <a:pPr indent="0" marL="0">
              <a:lnSpc>
                <a:spcPct val="120000"/>
              </a:lnSpc>
              <a:buNone/>
            </a:pPr>
            <a:r>
              <a:rPr lang="en-US" sz="1250" dirty="0">
                <a:solidFill>
                  <a:srgbClr val="4A5663"/>
                </a:solidFill>
              </a:rPr>
              <a:t>TPR at 1% FPR drops to 0.08.</a:t>
            </a:r>
            <a:endParaRPr lang="en-US" sz="2600" dirty="0"/>
          </a:p>
        </p:txBody>
      </p:sp>
      <p:sp>
        <p:nvSpPr>
          <p:cNvPr id="1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The attacker's best choice is interior. Past the window the dial makes the attack trivially detectable. Intervals: stratified bootstrap, 2000 resamples.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2</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One untouched layer defeats the attack</a:t>
            </a:r>
            <a:endParaRPr lang="en-US" sz="2800" dirty="0"/>
          </a:p>
        </p:txBody>
      </p:sp>
      <p:sp>
        <p:nvSpPr>
          <p:cNvPr id="4" name="Text 2"/>
          <p:cNvSpPr txBox="1"/>
          <p:nvPr/>
        </p:nvSpPr>
        <p:spPr>
          <a:xfrm>
            <a:off x="566928" y="1444752"/>
            <a:ext cx="6675120" cy="512064"/>
          </a:xfrm>
          <a:prstGeom prst="rect">
            <a:avLst/>
          </a:prstGeom>
          <a:noFill/>
          <a:ln/>
        </p:spPr>
        <p:txBody>
          <a:bodyPr wrap="square" lIns="0" tIns="0" rIns="0" bIns="0" rtlCol="0" anchor="ctr"/>
          <a:lstStyle/>
          <a:p>
            <a:pPr indent="0" marL="0">
              <a:lnSpc>
                <a:spcPct val="120000"/>
              </a:lnSpc>
              <a:buNone/>
            </a:pPr>
            <a:r>
              <a:rPr lang="en-US" sz="1350" dirty="0">
                <a:solidFill>
                  <a:srgbClr val="4A5663"/>
                </a:solidFill>
              </a:rPr>
              <a:t>Steering layer 20 drags layer 28 along at 2.8 per alpha against 7.0 at the layer being steered, and that gap between the two rates is what the defender reads.</a:t>
            </a:r>
            <a:endParaRPr lang="en-US" sz="1350" dirty="0"/>
          </a:p>
        </p:txBody>
      </p:sp>
      <p:graphicFrame>
        <p:nvGraphicFramePr>
          <p:cNvPr id="11" name="transfer-table"/>
          <p:cNvGraphicFramePr>
            <a:graphicFrameLocks noGrp="1"/>
          </p:cNvGraphicFramePr>
          <p:nvPr>
            <p:extLst>
              <p:ext uri="{D42A27DB-BD31-4B8C-83A1-F6EECF244321}">
                <p14:modId xmlns:p14="http://schemas.microsoft.com/office/powerpoint/2010/main" val="1579011935"/>
              </p:ext>
            </p:extLst>
          </p:nvPr>
        </p:nvGraphicFramePr>
        <p:xfrm>
          <a:off x="566928" y="2103120"/>
          <a:ext cx="6675120" cy="914400"/>
        </p:xfrm>
        <a:graphic>
          <a:graphicData uri="http://schemas.openxmlformats.org/drawingml/2006/table">
            <a:tbl>
              <a:tblPr/>
              <a:tblGrid>
                <a:gridCol w="1097280"/>
                <a:gridCol w="1828800"/>
                <a:gridCol w="1828800"/>
                <a:gridCol w="1920240"/>
              </a:tblGrid>
              <a:tr h="420624">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alpha</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L20 two-sided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L28 two-sided</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c>
                  <a:txBody>
                    <a:bodyPr/>
                    <a:lstStyle/>
                    <a:p>
                      <a:pPr indent="0" marL="0">
                        <a:buNone/>
                      </a:pPr>
                      <a:r>
                        <a:rPr lang="en-US" sz="1100" b="1" dirty="0">
                          <a:solidFill>
                            <a:srgbClr val="6B7A88"/>
                          </a:solidFill>
                          <a:latin typeface="Calibri" pitchFamily="34" charset="0"/>
                          <a:ea typeface="Calibri" pitchFamily="34" charset="-122"/>
                          <a:cs typeface="Calibri" pitchFamily="34" charset="-120"/>
                        </a:rPr>
                        <a:t>the defender's number</a:t>
                      </a:r>
                      <a:endParaRPr lang="en-US" sz="11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C2541B"/>
                          </a:solidFill>
                          <a:latin typeface="Calibri" pitchFamily="34" charset="0"/>
                          <a:ea typeface="Calibri" pitchFamily="34" charset="-122"/>
                          <a:cs typeface="Calibri" pitchFamily="34" charset="-120"/>
                        </a:rPr>
                        <a:t>0.604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C2541B"/>
                          </a:solidFill>
                          <a:latin typeface="Calibri" pitchFamily="34" charset="0"/>
                          <a:ea typeface="Calibri" pitchFamily="34" charset="-122"/>
                          <a:cs typeface="Calibri" pitchFamily="34" charset="-120"/>
                        </a:rPr>
                        <a:t>0.646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r h="420624">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dirty="0">
                          <a:solidFill>
                            <a:srgbClr val="1A2230"/>
                          </a:solidFill>
                          <a:latin typeface="Calibri" pitchFamily="34" charset="0"/>
                          <a:ea typeface="Calibri" pitchFamily="34" charset="-122"/>
                          <a:cs typeface="Calibri" pitchFamily="34" charset="-120"/>
                        </a:rPr>
                        <a:t>0.993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c>
                  <a:txBody>
                    <a:bodyPr/>
                    <a:lstStyle/>
                    <a:p>
                      <a:pPr indent="0" marL="0">
                        <a:buNone/>
                      </a:pPr>
                      <a:r>
                        <a:rPr lang="en-US" sz="1300" b="1" dirty="0">
                          <a:solidFill>
                            <a:srgbClr val="1A2230"/>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6350" cap="flat" cmpd="sng" algn="ctr">
                      <a:solidFill>
                        <a:srgbClr val="D7DEE4"/>
                      </a:solidFill>
                      <a:prstDash val="solid"/>
                      <a:round/>
                      <a:headEnd type="none" w="med" len="med"/>
                      <a:tailEnd type="none" w="med" len="med"/>
                    </a:lnB>
                  </a:tcPr>
                </a:tc>
              </a:tr>
            </a:tbl>
          </a:graphicData>
        </a:graphic>
      </p:graphicFrame>
      <p:sp>
        <p:nvSpPr>
          <p:cNvPr id="6" name="transfer-note"/>
          <p:cNvSpPr/>
          <p:nvPr/>
        </p:nvSpPr>
        <p:spPr>
          <a:xfrm>
            <a:off x="566928" y="4169664"/>
            <a:ext cx="6675120" cy="1316736"/>
          </a:xfrm>
          <a:prstGeom prst="roundRect">
            <a:avLst>
              <a:gd name="adj" fmla="val 5556"/>
            </a:avLst>
          </a:prstGeom>
          <a:solidFill>
            <a:srgbClr val="EEF1F4"/>
          </a:solidFill>
          <a:ln w="12700">
            <a:solidFill>
              <a:srgbClr val="EEF1F4"/>
            </a:solidFill>
            <a:prstDash val="solid"/>
          </a:ln>
        </p:spPr>
      </p:sp>
      <p:sp>
        <p:nvSpPr>
          <p:cNvPr id="7" name="Text 4"/>
          <p:cNvSpPr txBox="1"/>
          <p:nvPr/>
        </p:nvSpPr>
        <p:spPr>
          <a:xfrm>
            <a:off x="841248" y="4352544"/>
            <a:ext cx="6126480" cy="987552"/>
          </a:xfrm>
          <a:prstGeom prst="rect">
            <a:avLst/>
          </a:prstGeom>
          <a:noFill/>
          <a:ln/>
        </p:spPr>
        <p:txBody>
          <a:bodyPr wrap="square" lIns="0" tIns="0" rIns="0" bIns="0" rtlCol="0" anchor="ctr"/>
          <a:lstStyle/>
          <a:p>
            <a:pPr indent="0" marL="0">
              <a:lnSpc>
                <a:spcPct val="126000"/>
              </a:lnSpc>
              <a:buNone/>
            </a:pPr>
            <a:r>
              <a:rPr lang="en-US" sz="1250" dirty="0">
                <a:solidFill>
                  <a:srgbClr val="4A5663"/>
                </a:solidFill>
              </a:rPr>
              <a:t>Give the defender two probes and a two-sided threshold, and the attacker has to minimise whichever of the two is stronger. There is no setting where this attack is quiet at the attacked layer and the untouched one at the same time.</a:t>
            </a:r>
            <a:endParaRPr lang="en-US" sz="1250" dirty="0"/>
          </a:p>
        </p:txBody>
      </p:sp>
      <p:sp>
        <p:nvSpPr>
          <p:cNvPr id="8" name="defender-number"/>
          <p:cNvSpPr/>
          <p:nvPr/>
        </p:nvSpPr>
        <p:spPr>
          <a:xfrm>
            <a:off x="7607808" y="1444752"/>
            <a:ext cx="4014216" cy="4041648"/>
          </a:xfrm>
          <a:prstGeom prst="roundRect">
            <a:avLst>
              <a:gd name="adj" fmla="val 1822"/>
            </a:avLst>
          </a:prstGeom>
          <a:solidFill>
            <a:srgbClr val="15202B"/>
          </a:solidFill>
          <a:ln w="12700">
            <a:solidFill>
              <a:srgbClr val="15202B"/>
            </a:solidFill>
            <a:prstDash val="solid"/>
          </a:ln>
        </p:spPr>
      </p:sp>
      <p:sp>
        <p:nvSpPr>
          <p:cNvPr id="9" name="Text 6"/>
          <p:cNvSpPr txBox="1"/>
          <p:nvPr/>
        </p:nvSpPr>
        <p:spPr>
          <a:xfrm>
            <a:off x="7882128" y="2286000"/>
            <a:ext cx="3474720" cy="310896"/>
          </a:xfrm>
          <a:prstGeom prst="rect">
            <a:avLst/>
          </a:prstGeom>
          <a:noFill/>
          <a:ln/>
        </p:spPr>
        <p:txBody>
          <a:bodyPr wrap="square" lIns="0" tIns="0" rIns="0" bIns="0" rtlCol="0" anchor="ctr"/>
          <a:lstStyle/>
          <a:p>
            <a:pPr indent="0" marL="0">
              <a:buNone/>
            </a:pPr>
            <a:r>
              <a:rPr lang="en-US" sz="1250" dirty="0">
                <a:solidFill>
                  <a:srgbClr val="9DADBC"/>
                </a:solidFill>
              </a:rPr>
              <a:t>The attacker's best setting</a:t>
            </a:r>
            <a:endParaRPr lang="en-US" sz="1250" dirty="0"/>
          </a:p>
        </p:txBody>
      </p:sp>
      <p:sp>
        <p:nvSpPr>
          <p:cNvPr id="10" name="Text 7"/>
          <p:cNvSpPr txBox="1"/>
          <p:nvPr/>
        </p:nvSpPr>
        <p:spPr>
          <a:xfrm>
            <a:off x="7882128" y="2633472"/>
            <a:ext cx="3474720" cy="1225296"/>
          </a:xfrm>
          <a:prstGeom prst="rect">
            <a:avLst/>
          </a:prstGeom>
          <a:noFill/>
          <a:ln/>
        </p:spPr>
        <p:txBody>
          <a:bodyPr wrap="square" lIns="0" tIns="0" rIns="0" bIns="0" rtlCol="0" anchor="ctr"/>
          <a:lstStyle/>
          <a:p>
            <a:pPr indent="0" marL="0">
              <a:buNone/>
            </a:pPr>
            <a:r>
              <a:rPr lang="en-US" sz="6800" b="1" dirty="0">
                <a:solidFill>
                  <a:srgbClr val="7FC4E0"/>
                </a:solidFill>
                <a:latin typeface="Cambria" pitchFamily="34" charset="0"/>
                <a:ea typeface="Cambria" pitchFamily="34" charset="-122"/>
                <a:cs typeface="Cambria" pitchFamily="34" charset="-120"/>
              </a:rPr>
              <a:t>0.993</a:t>
            </a:r>
            <a:endParaRPr lang="en-US" sz="6800" dirty="0"/>
          </a:p>
        </p:txBody>
      </p:sp>
      <p:sp>
        <p:nvSpPr>
          <p:cNvPr id="11" name="Text 8"/>
          <p:cNvSpPr txBox="1"/>
          <p:nvPr/>
        </p:nvSpPr>
        <p:spPr>
          <a:xfrm>
            <a:off x="7882128" y="3968496"/>
            <a:ext cx="3474720" cy="1005840"/>
          </a:xfrm>
          <a:prstGeom prst="rect">
            <a:avLst/>
          </a:prstGeom>
          <a:noFill/>
          <a:ln/>
        </p:spPr>
        <p:txBody>
          <a:bodyPr wrap="square" lIns="0" tIns="0" rIns="0" bIns="0" rtlCol="0" anchor="ctr"/>
          <a:lstStyle/>
          <a:p>
            <a:pPr indent="0" marL="0">
              <a:lnSpc>
                <a:spcPct val="124000"/>
              </a:lnSpc>
              <a:buNone/>
            </a:pPr>
            <a:r>
              <a:rPr lang="en-US" sz="1250" dirty="0">
                <a:solidFill>
                  <a:srgbClr val="E7ECF1"/>
                </a:solidFill>
              </a:rPr>
              <a:t>against a defender holding two probes and reading them two-sided. The minimum over the whole grid.</a:t>
            </a:r>
            <a:endParaRPr lang="en-US" sz="1250" dirty="0"/>
          </a:p>
        </p:txBody>
      </p:sp>
      <p:sp>
        <p:nvSpPr>
          <p:cNvPr id="12"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Bootstrap CI at alpha 2, layer 28: [0.98, 1.00]. Derived from the saved steered features.</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3</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rate survived. The sabotage did not</a:t>
            </a:r>
            <a:endParaRPr lang="en-US" sz="2800" dirty="0"/>
          </a:p>
        </p:txBody>
      </p:sp>
      <p:graphicFrame>
        <p:nvGraphicFramePr>
          <p:cNvPr id="4" name="churn-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churn-note1"/>
          <p:cNvSpPr/>
          <p:nvPr/>
        </p:nvSpPr>
        <p:spPr>
          <a:xfrm>
            <a:off x="7607808" y="1481328"/>
            <a:ext cx="4014216" cy="2066544"/>
          </a:xfrm>
          <a:prstGeom prst="roundRect">
            <a:avLst>
              <a:gd name="adj" fmla="val 3540"/>
            </a:avLst>
          </a:prstGeom>
          <a:solidFill>
            <a:srgbClr val="EEF1F4"/>
          </a:solidFill>
          <a:ln w="12700">
            <a:solidFill>
              <a:srgbClr val="EEF1F4"/>
            </a:solidFill>
            <a:prstDash val="solid"/>
          </a:ln>
        </p:spPr>
      </p:sp>
      <p:sp>
        <p:nvSpPr>
          <p:cNvPr id="6" name="Text 3"/>
          <p:cNvSpPr txBox="1"/>
          <p:nvPr/>
        </p:nvSpPr>
        <p:spPr>
          <a:xfrm>
            <a:off x="7882128" y="1682496"/>
            <a:ext cx="3474720" cy="1700784"/>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The accuracy drop reads 0.274, 0.288, 0.342, 0.274, 0.274, which is flat enough that the attacker appears to keep everything.
</a:t>
            </a:r>
            <a:pPr indent="0" marL="0">
              <a:lnSpc>
                <a:spcPct val="124000"/>
              </a:lnSpc>
              <a:buNone/>
            </a:pPr>
            <a:r>
              <a:rPr lang="en-US" sz="1250" b="1" dirty="0">
                <a:solidFill>
                  <a:srgbClr val="1A2230"/>
                </a:solidFill>
              </a:rPr>
              <a:t>The problems that fail are not the same problems.</a:t>
            </a:r>
            <a:endParaRPr lang="en-US" sz="1250" dirty="0"/>
          </a:p>
        </p:txBody>
      </p:sp>
      <p:sp>
        <p:nvSpPr>
          <p:cNvPr id="7" name="churn-note2"/>
          <p:cNvSpPr/>
          <p:nvPr/>
        </p:nvSpPr>
        <p:spPr>
          <a:xfrm>
            <a:off x="7607808" y="3694176"/>
            <a:ext cx="4014216" cy="1627632"/>
          </a:xfrm>
          <a:prstGeom prst="roundRect">
            <a:avLst>
              <a:gd name="adj" fmla="val 4494"/>
            </a:avLst>
          </a:prstGeom>
          <a:solidFill>
            <a:srgbClr val="EEF1F4"/>
          </a:solidFill>
          <a:ln w="12700">
            <a:solidFill>
              <a:srgbClr val="EEF1F4"/>
            </a:solidFill>
            <a:prstDash val="solid"/>
          </a:ln>
        </p:spPr>
      </p:sp>
      <p:sp>
        <p:nvSpPr>
          <p:cNvPr id="8" name="Text 5"/>
          <p:cNvSpPr txBox="1"/>
          <p:nvPr/>
        </p:nvSpPr>
        <p:spPr>
          <a:xfrm>
            <a:off x="7882128" y="3858768"/>
            <a:ext cx="3474720" cy="256032"/>
          </a:xfrm>
          <a:prstGeom prst="rect">
            <a:avLst/>
          </a:prstGeom>
          <a:noFill/>
          <a:ln/>
        </p:spPr>
        <p:txBody>
          <a:bodyPr wrap="square" lIns="0" tIns="0" rIns="0" bIns="0" rtlCol="0" anchor="ctr"/>
          <a:lstStyle/>
          <a:p>
            <a:pPr indent="0" marL="0">
              <a:buNone/>
            </a:pPr>
            <a:r>
              <a:rPr lang="en-US" sz="1200" b="1" dirty="0">
                <a:solidFill>
                  <a:srgbClr val="6B7A88"/>
                </a:solidFill>
              </a:rPr>
              <a:t>At alpha 8</a:t>
            </a:r>
            <a:endParaRPr lang="en-US" sz="1200" dirty="0"/>
          </a:p>
        </p:txBody>
      </p:sp>
      <p:sp>
        <p:nvSpPr>
          <p:cNvPr id="9" name="Text 6"/>
          <p:cNvSpPr txBox="1"/>
          <p:nvPr/>
        </p:nvSpPr>
        <p:spPr>
          <a:xfrm>
            <a:off x="7882128" y="4151376"/>
            <a:ext cx="3474720" cy="1060704"/>
          </a:xfrm>
          <a:prstGeom prst="rect">
            <a:avLst/>
          </a:prstGeom>
          <a:noFill/>
          <a:ln/>
        </p:spPr>
        <p:txBody>
          <a:bodyPr wrap="square" lIns="0" tIns="0" rIns="0" bIns="0" rtlCol="0" anchor="ctr"/>
          <a:lstStyle/>
          <a:p>
            <a:pPr indent="0" marL="0">
              <a:lnSpc>
                <a:spcPct val="124000"/>
              </a:lnSpc>
              <a:buNone/>
            </a:pPr>
            <a:r>
              <a:rPr lang="en-US" sz="1250" dirty="0">
                <a:solidFill>
                  <a:srgbClr val="4A5663"/>
                </a:solidFill>
              </a:rPr>
              <a:t>Nine of the original twenty failures remain and eleven are new. The valid rate holds at 1.000 and the degenerate rate at 0.014, so the churn is not the model breaking down.</a:t>
            </a:r>
            <a:endParaRPr lang="en-US" sz="1250" dirty="0"/>
          </a:p>
        </p:txBody>
      </p:sp>
      <p:sp>
        <p:nvSpPr>
          <p:cNvPr id="1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Code that compiles and fails on a different problem looks more like a perturbation than a surviving policy.</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FINDING 4</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The behavioural signal is stronger than we reported</a:t>
            </a:r>
            <a:endParaRPr lang="en-US" sz="2800" dirty="0"/>
          </a:p>
        </p:txBody>
      </p:sp>
      <p:graphicFrame>
        <p:nvGraphicFramePr>
          <p:cNvPr id="4" name="signal-chart" descr=""/>
          <p:cNvGraphicFramePr/>
          <p:nvPr/>
        </p:nvGraphicFramePr>
        <p:xfrm>
          <a:off x="566928" y="1481328"/>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sig-note1"/>
          <p:cNvSpPr/>
          <p:nvPr/>
        </p:nvSpPr>
        <p:spPr>
          <a:xfrm>
            <a:off x="7607808" y="1481328"/>
            <a:ext cx="4014216" cy="1883664"/>
          </a:xfrm>
          <a:prstGeom prst="roundRect">
            <a:avLst>
              <a:gd name="adj" fmla="val 3883"/>
            </a:avLst>
          </a:prstGeom>
          <a:solidFill>
            <a:srgbClr val="EEF1F4"/>
          </a:solidFill>
          <a:ln w="12700">
            <a:solidFill>
              <a:srgbClr val="EEF1F4"/>
            </a:solidFill>
            <a:prstDash val="solid"/>
          </a:ln>
        </p:spPr>
      </p:sp>
      <p:sp>
        <p:nvSpPr>
          <p:cNvPr id="6" name="Text 3"/>
          <p:cNvSpPr txBox="1"/>
          <p:nvPr/>
        </p:nvSpPr>
        <p:spPr>
          <a:xfrm>
            <a:off x="7882128" y="1664208"/>
            <a:ext cx="3474720" cy="1554480"/>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Both classes are generated under the sandbagging instruction and labelled by whether the sabotage landed, so prompt identity carries no information and the control cannot fire. 35 sabotaged against 109 ignored.</a:t>
            </a:r>
            <a:endParaRPr lang="en-US" sz="1200" dirty="0"/>
          </a:p>
        </p:txBody>
      </p:sp>
      <p:sp>
        <p:nvSpPr>
          <p:cNvPr id="7" name="sig-note2"/>
          <p:cNvSpPr/>
          <p:nvPr/>
        </p:nvSpPr>
        <p:spPr>
          <a:xfrm>
            <a:off x="7607808" y="3566160"/>
            <a:ext cx="4014216" cy="1755648"/>
          </a:xfrm>
          <a:prstGeom prst="roundRect">
            <a:avLst>
              <a:gd name="adj" fmla="val 4167"/>
            </a:avLst>
          </a:prstGeom>
          <a:solidFill>
            <a:srgbClr val="15202B"/>
          </a:solidFill>
          <a:ln w="12700">
            <a:solidFill>
              <a:srgbClr val="15202B"/>
            </a:solidFill>
            <a:prstDash val="solid"/>
          </a:ln>
        </p:spPr>
      </p:sp>
      <p:sp>
        <p:nvSpPr>
          <p:cNvPr id="8" name="Text 5"/>
          <p:cNvSpPr txBox="1"/>
          <p:nvPr/>
        </p:nvSpPr>
        <p:spPr>
          <a:xfrm>
            <a:off x="7882128" y="3694176"/>
            <a:ext cx="3474720" cy="1572768"/>
          </a:xfrm>
          <a:prstGeom prst="rect">
            <a:avLst/>
          </a:prstGeom>
          <a:noFill/>
          <a:ln/>
        </p:spPr>
        <p:txBody>
          <a:bodyPr wrap="square" lIns="0" tIns="0" rIns="0" bIns="0" rtlCol="0" anchor="ctr"/>
          <a:lstStyle/>
          <a:p>
            <a:pPr indent="0" marL="0">
              <a:lnSpc>
                <a:spcPct val="116000"/>
              </a:lnSpc>
              <a:buNone/>
            </a:pPr>
            <a:r>
              <a:rPr lang="en-US" sz="3400" b="1" dirty="0">
                <a:solidFill>
                  <a:srgbClr val="7FC4E0"/>
                </a:solidFill>
                <a:latin typeface="Cambria" pitchFamily="34" charset="0"/>
                <a:ea typeface="Cambria" pitchFamily="34" charset="-122"/>
                <a:cs typeface="Cambria" pitchFamily="34" charset="-120"/>
              </a:rPr>
              <a:t>0.859</a:t>
            </a:r>
            <a:pPr indent="0" marL="0">
              <a:lnSpc>
                <a:spcPct val="116000"/>
              </a:lnSpc>
              <a:buNone/>
            </a:pPr>
            <a:r>
              <a:rPr lang="en-US" sz="1300" dirty="0">
                <a:solidFill>
                  <a:srgbClr val="E7ECF1"/>
                </a:solidFill>
              </a:rPr>
              <a:t>  at layer 20, last-pooled
</a:t>
            </a:r>
            <a:pPr indent="0" marL="0">
              <a:lnSpc>
                <a:spcPct val="116000"/>
              </a:lnSpc>
              <a:buNone/>
            </a:pPr>
            <a:endParaRPr lang="en-US" sz="3400" dirty="0"/>
          </a:p>
          <a:p>
            <a:pPr indent="0" marL="0">
              <a:lnSpc>
                <a:spcPct val="116000"/>
              </a:lnSpc>
              <a:buNone/>
            </a:pPr>
            <a:r>
              <a:rPr lang="en-US" sz="1150" dirty="0">
                <a:solidFill>
                  <a:srgbClr val="9DADBC"/>
                </a:solidFill>
              </a:rPr>
              <a:t>That is the layer we steered, under a pooling we did not. Mean-pooled at the same layer reads 0.644, so the sweep attacked the weaker of the two directions available there.</a:t>
            </a:r>
            <a:endParaRPr lang="en-US" sz="3400" dirty="0"/>
          </a:p>
        </p:txBody>
      </p:sp>
      <p:sp>
        <p:nvSpPr>
          <p:cNvPr id="9"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Five folds, out of fold. The best cell's null over 500 shuffles: mean 0.501, 95th pct 0.628, max 0.729. Earlier write-ups quoted 0.771, which was the mean-pooled column alone.</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66928" y="93268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DID WE GET THE OUTCOME WE WANTED</a:t>
            </a:r>
            <a:endParaRPr lang="en-US" sz="1200" dirty="0"/>
          </a:p>
        </p:txBody>
      </p:sp>
      <p:sp>
        <p:nvSpPr>
          <p:cNvPr id="3" name="Text 0"/>
          <p:cNvSpPr/>
          <p:nvPr>
            <p:ph idx="100" type="title" hasCustomPrompt="1"/>
          </p:nvPr>
        </p:nvSpPr>
        <p:spPr>
          <a:xfrm>
            <a:off x="566928" y="1335024"/>
            <a:ext cx="11057839" cy="932688"/>
          </a:xfrm>
          <a:prstGeom prst="rect">
            <a:avLst/>
          </a:prstGeom>
          <a:noFill/>
          <a:ln/>
        </p:spPr>
        <p:txBody>
          <a:bodyPr wrap="square" rtlCol="0" anchor="t"/>
          <a:lstStyle/>
          <a:p>
            <a:pPr indent="0" marL="0">
              <a:buNone/>
            </a:pPr>
            <a:r>
              <a:rPr lang="en-US" sz="5400" dirty="0">
                <a:solidFill>
                  <a:srgbClr val="FFFFFF"/>
                </a:solidFill>
                <a:latin typeface="Cambria" pitchFamily="34" charset="0"/>
                <a:ea typeface="Cambria" pitchFamily="34" charset="-122"/>
                <a:cs typeface="Cambria" pitchFamily="34" charset="-120"/>
              </a:rPr>
              <a:t>No.</a:t>
            </a:r>
            <a:endParaRPr lang="en-US" sz="5400" dirty="0"/>
          </a:p>
        </p:txBody>
      </p:sp>
      <p:sp>
        <p:nvSpPr>
          <p:cNvPr id="4" name="Text 2"/>
          <p:cNvSpPr txBox="1"/>
          <p:nvPr/>
        </p:nvSpPr>
        <p:spPr>
          <a:xfrm>
            <a:off x="566928" y="2432304"/>
            <a:ext cx="8229600" cy="420624"/>
          </a:xfrm>
          <a:prstGeom prst="rect">
            <a:avLst/>
          </a:prstGeom>
          <a:noFill/>
          <a:ln/>
        </p:spPr>
        <p:txBody>
          <a:bodyPr wrap="square" lIns="0" tIns="0" rIns="0" bIns="0" rtlCol="0" anchor="ctr"/>
          <a:lstStyle/>
          <a:p>
            <a:pPr indent="0" marL="0">
              <a:buNone/>
            </a:pPr>
            <a:r>
              <a:rPr lang="en-US" sz="2000" dirty="0">
                <a:solidFill>
                  <a:srgbClr val="E7ECF1"/>
                </a:solidFill>
              </a:rPr>
              <a:t>For a reason narrow enough to be worth stating precisely.</a:t>
            </a:r>
            <a:endParaRPr lang="en-US" sz="2000" dirty="0"/>
          </a:p>
        </p:txBody>
      </p:sp>
      <p:sp>
        <p:nvSpPr>
          <p:cNvPr id="5" name="verdict-0"/>
          <p:cNvSpPr/>
          <p:nvPr/>
        </p:nvSpPr>
        <p:spPr>
          <a:xfrm>
            <a:off x="566928" y="3200400"/>
            <a:ext cx="3493008" cy="2011680"/>
          </a:xfrm>
          <a:prstGeom prst="roundRect">
            <a:avLst>
              <a:gd name="adj" fmla="val 3636"/>
            </a:avLst>
          </a:prstGeom>
          <a:solidFill>
            <a:srgbClr val="1E2A38"/>
          </a:solidFill>
          <a:ln w="12700">
            <a:solidFill>
              <a:srgbClr val="1E2A38"/>
            </a:solidFill>
            <a:prstDash val="solid"/>
          </a:ln>
        </p:spPr>
      </p:sp>
      <p:sp>
        <p:nvSpPr>
          <p:cNvPr id="6" name="Text 4"/>
          <p:cNvSpPr txBox="1"/>
          <p:nvPr/>
        </p:nvSpPr>
        <p:spPr>
          <a:xfrm>
            <a:off x="804672"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Measuring a cost needs a mechanism</a:t>
            </a:r>
            <a:endParaRPr lang="en-US" sz="1400" dirty="0"/>
          </a:p>
        </p:txBody>
      </p:sp>
      <p:sp>
        <p:nvSpPr>
          <p:cNvPr id="7" name="Text 5"/>
          <p:cNvSpPr txBox="1"/>
          <p:nvPr/>
        </p:nvSpPr>
        <p:spPr>
          <a:xfrm>
            <a:off x="804672"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Getting a number for what evasion costs requires that the thing being evaded is load-bearing for the behaviour, so that moving away from it drags the behaviour along.</a:t>
            </a:r>
            <a:endParaRPr lang="en-US" sz="1200" dirty="0"/>
          </a:p>
        </p:txBody>
      </p:sp>
      <p:sp>
        <p:nvSpPr>
          <p:cNvPr id="8" name="verdict-1"/>
          <p:cNvSpPr/>
          <p:nvPr/>
        </p:nvSpPr>
        <p:spPr>
          <a:xfrm>
            <a:off x="4334256" y="3200400"/>
            <a:ext cx="3493008" cy="2011680"/>
          </a:xfrm>
          <a:prstGeom prst="roundRect">
            <a:avLst>
              <a:gd name="adj" fmla="val 3636"/>
            </a:avLst>
          </a:prstGeom>
          <a:solidFill>
            <a:srgbClr val="1E2A38"/>
          </a:solidFill>
          <a:ln w="12700">
            <a:solidFill>
              <a:srgbClr val="1E2A38"/>
            </a:solidFill>
            <a:prstDash val="solid"/>
          </a:ln>
        </p:spPr>
      </p:sp>
      <p:sp>
        <p:nvSpPr>
          <p:cNvPr id="9" name="Text 7"/>
          <p:cNvSpPr txBox="1"/>
          <p:nvPr/>
        </p:nvSpPr>
        <p:spPr>
          <a:xfrm>
            <a:off x="4572000"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The direction was a prompt marker</a:t>
            </a:r>
            <a:endParaRPr lang="en-US" sz="1400" dirty="0"/>
          </a:p>
        </p:txBody>
      </p:sp>
      <p:sp>
        <p:nvSpPr>
          <p:cNvPr id="10" name="Text 8"/>
          <p:cNvSpPr txBox="1"/>
          <p:nvPr/>
        </p:nvSpPr>
        <p:spPr>
          <a:xfrm>
            <a:off x="4572000"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What we attacked is a marker for which instruction was in the context. Subtracting it moved the score and left the computation alone, to within 1.6%.</a:t>
            </a:r>
            <a:endParaRPr lang="en-US" sz="1200" dirty="0"/>
          </a:p>
        </p:txBody>
      </p:sp>
      <p:sp>
        <p:nvSpPr>
          <p:cNvPr id="11" name="verdict-2"/>
          <p:cNvSpPr/>
          <p:nvPr/>
        </p:nvSpPr>
        <p:spPr>
          <a:xfrm>
            <a:off x="8101584" y="3200400"/>
            <a:ext cx="3493008" cy="2011680"/>
          </a:xfrm>
          <a:prstGeom prst="roundRect">
            <a:avLst>
              <a:gd name="adj" fmla="val 3636"/>
            </a:avLst>
          </a:prstGeom>
          <a:solidFill>
            <a:srgbClr val="1E2A38"/>
          </a:solidFill>
          <a:ln w="12700">
            <a:solidFill>
              <a:srgbClr val="1E2A38"/>
            </a:solidFill>
            <a:prstDash val="solid"/>
          </a:ln>
        </p:spPr>
      </p:sp>
      <p:sp>
        <p:nvSpPr>
          <p:cNvPr id="12" name="Text 10"/>
          <p:cNvSpPr txBox="1"/>
          <p:nvPr/>
        </p:nvSpPr>
        <p:spPr>
          <a:xfrm>
            <a:off x="8339328" y="340156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So there was no cost to measure</a:t>
            </a:r>
            <a:endParaRPr lang="en-US" sz="1400" dirty="0"/>
          </a:p>
        </p:txBody>
      </p:sp>
      <p:sp>
        <p:nvSpPr>
          <p:cNvPr id="13" name="Text 11"/>
          <p:cNvSpPr txBox="1"/>
          <p:nvPr/>
        </p:nvSpPr>
        <p:spPr>
          <a:xfrm>
            <a:off x="8339328" y="4005072"/>
            <a:ext cx="3017520" cy="1060704"/>
          </a:xfrm>
          <a:prstGeom prst="rect">
            <a:avLst/>
          </a:prstGeom>
          <a:noFill/>
          <a:ln/>
        </p:spPr>
        <p:txBody>
          <a:bodyPr wrap="square" lIns="0" tIns="0" rIns="0" bIns="0" rtlCol="0" anchor="ctr"/>
          <a:lstStyle/>
          <a:p>
            <a:pPr indent="0" marL="0">
              <a:lnSpc>
                <a:spcPct val="124000"/>
              </a:lnSpc>
              <a:buNone/>
            </a:pPr>
            <a:r>
              <a:rPr lang="en-US" sz="1200" dirty="0">
                <a:solidFill>
                  <a:srgbClr val="9DADBC"/>
                </a:solidFill>
              </a:rPr>
              <a:t>Nothing stood in the way of the evasion. That is a claim about this probe direction on this run, and not about evasion in general.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WHAT IS WORKING</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What holds up</a:t>
            </a:r>
            <a:endParaRPr lang="en-US" sz="2800" dirty="0"/>
          </a:p>
        </p:txBody>
      </p:sp>
      <p:sp>
        <p:nvSpPr>
          <p:cNvPr id="4" name="stands-0"/>
          <p:cNvSpPr/>
          <p:nvPr/>
        </p:nvSpPr>
        <p:spPr>
          <a:xfrm>
            <a:off x="566928" y="1481328"/>
            <a:ext cx="5385816" cy="1353312"/>
          </a:xfrm>
          <a:prstGeom prst="roundRect">
            <a:avLst>
              <a:gd name="adj" fmla="val 5405"/>
            </a:avLst>
          </a:prstGeom>
          <a:solidFill>
            <a:srgbClr val="EEF1F4"/>
          </a:solidFill>
          <a:ln w="12700">
            <a:solidFill>
              <a:srgbClr val="EEF1F4"/>
            </a:solidFill>
            <a:prstDash val="solid"/>
          </a:ln>
        </p:spPr>
      </p:sp>
      <p:sp>
        <p:nvSpPr>
          <p:cNvPr id="5" name="Text 3"/>
          <p:cNvSpPr txBox="1"/>
          <p:nvPr/>
        </p:nvSpPr>
        <p:spPr>
          <a:xfrm>
            <a:off x="822960" y="1682496"/>
            <a:ext cx="1280160" cy="457200"/>
          </a:xfrm>
          <a:prstGeom prst="rect">
            <a:avLst/>
          </a:prstGeom>
          <a:noFill/>
          <a:ln/>
        </p:spPr>
        <p:txBody>
          <a:bodyPr wrap="square" lIns="0" tIns="0" rIns="0" bIns="0" rtlCol="0" anchor="ctr"/>
          <a:lstStyle/>
          <a:p>
            <a:pPr indent="0" marL="0">
              <a:buNone/>
            </a:pPr>
            <a:r>
              <a:rPr lang="en-US" sz="2600" b="1" dirty="0">
                <a:solidFill>
                  <a:srgbClr val="2E6E8E"/>
                </a:solidFill>
                <a:latin typeface="Cambria" pitchFamily="34" charset="0"/>
                <a:ea typeface="Cambria" pitchFamily="34" charset="-122"/>
                <a:cs typeface="Cambria" pitchFamily="34" charset="-120"/>
              </a:rPr>
              <a:t>0.993</a:t>
            </a:r>
            <a:endParaRPr lang="en-US" sz="2600" dirty="0"/>
          </a:p>
        </p:txBody>
      </p:sp>
      <p:sp>
        <p:nvSpPr>
          <p:cNvPr id="6" name="Text 4"/>
          <p:cNvSpPr txBox="1"/>
          <p:nvPr/>
        </p:nvSpPr>
        <p:spPr>
          <a:xfrm>
            <a:off x="2139696" y="1664208"/>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The defender's number</a:t>
            </a:r>
            <a:endParaRPr lang="en-US" sz="1350" dirty="0"/>
          </a:p>
        </p:txBody>
      </p:sp>
      <p:sp>
        <p:nvSpPr>
          <p:cNvPr id="7" name="Text 5"/>
          <p:cNvSpPr txBox="1"/>
          <p:nvPr/>
        </p:nvSpPr>
        <p:spPr>
          <a:xfrm>
            <a:off x="2139696" y="1993392"/>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Two probes read two-sided, minimised over the whole grid. No setting is quiet at the attacked layer and the untouched one at once.</a:t>
            </a:r>
            <a:endParaRPr lang="en-US" sz="1150" dirty="0"/>
          </a:p>
        </p:txBody>
      </p:sp>
      <p:sp>
        <p:nvSpPr>
          <p:cNvPr id="8" name="stands-1"/>
          <p:cNvSpPr/>
          <p:nvPr/>
        </p:nvSpPr>
        <p:spPr>
          <a:xfrm>
            <a:off x="566928" y="2926080"/>
            <a:ext cx="5385816" cy="1353312"/>
          </a:xfrm>
          <a:prstGeom prst="roundRect">
            <a:avLst>
              <a:gd name="adj" fmla="val 5405"/>
            </a:avLst>
          </a:prstGeom>
          <a:solidFill>
            <a:srgbClr val="EEF1F4"/>
          </a:solidFill>
          <a:ln w="12700">
            <a:solidFill>
              <a:srgbClr val="EEF1F4"/>
            </a:solidFill>
            <a:prstDash val="solid"/>
          </a:ln>
        </p:spPr>
      </p:sp>
      <p:sp>
        <p:nvSpPr>
          <p:cNvPr id="9" name="Text 7"/>
          <p:cNvSpPr txBox="1"/>
          <p:nvPr/>
        </p:nvSpPr>
        <p:spPr>
          <a:xfrm>
            <a:off x="822960" y="3127248"/>
            <a:ext cx="1280160" cy="457200"/>
          </a:xfrm>
          <a:prstGeom prst="rect">
            <a:avLst/>
          </a:prstGeom>
          <a:noFill/>
          <a:ln/>
        </p:spPr>
        <p:txBody>
          <a:bodyPr wrap="square" lIns="0" tIns="0" rIns="0" bIns="0" rtlCol="0" anchor="ctr"/>
          <a:lstStyle/>
          <a:p>
            <a:pPr indent="0" marL="0">
              <a:buNone/>
            </a:pPr>
            <a:r>
              <a:rPr lang="en-US" sz="2600" b="1" dirty="0">
                <a:solidFill>
                  <a:srgbClr val="2E6E8E"/>
                </a:solidFill>
                <a:latin typeface="Cambria" pitchFamily="34" charset="0"/>
                <a:ea typeface="Cambria" pitchFamily="34" charset="-122"/>
                <a:cs typeface="Cambria" pitchFamily="34" charset="-120"/>
              </a:rPr>
              <a:t>0.859</a:t>
            </a:r>
            <a:endParaRPr lang="en-US" sz="2600" dirty="0"/>
          </a:p>
        </p:txBody>
      </p:sp>
      <p:sp>
        <p:nvSpPr>
          <p:cNvPr id="10" name="Text 8"/>
          <p:cNvSpPr txBox="1"/>
          <p:nvPr/>
        </p:nvSpPr>
        <p:spPr>
          <a:xfrm>
            <a:off x="2139696" y="3108960"/>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Behavioural signal at layer 20</a:t>
            </a:r>
            <a:endParaRPr lang="en-US" sz="1350" dirty="0"/>
          </a:p>
        </p:txBody>
      </p:sp>
      <p:sp>
        <p:nvSpPr>
          <p:cNvPr id="11" name="Text 9"/>
          <p:cNvSpPr txBox="1"/>
          <p:nvPr/>
        </p:nvSpPr>
        <p:spPr>
          <a:xfrm>
            <a:off x="2139696" y="3438144"/>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Within-prompt, out of fold, last-pooled, against a null whose 95th percentile is 0.628 over 500 shuffles. Mean-pooled at the same layer reads 0.644.</a:t>
            </a:r>
            <a:endParaRPr lang="en-US" sz="1150" dirty="0"/>
          </a:p>
        </p:txBody>
      </p:sp>
      <p:sp>
        <p:nvSpPr>
          <p:cNvPr id="12" name="stands-2"/>
          <p:cNvSpPr/>
          <p:nvPr/>
        </p:nvSpPr>
        <p:spPr>
          <a:xfrm>
            <a:off x="566928" y="4370832"/>
            <a:ext cx="5385816" cy="1353312"/>
          </a:xfrm>
          <a:prstGeom prst="roundRect">
            <a:avLst>
              <a:gd name="adj" fmla="val 5405"/>
            </a:avLst>
          </a:prstGeom>
          <a:solidFill>
            <a:srgbClr val="EEF1F4"/>
          </a:solidFill>
          <a:ln w="12700">
            <a:solidFill>
              <a:srgbClr val="EEF1F4"/>
            </a:solidFill>
            <a:prstDash val="solid"/>
          </a:ln>
        </p:spPr>
      </p:sp>
      <p:sp>
        <p:nvSpPr>
          <p:cNvPr id="13" name="Text 11"/>
          <p:cNvSpPr txBox="1"/>
          <p:nvPr/>
        </p:nvSpPr>
        <p:spPr>
          <a:xfrm>
            <a:off x="822960" y="4572000"/>
            <a:ext cx="1280160" cy="457200"/>
          </a:xfrm>
          <a:prstGeom prst="rect">
            <a:avLst/>
          </a:prstGeom>
          <a:noFill/>
          <a:ln/>
        </p:spPr>
        <p:txBody>
          <a:bodyPr wrap="square" lIns="0" tIns="0" rIns="0" bIns="0" rtlCol="0" anchor="ctr"/>
          <a:lstStyle/>
          <a:p>
            <a:pPr indent="0" marL="0">
              <a:buNone/>
            </a:pPr>
            <a:r>
              <a:rPr lang="en-US" sz="2600" b="1" dirty="0">
                <a:solidFill>
                  <a:srgbClr val="C2541B"/>
                </a:solidFill>
                <a:latin typeface="Cambria" pitchFamily="34" charset="0"/>
                <a:ea typeface="Cambria" pitchFamily="34" charset="-122"/>
                <a:cs typeface="Cambria" pitchFamily="34" charset="-120"/>
              </a:rPr>
              <a:t>1.000</a:t>
            </a:r>
            <a:endParaRPr lang="en-US" sz="2600" dirty="0"/>
          </a:p>
        </p:txBody>
      </p:sp>
      <p:sp>
        <p:nvSpPr>
          <p:cNvPr id="14" name="Text 12"/>
          <p:cNvSpPr txBox="1"/>
          <p:nvPr/>
        </p:nvSpPr>
        <p:spPr>
          <a:xfrm>
            <a:off x="2139696" y="4553712"/>
            <a:ext cx="3566160" cy="292608"/>
          </a:xfrm>
          <a:prstGeom prst="rect">
            <a:avLst/>
          </a:prstGeom>
          <a:noFill/>
          <a:ln/>
        </p:spPr>
        <p:txBody>
          <a:bodyPr wrap="square" lIns="0" tIns="0" rIns="0" bIns="0" rtlCol="0" anchor="ctr"/>
          <a:lstStyle/>
          <a:p>
            <a:pPr indent="0" marL="0">
              <a:buNone/>
            </a:pPr>
            <a:r>
              <a:rPr lang="en-US" sz="1350" b="1" dirty="0">
                <a:solidFill>
                  <a:srgbClr val="1A2230"/>
                </a:solidFill>
                <a:latin typeface="Cambria" pitchFamily="34" charset="0"/>
                <a:ea typeface="Cambria" pitchFamily="34" charset="-122"/>
                <a:cs typeface="Cambria" pitchFamily="34" charset="-120"/>
              </a:rPr>
              <a:t>A failure mode worth naming</a:t>
            </a:r>
            <a:endParaRPr lang="en-US" sz="1350" dirty="0"/>
          </a:p>
        </p:txBody>
      </p:sp>
      <p:sp>
        <p:nvSpPr>
          <p:cNvPr id="15" name="Text 13"/>
          <p:cNvSpPr txBox="1"/>
          <p:nvPr/>
        </p:nvSpPr>
        <p:spPr>
          <a:xfrm>
            <a:off x="2139696" y="4882896"/>
            <a:ext cx="3566160" cy="749808"/>
          </a:xfrm>
          <a:prstGeom prst="rect">
            <a:avLst/>
          </a:prstGeom>
          <a:noFill/>
          <a:ln/>
        </p:spPr>
        <p:txBody>
          <a:bodyPr wrap="square" lIns="0" tIns="0" rIns="0" bIns="0" rtlCol="0" anchor="ctr"/>
          <a:lstStyle/>
          <a:p>
            <a:pPr indent="0" marL="0">
              <a:lnSpc>
                <a:spcPct val="120000"/>
              </a:lnSpc>
              <a:buNone/>
            </a:pPr>
            <a:r>
              <a:rPr lang="en-US" sz="1150" dirty="0">
                <a:solidFill>
                  <a:srgbClr val="4A5663"/>
                </a:solidFill>
              </a:rPr>
              <a:t>Two prompts make the label, the probe reads the prompt, every layer scores 1.000, and layer selection stops working. Anyone building this will hit it.</a:t>
            </a:r>
            <a:endParaRPr lang="en-US" sz="1150" dirty="0"/>
          </a:p>
        </p:txBody>
      </p:sp>
      <p:sp>
        <p:nvSpPr>
          <p:cNvPr id="16" name="machinery"/>
          <p:cNvSpPr/>
          <p:nvPr/>
        </p:nvSpPr>
        <p:spPr>
          <a:xfrm>
            <a:off x="6236208" y="1481328"/>
            <a:ext cx="5385816" cy="4242816"/>
          </a:xfrm>
          <a:prstGeom prst="roundRect">
            <a:avLst>
              <a:gd name="adj" fmla="val 1724"/>
            </a:avLst>
          </a:prstGeom>
          <a:solidFill>
            <a:srgbClr val="EEF1F4"/>
          </a:solidFill>
          <a:ln w="12700">
            <a:solidFill>
              <a:srgbClr val="EEF1F4"/>
            </a:solidFill>
            <a:prstDash val="solid"/>
          </a:ln>
        </p:spPr>
      </p:sp>
      <p:sp>
        <p:nvSpPr>
          <p:cNvPr id="17" name="Text 15"/>
          <p:cNvSpPr txBox="1"/>
          <p:nvPr/>
        </p:nvSpPr>
        <p:spPr>
          <a:xfrm>
            <a:off x="6510528" y="1664208"/>
            <a:ext cx="4846320" cy="256032"/>
          </a:xfrm>
          <a:prstGeom prst="rect">
            <a:avLst/>
          </a:prstGeom>
          <a:noFill/>
          <a:ln/>
        </p:spPr>
        <p:txBody>
          <a:bodyPr wrap="square" lIns="0" tIns="0" rIns="0" bIns="0" rtlCol="0" anchor="ctr"/>
          <a:lstStyle/>
          <a:p>
            <a:pPr indent="0" marL="0">
              <a:buNone/>
            </a:pPr>
            <a:r>
              <a:rPr lang="en-US" sz="1200" b="1" dirty="0">
                <a:solidFill>
                  <a:srgbClr val="6B7A88"/>
                </a:solidFill>
              </a:rPr>
              <a:t>Machinery that held</a:t>
            </a:r>
            <a:endParaRPr lang="en-US" sz="1200" dirty="0"/>
          </a:p>
        </p:txBody>
      </p:sp>
      <p:sp>
        <p:nvSpPr>
          <p:cNvPr id="18" name="Text 16"/>
          <p:cNvSpPr txBox="1"/>
          <p:nvPr/>
        </p:nvSpPr>
        <p:spPr>
          <a:xfrm>
            <a:off x="6510528" y="202996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Executable ground truth</a:t>
            </a:r>
            <a:endParaRPr lang="en-US" sz="1250" dirty="0"/>
          </a:p>
        </p:txBody>
      </p:sp>
      <p:sp>
        <p:nvSpPr>
          <p:cNvPr id="19" name="Text 17"/>
          <p:cNvSpPr txBox="1"/>
          <p:nvPr/>
        </p:nvSpPr>
        <p:spPr>
          <a:xfrm>
            <a:off x="6510528" y="226771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official mbpp tests run in a subprocess. Whether they passed is a fact, with no second model judging it.</a:t>
            </a:r>
            <a:endParaRPr lang="en-US" sz="1100" dirty="0"/>
          </a:p>
        </p:txBody>
      </p:sp>
      <p:sp>
        <p:nvSpPr>
          <p:cNvPr id="20" name="Text 18"/>
          <p:cNvSpPr txBox="1"/>
          <p:nvPr/>
        </p:nvSpPr>
        <p:spPr>
          <a:xfrm>
            <a:off x="6510528" y="276148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A flip label with a validity flag</a:t>
            </a:r>
            <a:endParaRPr lang="en-US" sz="1250" dirty="0"/>
          </a:p>
        </p:txBody>
      </p:sp>
      <p:sp>
        <p:nvSpPr>
          <p:cNvPr id="21" name="Text 19"/>
          <p:cNvSpPr txBox="1"/>
          <p:nvPr/>
        </p:nvSpPr>
        <p:spPr>
          <a:xfrm>
            <a:off x="6510528" y="299923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Right under one prompt, wrong under the other, same problem. The valid rate held at 1.000, which rules out steering into incoherence.</a:t>
            </a:r>
            <a:endParaRPr lang="en-US" sz="1100" dirty="0"/>
          </a:p>
        </p:txBody>
      </p:sp>
      <p:sp>
        <p:nvSpPr>
          <p:cNvPr id="22" name="Text 20"/>
          <p:cNvSpPr txBox="1"/>
          <p:nvPr/>
        </p:nvSpPr>
        <p:spPr>
          <a:xfrm>
            <a:off x="6510528" y="349300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Controls written as a gate</a:t>
            </a:r>
            <a:endParaRPr lang="en-US" sz="1250" dirty="0"/>
          </a:p>
        </p:txBody>
      </p:sp>
      <p:sp>
        <p:nvSpPr>
          <p:cNvPr id="23" name="Text 21"/>
          <p:cNvSpPr txBox="1"/>
          <p:nvPr/>
        </p:nvSpPr>
        <p:spPr>
          <a:xfrm>
            <a:off x="6510528" y="373075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prompt control fired at 1.000 before any steering ran. The instrument worked and we overrode it.</a:t>
            </a:r>
            <a:endParaRPr lang="en-US" sz="1100" dirty="0"/>
          </a:p>
        </p:txBody>
      </p:sp>
      <p:sp>
        <p:nvSpPr>
          <p:cNvPr id="24" name="Text 22"/>
          <p:cNvSpPr txBox="1"/>
          <p:nvPr/>
        </p:nvSpPr>
        <p:spPr>
          <a:xfrm>
            <a:off x="6510528" y="422452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A probe at a layer we never steered</a:t>
            </a:r>
            <a:endParaRPr lang="en-US" sz="1250" dirty="0"/>
          </a:p>
        </p:txBody>
      </p:sp>
      <p:sp>
        <p:nvSpPr>
          <p:cNvPr id="25" name="Text 23"/>
          <p:cNvSpPr txBox="1"/>
          <p:nvPr/>
        </p:nvSpPr>
        <p:spPr>
          <a:xfrm>
            <a:off x="6510528" y="446227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Layer 28, fitted on the same split. It is the only reason there is a defence result to report.</a:t>
            </a:r>
            <a:endParaRPr lang="en-US" sz="1100" dirty="0"/>
          </a:p>
        </p:txBody>
      </p:sp>
      <p:sp>
        <p:nvSpPr>
          <p:cNvPr id="26" name="Text 24"/>
          <p:cNvSpPr txBox="1"/>
          <p:nvPr/>
        </p:nvSpPr>
        <p:spPr>
          <a:xfrm>
            <a:off x="6510528" y="4956048"/>
            <a:ext cx="4846320" cy="237744"/>
          </a:xfrm>
          <a:prstGeom prst="rect">
            <a:avLst/>
          </a:prstGeom>
          <a:noFill/>
          <a:ln/>
        </p:spPr>
        <p:txBody>
          <a:bodyPr wrap="square" lIns="0" tIns="0" rIns="0" bIns="0" rtlCol="0" anchor="ctr"/>
          <a:lstStyle/>
          <a:p>
            <a:pPr indent="0" marL="0">
              <a:buNone/>
            </a:pPr>
            <a:r>
              <a:rPr lang="en-US" sz="1250" b="1" dirty="0">
                <a:solidFill>
                  <a:srgbClr val="1A2230"/>
                </a:solidFill>
                <a:latin typeface="Cambria" pitchFamily="34" charset="0"/>
                <a:ea typeface="Cambria" pitchFamily="34" charset="-122"/>
                <a:cs typeface="Cambria" pitchFamily="34" charset="-120"/>
              </a:rPr>
              <a:t>Features saved per alpha</a:t>
            </a:r>
            <a:endParaRPr lang="en-US" sz="1250" dirty="0"/>
          </a:p>
        </p:txBody>
      </p:sp>
      <p:sp>
        <p:nvSpPr>
          <p:cNvPr id="27" name="Text 25"/>
          <p:cNvSpPr txBox="1"/>
          <p:nvPr/>
        </p:nvSpPr>
        <p:spPr>
          <a:xfrm>
            <a:off x="6510528" y="5193792"/>
            <a:ext cx="4846320" cy="438912"/>
          </a:xfrm>
          <a:prstGeom prst="rect">
            <a:avLst/>
          </a:prstGeom>
          <a:noFill/>
          <a:ln/>
        </p:spPr>
        <p:txBody>
          <a:bodyPr wrap="square" lIns="0" tIns="0" rIns="0" bIns="0" rtlCol="0" anchor="ctr"/>
          <a:lstStyle/>
          <a:p>
            <a:pPr indent="0" marL="0">
              <a:lnSpc>
                <a:spcPct val="118000"/>
              </a:lnSpc>
              <a:buNone/>
            </a:pPr>
            <a:r>
              <a:rPr lang="en-US" sz="1100" dirty="0">
                <a:solidFill>
                  <a:srgbClr val="4A5663"/>
                </a:solidFill>
              </a:rPr>
              <a:t>The residual arithmetic, the two-sided AUROC, the Jaccard and the within-prompt grid all came off one npz, on CPU alone.</a:t>
            </a:r>
            <a:endParaRPr lang="en-US" sz="1100" dirty="0"/>
          </a:p>
        </p:txBody>
      </p:sp>
      <p:sp>
        <p:nvSpPr>
          <p:cNvPr id="2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Steering the prompt positions too, STEER_SCOPE set to all, did not erase the instruction: the flip rate held at 0.274 and rose to 0.342.</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C2541B"/>
                </a:solidFill>
              </a:rPr>
              <a:t>WHAT IS NOT WORKING</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Four things that broke, worst first</a:t>
            </a:r>
            <a:endParaRPr lang="en-US" sz="2800" dirty="0"/>
          </a:p>
        </p:txBody>
      </p:sp>
      <p:sp>
        <p:nvSpPr>
          <p:cNvPr id="4" name="broke-0"/>
          <p:cNvSpPr/>
          <p:nvPr/>
        </p:nvSpPr>
        <p:spPr>
          <a:xfrm>
            <a:off x="566928" y="1481328"/>
            <a:ext cx="11057839" cy="932688"/>
          </a:xfrm>
          <a:prstGeom prst="roundRect">
            <a:avLst>
              <a:gd name="adj" fmla="val 7843"/>
            </a:avLst>
          </a:prstGeom>
          <a:solidFill>
            <a:srgbClr val="EEF1F4"/>
          </a:solidFill>
          <a:ln w="12700">
            <a:solidFill>
              <a:srgbClr val="EEF1F4"/>
            </a:solidFill>
            <a:prstDash val="solid"/>
          </a:ln>
        </p:spPr>
      </p:sp>
      <p:sp>
        <p:nvSpPr>
          <p:cNvPr id="5" name="badge-1"/>
          <p:cNvSpPr/>
          <p:nvPr/>
        </p:nvSpPr>
        <p:spPr>
          <a:xfrm>
            <a:off x="841248" y="1755648"/>
            <a:ext cx="384048" cy="384048"/>
          </a:xfrm>
          <a:prstGeom prst="ellipse">
            <a:avLst/>
          </a:prstGeom>
          <a:solidFill>
            <a:srgbClr val="C2541B"/>
          </a:solidFill>
          <a:ln w="12700">
            <a:solidFill>
              <a:srgbClr val="C2541B"/>
            </a:solidFill>
            <a:prstDash val="solid"/>
          </a:ln>
        </p:spPr>
      </p:sp>
      <p:sp>
        <p:nvSpPr>
          <p:cNvPr id="6" name="Text 4"/>
          <p:cNvSpPr txBox="1"/>
          <p:nvPr/>
        </p:nvSpPr>
        <p:spPr>
          <a:xfrm>
            <a:off x="841248" y="17556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444752" y="1609344"/>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label comes from two prompts</a:t>
            </a:r>
            <a:endParaRPr lang="en-US" sz="1450" dirty="0"/>
          </a:p>
        </p:txBody>
      </p:sp>
      <p:sp>
        <p:nvSpPr>
          <p:cNvPr id="8" name="Text 6"/>
          <p:cNvSpPr txBox="1"/>
          <p:nvPr/>
        </p:nvSpPr>
        <p:spPr>
          <a:xfrm>
            <a:off x="1444752" y="1938528"/>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The probe reads which instruction was in the context, and answer length alone scores 0.672 across prompts. Held constant, the headline cell falls from 1.000 to 0.644.</a:t>
            </a:r>
            <a:endParaRPr lang="en-US" sz="1150" dirty="0"/>
          </a:p>
        </p:txBody>
      </p:sp>
      <p:sp>
        <p:nvSpPr>
          <p:cNvPr id="9" name="Text 7"/>
          <p:cNvSpPr txBox="1"/>
          <p:nvPr/>
        </p:nvSpPr>
        <p:spPr>
          <a:xfrm>
            <a:off x="8156448" y="1627632"/>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10" name="Text 8"/>
          <p:cNvSpPr txBox="1"/>
          <p:nvPr/>
        </p:nvSpPr>
        <p:spPr>
          <a:xfrm>
            <a:off x="8156448" y="1865376"/>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the headline, the layer choice,</a:t>
            </a:r>
            <a:endParaRPr lang="en-US" sz="1150" dirty="0"/>
          </a:p>
          <a:p>
            <a:pPr indent="0" marL="0">
              <a:lnSpc>
                <a:spcPct val="118000"/>
              </a:lnSpc>
              <a:buNone/>
            </a:pPr>
            <a:r>
              <a:rPr lang="en-US" sz="1150" dirty="0">
                <a:solidFill>
                  <a:srgbClr val="C2541B"/>
                </a:solidFill>
              </a:rPr>
              <a:t>and the tax measurement itself</a:t>
            </a:r>
            <a:endParaRPr lang="en-US" sz="1150" dirty="0"/>
          </a:p>
        </p:txBody>
      </p:sp>
      <p:sp>
        <p:nvSpPr>
          <p:cNvPr id="11" name="broke-1"/>
          <p:cNvSpPr/>
          <p:nvPr/>
        </p:nvSpPr>
        <p:spPr>
          <a:xfrm>
            <a:off x="566928" y="2523744"/>
            <a:ext cx="11057839" cy="932688"/>
          </a:xfrm>
          <a:prstGeom prst="roundRect">
            <a:avLst>
              <a:gd name="adj" fmla="val 7843"/>
            </a:avLst>
          </a:prstGeom>
          <a:solidFill>
            <a:srgbClr val="EEF1F4"/>
          </a:solidFill>
          <a:ln w="12700">
            <a:solidFill>
              <a:srgbClr val="EEF1F4"/>
            </a:solidFill>
            <a:prstDash val="solid"/>
          </a:ln>
        </p:spPr>
      </p:sp>
      <p:sp>
        <p:nvSpPr>
          <p:cNvPr id="12" name="badge-2"/>
          <p:cNvSpPr/>
          <p:nvPr/>
        </p:nvSpPr>
        <p:spPr>
          <a:xfrm>
            <a:off x="841248" y="2798064"/>
            <a:ext cx="384048" cy="384048"/>
          </a:xfrm>
          <a:prstGeom prst="ellipse">
            <a:avLst/>
          </a:prstGeom>
          <a:solidFill>
            <a:srgbClr val="C2541B"/>
          </a:solidFill>
          <a:ln w="12700">
            <a:solidFill>
              <a:srgbClr val="C2541B"/>
            </a:solidFill>
            <a:prstDash val="solid"/>
          </a:ln>
        </p:spPr>
      </p:sp>
      <p:sp>
        <p:nvSpPr>
          <p:cNvPr id="13" name="Text 11"/>
          <p:cNvSpPr txBox="1"/>
          <p:nvPr/>
        </p:nvSpPr>
        <p:spPr>
          <a:xfrm>
            <a:off x="841248" y="27980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1444752" y="2651760"/>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dial has no scale</a:t>
            </a:r>
            <a:endParaRPr lang="en-US" sz="1450" dirty="0"/>
          </a:p>
        </p:txBody>
      </p:sp>
      <p:sp>
        <p:nvSpPr>
          <p:cNvPr id="15" name="Text 13"/>
          <p:cNvSpPr txBox="1"/>
          <p:nvPr/>
        </p:nvSpPr>
        <p:spPr>
          <a:xfrm>
            <a:off x="1444752" y="2980944"/>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In units of alpha the informative window is [0.94, 3.22]. The grid 0, 1, 2, 4, 8 put two of five points inside it.</a:t>
            </a:r>
            <a:endParaRPr lang="en-US" sz="1150" dirty="0"/>
          </a:p>
        </p:txBody>
      </p:sp>
      <p:sp>
        <p:nvSpPr>
          <p:cNvPr id="16" name="Text 14"/>
          <p:cNvSpPr txBox="1"/>
          <p:nvPr/>
        </p:nvSpPr>
        <p:spPr>
          <a:xfrm>
            <a:off x="8156448" y="2670048"/>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17" name="Text 15"/>
          <p:cNvSpPr txBox="1"/>
          <p:nvPr/>
        </p:nvSpPr>
        <p:spPr>
          <a:xfrm>
            <a:off x="8156448" y="2907792"/>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two of five generation passes,</a:t>
            </a:r>
            <a:endParaRPr lang="en-US" sz="1150" dirty="0"/>
          </a:p>
          <a:p>
            <a:pPr indent="0" marL="0">
              <a:lnSpc>
                <a:spcPct val="118000"/>
              </a:lnSpc>
              <a:buNone/>
            </a:pPr>
            <a:r>
              <a:rPr lang="en-US" sz="1150" dirty="0">
                <a:solidFill>
                  <a:srgbClr val="C2541B"/>
                </a:solidFill>
              </a:rPr>
              <a:t>spent where the answer was fixed</a:t>
            </a:r>
            <a:endParaRPr lang="en-US" sz="1150" dirty="0"/>
          </a:p>
        </p:txBody>
      </p:sp>
      <p:sp>
        <p:nvSpPr>
          <p:cNvPr id="18" name="broke-2"/>
          <p:cNvSpPr/>
          <p:nvPr/>
        </p:nvSpPr>
        <p:spPr>
          <a:xfrm>
            <a:off x="566928" y="3566160"/>
            <a:ext cx="11057839" cy="932688"/>
          </a:xfrm>
          <a:prstGeom prst="roundRect">
            <a:avLst>
              <a:gd name="adj" fmla="val 7843"/>
            </a:avLst>
          </a:prstGeom>
          <a:solidFill>
            <a:srgbClr val="EEF1F4"/>
          </a:solidFill>
          <a:ln w="12700">
            <a:solidFill>
              <a:srgbClr val="EEF1F4"/>
            </a:solidFill>
            <a:prstDash val="solid"/>
          </a:ln>
        </p:spPr>
      </p:sp>
      <p:sp>
        <p:nvSpPr>
          <p:cNvPr id="19" name="badge-3"/>
          <p:cNvSpPr/>
          <p:nvPr/>
        </p:nvSpPr>
        <p:spPr>
          <a:xfrm>
            <a:off x="841248" y="3840480"/>
            <a:ext cx="384048" cy="384048"/>
          </a:xfrm>
          <a:prstGeom prst="ellipse">
            <a:avLst/>
          </a:prstGeom>
          <a:solidFill>
            <a:srgbClr val="C2541B"/>
          </a:solidFill>
          <a:ln w="12700">
            <a:solidFill>
              <a:srgbClr val="C2541B"/>
            </a:solidFill>
            <a:prstDash val="solid"/>
          </a:ln>
        </p:spPr>
      </p:sp>
      <p:sp>
        <p:nvSpPr>
          <p:cNvPr id="20" name="Text 18"/>
          <p:cNvSpPr txBox="1"/>
          <p:nvPr/>
        </p:nvSpPr>
        <p:spPr>
          <a:xfrm>
            <a:off x="841248"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Text 19"/>
          <p:cNvSpPr txBox="1"/>
          <p:nvPr/>
        </p:nvSpPr>
        <p:spPr>
          <a:xfrm>
            <a:off x="1444752" y="3694176"/>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sweep table reports the wrong columns</a:t>
            </a:r>
            <a:endParaRPr lang="en-US" sz="1450" dirty="0"/>
          </a:p>
        </p:txBody>
      </p:sp>
      <p:sp>
        <p:nvSpPr>
          <p:cNvPr id="22" name="Text 20"/>
          <p:cNvSpPr txBox="1"/>
          <p:nvPr/>
        </p:nvSpPr>
        <p:spPr>
          <a:xfrm>
            <a:off x="1444752" y="4023360"/>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One-sided AUROC, so 0.000 reads as evasion. The accuracy drop alone, so churn in the failing set is invisible. No residual, no intervals.</a:t>
            </a:r>
            <a:endParaRPr lang="en-US" sz="1150" dirty="0"/>
          </a:p>
        </p:txBody>
      </p:sp>
      <p:sp>
        <p:nvSpPr>
          <p:cNvPr id="23" name="Text 21"/>
          <p:cNvSpPr txBox="1"/>
          <p:nvPr/>
        </p:nvSpPr>
        <p:spPr>
          <a:xfrm>
            <a:off x="8156448" y="3712464"/>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24" name="Text 22"/>
          <p:cNvSpPr txBox="1"/>
          <p:nvPr/>
        </p:nvSpPr>
        <p:spPr>
          <a:xfrm>
            <a:off x="8156448" y="3950208"/>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ten minutes of believing</a:t>
            </a:r>
            <a:endParaRPr lang="en-US" sz="1150" dirty="0"/>
          </a:p>
          <a:p>
            <a:pPr indent="0" marL="0">
              <a:lnSpc>
                <a:spcPct val="118000"/>
              </a:lnSpc>
              <a:buNone/>
            </a:pPr>
            <a:r>
              <a:rPr lang="en-US" sz="1150" dirty="0">
                <a:solidFill>
                  <a:srgbClr val="C2541B"/>
                </a:solidFill>
              </a:rPr>
              <a:t>outcome 1, and nearly a write-up</a:t>
            </a:r>
            <a:endParaRPr lang="en-US" sz="1150" dirty="0"/>
          </a:p>
        </p:txBody>
      </p:sp>
      <p:sp>
        <p:nvSpPr>
          <p:cNvPr id="25" name="broke-3"/>
          <p:cNvSpPr/>
          <p:nvPr/>
        </p:nvSpPr>
        <p:spPr>
          <a:xfrm>
            <a:off x="566928" y="4608576"/>
            <a:ext cx="11057839" cy="932688"/>
          </a:xfrm>
          <a:prstGeom prst="roundRect">
            <a:avLst>
              <a:gd name="adj" fmla="val 7843"/>
            </a:avLst>
          </a:prstGeom>
          <a:solidFill>
            <a:srgbClr val="EEF1F4"/>
          </a:solidFill>
          <a:ln w="12700">
            <a:solidFill>
              <a:srgbClr val="EEF1F4"/>
            </a:solidFill>
            <a:prstDash val="solid"/>
          </a:ln>
        </p:spPr>
      </p:sp>
      <p:sp>
        <p:nvSpPr>
          <p:cNvPr id="26" name="badge-4"/>
          <p:cNvSpPr/>
          <p:nvPr/>
        </p:nvSpPr>
        <p:spPr>
          <a:xfrm>
            <a:off x="841248" y="4882896"/>
            <a:ext cx="384048" cy="384048"/>
          </a:xfrm>
          <a:prstGeom prst="ellipse">
            <a:avLst/>
          </a:prstGeom>
          <a:solidFill>
            <a:srgbClr val="C2541B"/>
          </a:solidFill>
          <a:ln w="12700">
            <a:solidFill>
              <a:srgbClr val="C2541B"/>
            </a:solidFill>
            <a:prstDash val="solid"/>
          </a:ln>
        </p:spPr>
      </p:sp>
      <p:sp>
        <p:nvSpPr>
          <p:cNvPr id="27" name="Text 25"/>
          <p:cNvSpPr txBox="1"/>
          <p:nvPr/>
        </p:nvSpPr>
        <p:spPr>
          <a:xfrm>
            <a:off x="841248" y="48828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8" name="Text 26"/>
          <p:cNvSpPr txBox="1"/>
          <p:nvPr/>
        </p:nvSpPr>
        <p:spPr>
          <a:xfrm>
            <a:off x="1444752" y="4736592"/>
            <a:ext cx="6492240" cy="292608"/>
          </a:xfrm>
          <a:prstGeom prst="rect">
            <a:avLst/>
          </a:prstGeom>
          <a:noFill/>
          <a:ln/>
        </p:spPr>
        <p:txBody>
          <a:bodyPr wrap="square" lIns="0" tIns="0" rIns="0" bIns="0" rtlCol="0" anchor="ctr"/>
          <a:lstStyle/>
          <a:p>
            <a:pPr indent="0" marL="0">
              <a:buNone/>
            </a:pPr>
            <a:r>
              <a:rPr lang="en-US" sz="1450" b="1" dirty="0">
                <a:solidFill>
                  <a:srgbClr val="1A2230"/>
                </a:solidFill>
                <a:latin typeface="Cambria" pitchFamily="34" charset="0"/>
                <a:ea typeface="Cambria" pitchFamily="34" charset="-122"/>
                <a:cs typeface="Cambria" pitchFamily="34" charset="-120"/>
              </a:rPr>
              <a:t>The gate was not honoured</a:t>
            </a:r>
            <a:endParaRPr lang="en-US" sz="1450" dirty="0"/>
          </a:p>
        </p:txBody>
      </p:sp>
      <p:sp>
        <p:nvSpPr>
          <p:cNvPr id="29" name="Text 27"/>
          <p:cNvSpPr txBox="1"/>
          <p:nvPr/>
        </p:nvSpPr>
        <p:spPr>
          <a:xfrm>
            <a:off x="1444752" y="5065776"/>
            <a:ext cx="6492240" cy="402336"/>
          </a:xfrm>
          <a:prstGeom prst="rect">
            <a:avLst/>
          </a:prstGeom>
          <a:noFill/>
          <a:ln/>
        </p:spPr>
        <p:txBody>
          <a:bodyPr wrap="square" lIns="0" tIns="0" rIns="0" bIns="0" rtlCol="0" anchor="ctr"/>
          <a:lstStyle/>
          <a:p>
            <a:pPr indent="0" marL="0">
              <a:lnSpc>
                <a:spcPct val="118000"/>
              </a:lnSpc>
              <a:buNone/>
            </a:pPr>
            <a:r>
              <a:rPr lang="en-US" sz="1150" dirty="0">
                <a:solidFill>
                  <a:srgbClr val="4A5663"/>
                </a:solidFill>
              </a:rPr>
              <a:t>37 successful attacks against a minimum of 40, with 20 of them in the held-out half.</a:t>
            </a:r>
            <a:endParaRPr lang="en-US" sz="1150" dirty="0"/>
          </a:p>
        </p:txBody>
      </p:sp>
      <p:sp>
        <p:nvSpPr>
          <p:cNvPr id="30" name="Text 28"/>
          <p:cNvSpPr txBox="1"/>
          <p:nvPr/>
        </p:nvSpPr>
        <p:spPr>
          <a:xfrm>
            <a:off x="8156448" y="4754880"/>
            <a:ext cx="3108960" cy="201168"/>
          </a:xfrm>
          <a:prstGeom prst="rect">
            <a:avLst/>
          </a:prstGeom>
          <a:noFill/>
          <a:ln/>
        </p:spPr>
        <p:txBody>
          <a:bodyPr wrap="square" lIns="0" tIns="0" rIns="0" bIns="0" rtlCol="0" anchor="ctr"/>
          <a:lstStyle/>
          <a:p>
            <a:pPr indent="0" marL="0">
              <a:buNone/>
            </a:pPr>
            <a:r>
              <a:rPr lang="en-US" sz="900" b="1" spc="140" kern="0" dirty="0">
                <a:solidFill>
                  <a:srgbClr val="6B7A88"/>
                </a:solidFill>
              </a:rPr>
              <a:t>COST</a:t>
            </a:r>
            <a:endParaRPr lang="en-US" sz="900" dirty="0"/>
          </a:p>
        </p:txBody>
      </p:sp>
      <p:sp>
        <p:nvSpPr>
          <p:cNvPr id="31" name="Text 29"/>
          <p:cNvSpPr txBox="1"/>
          <p:nvPr/>
        </p:nvSpPr>
        <p:spPr>
          <a:xfrm>
            <a:off x="8156448" y="4992624"/>
            <a:ext cx="3108960" cy="457200"/>
          </a:xfrm>
          <a:prstGeom prst="rect">
            <a:avLst/>
          </a:prstGeom>
          <a:noFill/>
          <a:ln/>
        </p:spPr>
        <p:txBody>
          <a:bodyPr wrap="square" lIns="0" tIns="0" rIns="0" bIns="0" rtlCol="0" anchor="ctr"/>
          <a:lstStyle/>
          <a:p>
            <a:pPr indent="0" marL="0">
              <a:lnSpc>
                <a:spcPct val="118000"/>
              </a:lnSpc>
              <a:buNone/>
            </a:pPr>
            <a:r>
              <a:rPr lang="en-US" sz="1150" dirty="0">
                <a:solidFill>
                  <a:srgbClr val="C2541B"/>
                </a:solidFill>
              </a:rPr>
              <a:t>every interval in the deck:</a:t>
            </a:r>
            <a:endParaRPr lang="en-US" sz="1150" dirty="0"/>
          </a:p>
          <a:p>
            <a:pPr indent="0" marL="0">
              <a:lnSpc>
                <a:spcPct val="118000"/>
              </a:lnSpc>
              <a:buNone/>
            </a:pPr>
            <a:r>
              <a:rPr lang="en-US" sz="1150" dirty="0">
                <a:solidFill>
                  <a:srgbClr val="C2541B"/>
                </a:solidFill>
              </a:rPr>
              <a:t>alpha 2 is [0.43, 0.71]</a:t>
            </a:r>
            <a:endParaRPr lang="en-US" sz="1150" dirty="0"/>
          </a:p>
        </p:txBody>
      </p:sp>
      <p:sp>
        <p:nvSpPr>
          <p:cNvPr id="32" name="smaller"/>
          <p:cNvSpPr/>
          <p:nvPr/>
        </p:nvSpPr>
        <p:spPr>
          <a:xfrm>
            <a:off x="566928" y="5669280"/>
            <a:ext cx="11057839" cy="566928"/>
          </a:xfrm>
          <a:prstGeom prst="roundRect">
            <a:avLst>
              <a:gd name="adj" fmla="val 12903"/>
            </a:avLst>
          </a:prstGeom>
          <a:solidFill>
            <a:srgbClr val="15202B"/>
          </a:solidFill>
          <a:ln w="12700">
            <a:solidFill>
              <a:srgbClr val="15202B"/>
            </a:solidFill>
            <a:prstDash val="solid"/>
          </a:ln>
        </p:spPr>
      </p:sp>
      <p:sp>
        <p:nvSpPr>
          <p:cNvPr id="33" name="Text 31"/>
          <p:cNvSpPr txBox="1"/>
          <p:nvPr/>
        </p:nvSpPr>
        <p:spPr>
          <a:xfrm>
            <a:off x="877824" y="5669280"/>
            <a:ext cx="10436047" cy="566928"/>
          </a:xfrm>
          <a:prstGeom prst="rect">
            <a:avLst/>
          </a:prstGeom>
          <a:noFill/>
          <a:ln/>
        </p:spPr>
        <p:txBody>
          <a:bodyPr wrap="square" lIns="0" tIns="0" rIns="0" bIns="0" rtlCol="0" anchor="ctr"/>
          <a:lstStyle/>
          <a:p>
            <a:pPr indent="0" marL="0">
              <a:buNone/>
            </a:pPr>
            <a:r>
              <a:rPr lang="en-US" sz="1100" dirty="0">
                <a:solidFill>
                  <a:srgbClr val="9DADBC"/>
                </a:solidFill>
              </a:rPr>
              <a:t>Smaller:  </a:t>
            </a:r>
            <a:pPr indent="0" marL="0">
              <a:buNone/>
            </a:pPr>
            <a:r>
              <a:rPr lang="en-US" sz="1100" dirty="0">
                <a:solidFill>
                  <a:srgbClr val="E7ECF1"/>
                </a:solidFill>
              </a:rPr>
              <a:t>the probe trained on 37 attacked rows while 35 clean ones sat in the same file, and the monitor ran on the sandbagger's own weights with only its mean honest suspicion saved, so the monitor gate was never scored.</a:t>
            </a:r>
            <a:endParaRPr lang="en-US" sz="11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WHERE IT STANDS NOW</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Seven fixes are in. Four need a re-run</a:t>
            </a:r>
            <a:endParaRPr lang="en-US" sz="2800" dirty="0"/>
          </a:p>
        </p:txBody>
      </p:sp>
      <p:sp>
        <p:nvSpPr>
          <p:cNvPr id="4" name="free"/>
          <p:cNvSpPr/>
          <p:nvPr/>
        </p:nvSpPr>
        <p:spPr>
          <a:xfrm>
            <a:off x="566928" y="1481328"/>
            <a:ext cx="5385816" cy="4242816"/>
          </a:xfrm>
          <a:prstGeom prst="roundRect">
            <a:avLst>
              <a:gd name="adj" fmla="val 1724"/>
            </a:avLst>
          </a:prstGeom>
          <a:solidFill>
            <a:srgbClr val="EEF1F4"/>
          </a:solidFill>
          <a:ln w="12700">
            <a:solidFill>
              <a:srgbClr val="EEF1F4"/>
            </a:solidFill>
            <a:prstDash val="solid"/>
          </a:ln>
        </p:spPr>
      </p:sp>
      <p:sp>
        <p:nvSpPr>
          <p:cNvPr id="5" name="Text 3"/>
          <p:cNvSpPr txBox="1"/>
          <p:nvPr/>
        </p:nvSpPr>
        <p:spPr>
          <a:xfrm>
            <a:off x="841248" y="1664208"/>
            <a:ext cx="4846320" cy="256032"/>
          </a:xfrm>
          <a:prstGeom prst="rect">
            <a:avLst/>
          </a:prstGeom>
          <a:noFill/>
          <a:ln/>
        </p:spPr>
        <p:txBody>
          <a:bodyPr wrap="square" lIns="0" tIns="0" rIns="0" bIns="0" rtlCol="0" anchor="ctr"/>
          <a:lstStyle/>
          <a:p>
            <a:pPr indent="0" marL="0">
              <a:buNone/>
            </a:pPr>
            <a:r>
              <a:rPr lang="en-US" sz="1200" b="1" dirty="0">
                <a:solidFill>
                  <a:srgbClr val="2E6E8E"/>
                </a:solidFill>
              </a:rPr>
              <a:t>Done, from the run already on disk</a:t>
            </a:r>
            <a:endParaRPr lang="en-US" sz="1200" dirty="0"/>
          </a:p>
        </p:txBody>
      </p:sp>
      <p:sp>
        <p:nvSpPr>
          <p:cNvPr id="6" name="Text 4"/>
          <p:cNvSpPr txBox="1"/>
          <p:nvPr/>
        </p:nvSpPr>
        <p:spPr>
          <a:xfrm>
            <a:off x="841248" y="2048256"/>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1</a:t>
            </a:r>
            <a:endParaRPr lang="en-US" sz="1100" dirty="0"/>
          </a:p>
        </p:txBody>
      </p:sp>
      <p:sp>
        <p:nvSpPr>
          <p:cNvPr id="7" name="Text 5"/>
          <p:cNvSpPr txBox="1"/>
          <p:nvPr/>
        </p:nvSpPr>
        <p:spPr>
          <a:xfrm>
            <a:off x="1170432" y="2029968"/>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Within-prompt AUROC is the headline, and it picks the layer and pooling: L20 last-pooled at 0.859.</a:t>
            </a:r>
            <a:endParaRPr lang="en-US" sz="1100" dirty="0"/>
          </a:p>
        </p:txBody>
      </p:sp>
      <p:sp>
        <p:nvSpPr>
          <p:cNvPr id="8" name="Text 6"/>
          <p:cNvSpPr txBox="1"/>
          <p:nvPr/>
        </p:nvSpPr>
        <p:spPr>
          <a:xfrm>
            <a:off x="841248" y="2560320"/>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2</a:t>
            </a:r>
            <a:endParaRPr lang="en-US" sz="1100" dirty="0"/>
          </a:p>
        </p:txBody>
      </p:sp>
      <p:sp>
        <p:nvSpPr>
          <p:cNvPr id="9" name="Text 7"/>
          <p:cNvSpPr txBox="1"/>
          <p:nvPr/>
        </p:nvSpPr>
        <p:spPr>
          <a:xfrm>
            <a:off x="1170432" y="2542032"/>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Two-sided AUROC and TPR at 1% FPR. Alpha 4 and 8 go back to 1.000.</a:t>
            </a:r>
            <a:endParaRPr lang="en-US" sz="1100" dirty="0"/>
          </a:p>
        </p:txBody>
      </p:sp>
      <p:sp>
        <p:nvSpPr>
          <p:cNvPr id="10" name="Text 8"/>
          <p:cNvSpPr txBox="1"/>
          <p:nvPr/>
        </p:nvSpPr>
        <p:spPr>
          <a:xfrm>
            <a:off x="841248" y="3072384"/>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3</a:t>
            </a:r>
            <a:endParaRPr lang="en-US" sz="1100" dirty="0"/>
          </a:p>
        </p:txBody>
      </p:sp>
      <p:sp>
        <p:nvSpPr>
          <p:cNvPr id="11" name="Text 9"/>
          <p:cNvSpPr txBox="1"/>
          <p:nvPr/>
        </p:nvSpPr>
        <p:spPr>
          <a:xfrm>
            <a:off x="1170432" y="3054096"/>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 residual column, realised minus predicted. It reads under 1.6% at every alpha.</a:t>
            </a:r>
            <a:endParaRPr lang="en-US" sz="1100" dirty="0"/>
          </a:p>
        </p:txBody>
      </p:sp>
      <p:sp>
        <p:nvSpPr>
          <p:cNvPr id="12" name="Text 10"/>
          <p:cNvSpPr txBox="1"/>
          <p:nvPr/>
        </p:nvSpPr>
        <p:spPr>
          <a:xfrm>
            <a:off x="841248" y="3584448"/>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4</a:t>
            </a:r>
            <a:endParaRPr lang="en-US" sz="1100" dirty="0"/>
          </a:p>
        </p:txBody>
      </p:sp>
      <p:sp>
        <p:nvSpPr>
          <p:cNvPr id="13" name="Text 11"/>
          <p:cNvSpPr txBox="1"/>
          <p:nvPr/>
        </p:nvSpPr>
        <p:spPr>
          <a:xfrm>
            <a:off x="1170432" y="3566160"/>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Flip-set Jaccard against alpha 0, which falls to 0.29.</a:t>
            </a:r>
            <a:endParaRPr lang="en-US" sz="1100" dirty="0"/>
          </a:p>
        </p:txBody>
      </p:sp>
      <p:sp>
        <p:nvSpPr>
          <p:cNvPr id="14" name="Text 12"/>
          <p:cNvSpPr txBox="1"/>
          <p:nvPr/>
        </p:nvSpPr>
        <p:spPr>
          <a:xfrm>
            <a:off x="841248" y="4096512"/>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5</a:t>
            </a:r>
            <a:endParaRPr lang="en-US" sz="1100" dirty="0"/>
          </a:p>
        </p:txBody>
      </p:sp>
      <p:sp>
        <p:nvSpPr>
          <p:cNvPr id="15" name="Text 13"/>
          <p:cNvSpPr txBox="1"/>
          <p:nvPr/>
        </p:nvSpPr>
        <p:spPr>
          <a:xfrm>
            <a:off x="1170432" y="4078224"/>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The defender's number, minimised over alpha: 0.993.</a:t>
            </a:r>
            <a:endParaRPr lang="en-US" sz="1100" dirty="0"/>
          </a:p>
        </p:txBody>
      </p:sp>
      <p:sp>
        <p:nvSpPr>
          <p:cNvPr id="16" name="Text 14"/>
          <p:cNvSpPr txBox="1"/>
          <p:nvPr/>
        </p:nvSpPr>
        <p:spPr>
          <a:xfrm>
            <a:off x="841248" y="4608576"/>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6</a:t>
            </a:r>
            <a:endParaRPr lang="en-US" sz="1100" dirty="0"/>
          </a:p>
        </p:txBody>
      </p:sp>
      <p:sp>
        <p:nvSpPr>
          <p:cNvPr id="17" name="Text 15"/>
          <p:cNvSpPr txBox="1"/>
          <p:nvPr/>
        </p:nvSpPr>
        <p:spPr>
          <a:xfrm>
            <a:off x="1170432" y="4590288"/>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 degeneracy check beyond compiling, flat at 0.014.</a:t>
            </a:r>
            <a:endParaRPr lang="en-US" sz="1100" dirty="0"/>
          </a:p>
        </p:txBody>
      </p:sp>
      <p:sp>
        <p:nvSpPr>
          <p:cNvPr id="18" name="Text 16"/>
          <p:cNvSpPr txBox="1"/>
          <p:nvPr/>
        </p:nvSpPr>
        <p:spPr>
          <a:xfrm>
            <a:off x="841248" y="5120640"/>
            <a:ext cx="274320" cy="219456"/>
          </a:xfrm>
          <a:prstGeom prst="rect">
            <a:avLst/>
          </a:prstGeom>
          <a:noFill/>
          <a:ln/>
        </p:spPr>
        <p:txBody>
          <a:bodyPr wrap="square" lIns="0" tIns="0" rIns="0" bIns="0" rtlCol="0" anchor="ctr"/>
          <a:lstStyle/>
          <a:p>
            <a:pPr indent="0" marL="0">
              <a:buNone/>
            </a:pPr>
            <a:r>
              <a:rPr lang="en-US" sz="1100" b="1" dirty="0">
                <a:solidFill>
                  <a:srgbClr val="2E6E8E"/>
                </a:solidFill>
              </a:rPr>
              <a:t>7</a:t>
            </a:r>
            <a:endParaRPr lang="en-US" sz="1100" dirty="0"/>
          </a:p>
        </p:txBody>
      </p:sp>
      <p:sp>
        <p:nvSpPr>
          <p:cNvPr id="19" name="Text 17"/>
          <p:cNvSpPr txBox="1"/>
          <p:nvPr/>
        </p:nvSpPr>
        <p:spPr>
          <a:xfrm>
            <a:off x="1170432" y="5102352"/>
            <a:ext cx="4526280" cy="457200"/>
          </a:xfrm>
          <a:prstGeom prst="rect">
            <a:avLst/>
          </a:prstGeom>
          <a:noFill/>
          <a:ln/>
        </p:spPr>
        <p:txBody>
          <a:bodyPr wrap="square" lIns="0" tIns="0" rIns="0" bIns="0" rtlCol="0" anchor="ctr"/>
          <a:lstStyle/>
          <a:p>
            <a:pPr indent="0" marL="0">
              <a:lnSpc>
                <a:spcPct val="120000"/>
              </a:lnSpc>
              <a:buNone/>
            </a:pPr>
            <a:r>
              <a:rPr lang="en-US" sz="1100" dirty="0">
                <a:solidFill>
                  <a:srgbClr val="4A5663"/>
                </a:solidFill>
              </a:rPr>
              <a:t>A stratified bootstrap interval on every AUROC.</a:t>
            </a:r>
            <a:endParaRPr lang="en-US" sz="1100" dirty="0"/>
          </a:p>
        </p:txBody>
      </p:sp>
      <p:sp>
        <p:nvSpPr>
          <p:cNvPr id="20" name="rerun"/>
          <p:cNvSpPr/>
          <p:nvPr/>
        </p:nvSpPr>
        <p:spPr>
          <a:xfrm>
            <a:off x="6236208" y="1481328"/>
            <a:ext cx="5385816" cy="4242816"/>
          </a:xfrm>
          <a:prstGeom prst="roundRect">
            <a:avLst>
              <a:gd name="adj" fmla="val 1724"/>
            </a:avLst>
          </a:prstGeom>
          <a:solidFill>
            <a:srgbClr val="15202B"/>
          </a:solidFill>
          <a:ln w="12700">
            <a:solidFill>
              <a:srgbClr val="15202B"/>
            </a:solidFill>
            <a:prstDash val="solid"/>
          </a:ln>
        </p:spPr>
      </p:sp>
      <p:sp>
        <p:nvSpPr>
          <p:cNvPr id="21" name="Text 19"/>
          <p:cNvSpPr txBox="1"/>
          <p:nvPr/>
        </p:nvSpPr>
        <p:spPr>
          <a:xfrm>
            <a:off x="6510528" y="1664208"/>
            <a:ext cx="4846320" cy="256032"/>
          </a:xfrm>
          <a:prstGeom prst="rect">
            <a:avLst/>
          </a:prstGeom>
          <a:noFill/>
          <a:ln/>
        </p:spPr>
        <p:txBody>
          <a:bodyPr wrap="square" lIns="0" tIns="0" rIns="0" bIns="0" rtlCol="0" anchor="ctr"/>
          <a:lstStyle/>
          <a:p>
            <a:pPr indent="0" marL="0">
              <a:buNone/>
            </a:pPr>
            <a:r>
              <a:rPr lang="en-US" sz="1200" b="1" dirty="0">
                <a:solidFill>
                  <a:srgbClr val="9DADBC"/>
                </a:solidFill>
              </a:rPr>
              <a:t>Needs a re-run</a:t>
            </a:r>
            <a:endParaRPr lang="en-US" sz="1200" dirty="0"/>
          </a:p>
        </p:txBody>
      </p:sp>
      <p:sp>
        <p:nvSpPr>
          <p:cNvPr id="22" name="Text 20"/>
          <p:cNvSpPr txBox="1"/>
          <p:nvPr/>
        </p:nvSpPr>
        <p:spPr>
          <a:xfrm>
            <a:off x="6510528" y="2048256"/>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Fix the grid first</a:t>
            </a:r>
            <a:endParaRPr lang="en-US" sz="1300" dirty="0"/>
          </a:p>
        </p:txBody>
      </p:sp>
      <p:sp>
        <p:nvSpPr>
          <p:cNvPr id="23" name="Text 21"/>
          <p:cNvSpPr txBox="1"/>
          <p:nvPr/>
        </p:nvSpPr>
        <p:spPr>
          <a:xfrm>
            <a:off x="6510528" y="2322576"/>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The notebook now computes the informative window from the fitted probe and asserts the grid overlaps it. It is set to 0, 1.0, 1.5, 2.0, 2.5, 3.0.</a:t>
            </a:r>
            <a:endParaRPr lang="en-US" sz="1100" dirty="0"/>
          </a:p>
        </p:txBody>
      </p:sp>
      <p:sp>
        <p:nvSpPr>
          <p:cNvPr id="24" name="Text 22"/>
          <p:cNvSpPr txBox="1"/>
          <p:nvPr/>
        </p:nvSpPr>
        <p:spPr>
          <a:xfrm>
            <a:off x="6510528" y="2944368"/>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Keep the monitor's rows</a:t>
            </a:r>
            <a:endParaRPr lang="en-US" sz="1300" dirty="0"/>
          </a:p>
        </p:txBody>
      </p:sp>
      <p:sp>
        <p:nvSpPr>
          <p:cNvPr id="25" name="Text 23"/>
          <p:cNvSpPr txBox="1"/>
          <p:nvPr/>
        </p:nvSpPr>
        <p:spPr>
          <a:xfrm>
            <a:off x="6510528" y="3218688"/>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We saved only the mean honest suspicion, so no monitor AUROC and no interval can be recovered from this run.</a:t>
            </a:r>
            <a:endParaRPr lang="en-US" sz="1100" dirty="0"/>
          </a:p>
        </p:txBody>
      </p:sp>
      <p:sp>
        <p:nvSpPr>
          <p:cNvPr id="26" name="Text 24"/>
          <p:cNvSpPr txBox="1"/>
          <p:nvPr/>
        </p:nvSpPr>
        <p:spPr>
          <a:xfrm>
            <a:off x="6510528" y="3840480"/>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Give the monitor its own weights</a:t>
            </a:r>
            <a:endParaRPr lang="en-US" sz="1300" dirty="0"/>
          </a:p>
        </p:txBody>
      </p:sp>
      <p:sp>
        <p:nvSpPr>
          <p:cNvPr id="27" name="Text 25"/>
          <p:cNvSpPr txBox="1"/>
          <p:nvPr/>
        </p:nvSpPr>
        <p:spPr>
          <a:xfrm>
            <a:off x="6510528" y="4114800"/>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Ours defaulted to the attacker's, which bounds visibility to a reader of equal capability rather than a trusted one.</a:t>
            </a:r>
            <a:endParaRPr lang="en-US" sz="1100" dirty="0"/>
          </a:p>
        </p:txBody>
      </p:sp>
      <p:sp>
        <p:nvSpPr>
          <p:cNvPr id="28" name="Text 26"/>
          <p:cNvSpPr txBox="1"/>
          <p:nvPr/>
        </p:nvSpPr>
        <p:spPr>
          <a:xfrm>
            <a:off x="6510528" y="4736592"/>
            <a:ext cx="484632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Honour the gate</a:t>
            </a:r>
            <a:endParaRPr lang="en-US" sz="1300" dirty="0"/>
          </a:p>
        </p:txBody>
      </p:sp>
      <p:sp>
        <p:nvSpPr>
          <p:cNvPr id="29" name="Text 27"/>
          <p:cNvSpPr txBox="1"/>
          <p:nvPr/>
        </p:nvSpPr>
        <p:spPr>
          <a:xfrm>
            <a:off x="6510528" y="5010912"/>
            <a:ext cx="4846320" cy="512064"/>
          </a:xfrm>
          <a:prstGeom prst="rect">
            <a:avLst/>
          </a:prstGeom>
          <a:noFill/>
          <a:ln/>
        </p:spPr>
        <p:txBody>
          <a:bodyPr wrap="square" lIns="0" tIns="0" rIns="0" bIns="0" rtlCol="0" anchor="ctr"/>
          <a:lstStyle/>
          <a:p>
            <a:pPr indent="0" marL="0">
              <a:lnSpc>
                <a:spcPct val="120000"/>
              </a:lnSpc>
              <a:buNone/>
            </a:pPr>
            <a:r>
              <a:rPr lang="en-US" sz="1100" dirty="0">
                <a:solidFill>
                  <a:srgbClr val="9DADBC"/>
                </a:solidFill>
              </a:rPr>
              <a:t>800 problems at the observed 25.3% attack rate gives about 100 attacks and halves every interval in the deck.</a:t>
            </a:r>
            <a:endParaRPr lang="en-US" sz="1100" dirty="0"/>
          </a:p>
        </p:txBody>
      </p:sp>
      <p:sp>
        <p:nvSpPr>
          <p:cNvPr id="30"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Left: src/obftax/metrics.py and scripts/reanalyze.py, both computed inline by the notebooks now. Right: the shape of the next run.</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66928" y="457200"/>
            <a:ext cx="11057839" cy="237744"/>
          </a:xfrm>
          <a:prstGeom prst="rect">
            <a:avLst/>
          </a:prstGeom>
          <a:noFill/>
          <a:ln/>
        </p:spPr>
        <p:txBody>
          <a:bodyPr wrap="square" lIns="0" tIns="0" rIns="0" bIns="0" rtlCol="0" anchor="ctr"/>
          <a:lstStyle/>
          <a:p>
            <a:pPr indent="0" marL="0">
              <a:buNone/>
            </a:pPr>
            <a:r>
              <a:rPr lang="en-US" sz="1100" b="1" spc="160" kern="0" dirty="0">
                <a:solidFill>
                  <a:srgbClr val="2E6E8E"/>
                </a:solidFill>
              </a:rPr>
              <a:t>WHERE TO GO NEXT</a:t>
            </a:r>
            <a:endParaRPr lang="en-US" sz="1100" dirty="0"/>
          </a:p>
        </p:txBody>
      </p:sp>
      <p:sp>
        <p:nvSpPr>
          <p:cNvPr id="3" name="Text 0"/>
          <p:cNvSpPr/>
          <p:nvPr>
            <p:ph idx="100" type="title" hasCustomPrompt="1"/>
          </p:nvPr>
        </p:nvSpPr>
        <p:spPr>
          <a:xfrm>
            <a:off x="566928" y="749808"/>
            <a:ext cx="11057839" cy="658368"/>
          </a:xfrm>
          <a:prstGeom prst="rect">
            <a:avLst/>
          </a:prstGeom>
          <a:noFill/>
          <a:ln/>
        </p:spPr>
        <p:txBody>
          <a:bodyPr wrap="square" rtlCol="0" anchor="t"/>
          <a:lstStyle/>
          <a:p>
            <a:pPr indent="0" marL="0">
              <a:buNone/>
            </a:pPr>
            <a:r>
              <a:rPr lang="en-US" sz="2800" b="1" dirty="0">
                <a:solidFill>
                  <a:srgbClr val="1A2230"/>
                </a:solidFill>
              </a:rPr>
              <a:t>Four experiments, cheapest first</a:t>
            </a:r>
            <a:endParaRPr lang="en-US" sz="2800" dirty="0"/>
          </a:p>
        </p:txBody>
      </p:sp>
      <p:sp>
        <p:nvSpPr>
          <p:cNvPr id="4" name="exp-0"/>
          <p:cNvSpPr/>
          <p:nvPr/>
        </p:nvSpPr>
        <p:spPr>
          <a:xfrm>
            <a:off x="566928" y="1481328"/>
            <a:ext cx="5385816" cy="1975104"/>
          </a:xfrm>
          <a:prstGeom prst="roundRect">
            <a:avLst>
              <a:gd name="adj" fmla="val 3704"/>
            </a:avLst>
          </a:prstGeom>
          <a:solidFill>
            <a:srgbClr val="EEF1F4"/>
          </a:solidFill>
          <a:ln w="12700">
            <a:solidFill>
              <a:srgbClr val="EEF1F4"/>
            </a:solidFill>
            <a:prstDash val="solid"/>
          </a:ln>
        </p:spPr>
      </p:sp>
      <p:sp>
        <p:nvSpPr>
          <p:cNvPr id="5" name="badge-1"/>
          <p:cNvSpPr/>
          <p:nvPr/>
        </p:nvSpPr>
        <p:spPr>
          <a:xfrm>
            <a:off x="822960" y="1719072"/>
            <a:ext cx="347472" cy="347472"/>
          </a:xfrm>
          <a:prstGeom prst="ellipse">
            <a:avLst/>
          </a:prstGeom>
          <a:solidFill>
            <a:srgbClr val="C2541B"/>
          </a:solidFill>
          <a:ln w="12700">
            <a:solidFill>
              <a:srgbClr val="C2541B"/>
            </a:solidFill>
            <a:prstDash val="solid"/>
          </a:ln>
        </p:spPr>
      </p:sp>
      <p:sp>
        <p:nvSpPr>
          <p:cNvPr id="6" name="Text 4"/>
          <p:cNvSpPr txBox="1"/>
          <p:nvPr/>
        </p:nvSpPr>
        <p:spPr>
          <a:xfrm>
            <a:off x="822960" y="17190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280160" y="1682496"/>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Ask whether the direction is causal at all</a:t>
            </a:r>
            <a:endParaRPr lang="en-US" sz="1500" dirty="0"/>
          </a:p>
        </p:txBody>
      </p:sp>
      <p:sp>
        <p:nvSpPr>
          <p:cNvPr id="8" name="Text 6"/>
          <p:cNvSpPr txBox="1"/>
          <p:nvPr/>
        </p:nvSpPr>
        <p:spPr>
          <a:xfrm>
            <a:off x="822960" y="2212848"/>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Project it out of the residual stream during generation instead of steering along it, and measure the attack rate. One pass over the held-out half, no grid. If sabotage survives with the direction removed, there is no tax to look for here.</a:t>
            </a:r>
            <a:endParaRPr lang="en-US" sz="1200" dirty="0"/>
          </a:p>
        </p:txBody>
      </p:sp>
      <p:sp>
        <p:nvSpPr>
          <p:cNvPr id="9" name="Text 7"/>
          <p:cNvSpPr txBox="1"/>
          <p:nvPr/>
        </p:nvSpPr>
        <p:spPr>
          <a:xfrm>
            <a:off x="822960" y="3127248"/>
            <a:ext cx="4873752" cy="256032"/>
          </a:xfrm>
          <a:prstGeom prst="rect">
            <a:avLst/>
          </a:prstGeom>
          <a:noFill/>
          <a:ln/>
        </p:spPr>
        <p:txBody>
          <a:bodyPr wrap="square" lIns="0" tIns="0" rIns="0" bIns="0" rtlCol="0" anchor="ctr"/>
          <a:lstStyle/>
          <a:p>
            <a:pPr indent="0" marL="0">
              <a:buNone/>
            </a:pPr>
            <a:r>
              <a:rPr lang="en-US" sz="1100" i="1" dirty="0">
                <a:solidFill>
                  <a:srgbClr val="C2541B"/>
                </a:solidFill>
              </a:rPr>
              <a:t>hooks.Project · already written and tested</a:t>
            </a:r>
            <a:endParaRPr lang="en-US" sz="1100" dirty="0"/>
          </a:p>
        </p:txBody>
      </p:sp>
      <p:sp>
        <p:nvSpPr>
          <p:cNvPr id="10" name="exp-1"/>
          <p:cNvSpPr/>
          <p:nvPr/>
        </p:nvSpPr>
        <p:spPr>
          <a:xfrm>
            <a:off x="6236208" y="1481328"/>
            <a:ext cx="5385816" cy="1975104"/>
          </a:xfrm>
          <a:prstGeom prst="roundRect">
            <a:avLst>
              <a:gd name="adj" fmla="val 3704"/>
            </a:avLst>
          </a:prstGeom>
          <a:solidFill>
            <a:srgbClr val="EEF1F4"/>
          </a:solidFill>
          <a:ln w="12700">
            <a:solidFill>
              <a:srgbClr val="EEF1F4"/>
            </a:solidFill>
            <a:prstDash val="solid"/>
          </a:ln>
        </p:spPr>
      </p:sp>
      <p:sp>
        <p:nvSpPr>
          <p:cNvPr id="11" name="badge-2"/>
          <p:cNvSpPr/>
          <p:nvPr/>
        </p:nvSpPr>
        <p:spPr>
          <a:xfrm>
            <a:off x="6492240" y="1719072"/>
            <a:ext cx="347472" cy="347472"/>
          </a:xfrm>
          <a:prstGeom prst="ellipse">
            <a:avLst/>
          </a:prstGeom>
          <a:solidFill>
            <a:srgbClr val="2E6E8E"/>
          </a:solidFill>
          <a:ln w="12700">
            <a:solidFill>
              <a:srgbClr val="2E6E8E"/>
            </a:solidFill>
            <a:prstDash val="solid"/>
          </a:ln>
        </p:spPr>
      </p:sp>
      <p:sp>
        <p:nvSpPr>
          <p:cNvPr id="12" name="Text 10"/>
          <p:cNvSpPr txBox="1"/>
          <p:nvPr/>
        </p:nvSpPr>
        <p:spPr>
          <a:xfrm>
            <a:off x="6492240" y="171907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1"/>
          <p:cNvSpPr txBox="1"/>
          <p:nvPr/>
        </p:nvSpPr>
        <p:spPr>
          <a:xfrm>
            <a:off x="6949440" y="1682496"/>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Measure the tax with best-of-n</a:t>
            </a:r>
            <a:endParaRPr lang="en-US" sz="1500" dirty="0"/>
          </a:p>
        </p:txBody>
      </p:sp>
      <p:sp>
        <p:nvSpPr>
          <p:cNvPr id="14" name="Text 12"/>
          <p:cNvSpPr txBox="1"/>
          <p:nvPr/>
        </p:nvSpPr>
        <p:spPr>
          <a:xfrm>
            <a:off x="6492240" y="2212848"/>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Sample sixteen completions per problem under the sandbagging prompt, then sweep a probe-score budget instead of alpha: among completions quiet enough to pass, how many still sabotage? Every point is an output the model would really produce.</a:t>
            </a:r>
            <a:endParaRPr lang="en-US" sz="1200" dirty="0"/>
          </a:p>
        </p:txBody>
      </p:sp>
      <p:sp>
        <p:nvSpPr>
          <p:cNvPr id="15" name="Text 13"/>
          <p:cNvSpPr txBox="1"/>
          <p:nvPr/>
        </p:nvSpPr>
        <p:spPr>
          <a:xfrm>
            <a:off x="6492240" y="3127248"/>
            <a:ext cx="4873752" cy="256032"/>
          </a:xfrm>
          <a:prstGeom prst="rect">
            <a:avLst/>
          </a:prstGeom>
          <a:noFill/>
          <a:ln/>
        </p:spPr>
        <p:txBody>
          <a:bodyPr wrap="square" lIns="0" tIns="0" rIns="0" bIns="0" rtlCol="0" anchor="ctr"/>
          <a:lstStyle/>
          <a:p>
            <a:pPr indent="0" marL="0">
              <a:buNone/>
            </a:pPr>
            <a:r>
              <a:rPr lang="en-US" sz="1100" i="1" dirty="0">
                <a:solidFill>
                  <a:srgbClr val="2E6E8E"/>
                </a:solidFill>
              </a:rPr>
              <a:t>one pass, and both classes share one prompt</a:t>
            </a:r>
            <a:endParaRPr lang="en-US" sz="1100" dirty="0"/>
          </a:p>
        </p:txBody>
      </p:sp>
      <p:sp>
        <p:nvSpPr>
          <p:cNvPr id="16" name="exp-2"/>
          <p:cNvSpPr/>
          <p:nvPr/>
        </p:nvSpPr>
        <p:spPr>
          <a:xfrm>
            <a:off x="566928" y="3694176"/>
            <a:ext cx="5385816" cy="1975104"/>
          </a:xfrm>
          <a:prstGeom prst="roundRect">
            <a:avLst>
              <a:gd name="adj" fmla="val 3704"/>
            </a:avLst>
          </a:prstGeom>
          <a:solidFill>
            <a:srgbClr val="EEF1F4"/>
          </a:solidFill>
          <a:ln w="12700">
            <a:solidFill>
              <a:srgbClr val="EEF1F4"/>
            </a:solidFill>
            <a:prstDash val="solid"/>
          </a:ln>
        </p:spPr>
      </p:sp>
      <p:sp>
        <p:nvSpPr>
          <p:cNvPr id="17" name="badge-3"/>
          <p:cNvSpPr/>
          <p:nvPr/>
        </p:nvSpPr>
        <p:spPr>
          <a:xfrm>
            <a:off x="822960" y="3931920"/>
            <a:ext cx="347472" cy="347472"/>
          </a:xfrm>
          <a:prstGeom prst="ellipse">
            <a:avLst/>
          </a:prstGeom>
          <a:solidFill>
            <a:srgbClr val="2E6E8E"/>
          </a:solidFill>
          <a:ln w="12700">
            <a:solidFill>
              <a:srgbClr val="2E6E8E"/>
            </a:solidFill>
            <a:prstDash val="solid"/>
          </a:ln>
        </p:spPr>
      </p:sp>
      <p:sp>
        <p:nvSpPr>
          <p:cNvPr id="18" name="Text 16"/>
          <p:cNvSpPr txBox="1"/>
          <p:nvPr/>
        </p:nvSpPr>
        <p:spPr>
          <a:xfrm>
            <a:off x="822960" y="39319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1280160" y="3895344"/>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Take the instruction out of the context</a:t>
            </a:r>
            <a:endParaRPr lang="en-US" sz="1500" dirty="0"/>
          </a:p>
        </p:txBody>
      </p:sp>
      <p:sp>
        <p:nvSpPr>
          <p:cNvPr id="20" name="Text 18"/>
          <p:cNvSpPr txBox="1"/>
          <p:nvPr/>
        </p:nvSpPr>
        <p:spPr>
          <a:xfrm>
            <a:off x="822960" y="4425696"/>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Hand the policy over as k in-context demonstrations with no instruction anywhere, and the label becomes a property of the rollout rather than of the prompt.</a:t>
            </a:r>
            <a:endParaRPr lang="en-US" sz="1200" dirty="0"/>
          </a:p>
        </p:txBody>
      </p:sp>
      <p:sp>
        <p:nvSpPr>
          <p:cNvPr id="21" name="Text 19"/>
          <p:cNvSpPr txBox="1"/>
          <p:nvPr/>
        </p:nvSpPr>
        <p:spPr>
          <a:xfrm>
            <a:off x="822960" y="5340096"/>
            <a:ext cx="4873752" cy="256032"/>
          </a:xfrm>
          <a:prstGeom prst="rect">
            <a:avLst/>
          </a:prstGeom>
          <a:noFill/>
          <a:ln/>
        </p:spPr>
        <p:txBody>
          <a:bodyPr wrap="square" lIns="0" tIns="0" rIns="0" bIns="0" rtlCol="0" anchor="ctr"/>
          <a:lstStyle/>
          <a:p>
            <a:pPr indent="0" marL="0">
              <a:buNone/>
            </a:pPr>
            <a:r>
              <a:rPr lang="en-US" sz="1100" i="1" dirty="0">
                <a:solidFill>
                  <a:srgbClr val="2E6E8E"/>
                </a:solidFill>
              </a:rPr>
              <a:t>the only route back to the original question</a:t>
            </a:r>
            <a:endParaRPr lang="en-US" sz="1100" dirty="0"/>
          </a:p>
        </p:txBody>
      </p:sp>
      <p:sp>
        <p:nvSpPr>
          <p:cNvPr id="22" name="exp-3"/>
          <p:cNvSpPr/>
          <p:nvPr/>
        </p:nvSpPr>
        <p:spPr>
          <a:xfrm>
            <a:off x="6236208" y="3694176"/>
            <a:ext cx="5385816" cy="1975104"/>
          </a:xfrm>
          <a:prstGeom prst="roundRect">
            <a:avLst>
              <a:gd name="adj" fmla="val 3704"/>
            </a:avLst>
          </a:prstGeom>
          <a:solidFill>
            <a:srgbClr val="EEF1F4"/>
          </a:solidFill>
          <a:ln w="12700">
            <a:solidFill>
              <a:srgbClr val="EEF1F4"/>
            </a:solidFill>
            <a:prstDash val="solid"/>
          </a:ln>
        </p:spPr>
      </p:sp>
      <p:sp>
        <p:nvSpPr>
          <p:cNvPr id="23" name="badge-4"/>
          <p:cNvSpPr/>
          <p:nvPr/>
        </p:nvSpPr>
        <p:spPr>
          <a:xfrm>
            <a:off x="6492240" y="3931920"/>
            <a:ext cx="347472" cy="347472"/>
          </a:xfrm>
          <a:prstGeom prst="ellipse">
            <a:avLst/>
          </a:prstGeom>
          <a:solidFill>
            <a:srgbClr val="1A2230"/>
          </a:solidFill>
          <a:ln w="12700">
            <a:solidFill>
              <a:srgbClr val="1A2230"/>
            </a:solidFill>
            <a:prstDash val="solid"/>
          </a:ln>
        </p:spPr>
      </p:sp>
      <p:sp>
        <p:nvSpPr>
          <p:cNvPr id="24" name="Text 22"/>
          <p:cNvSpPr txBox="1"/>
          <p:nvPr/>
        </p:nvSpPr>
        <p:spPr>
          <a:xfrm>
            <a:off x="6492240" y="39319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5" name="Text 23"/>
          <p:cNvSpPr txBox="1"/>
          <p:nvPr/>
        </p:nvSpPr>
        <p:spPr>
          <a:xfrm>
            <a:off x="6949440" y="3895344"/>
            <a:ext cx="4416552" cy="530352"/>
          </a:xfrm>
          <a:prstGeom prst="rect">
            <a:avLst/>
          </a:prstGeom>
          <a:noFill/>
          <a:ln/>
        </p:spPr>
        <p:txBody>
          <a:bodyPr wrap="square" lIns="0" tIns="0" rIns="0" bIns="0" rtlCol="0" anchor="ctr"/>
          <a:lstStyle/>
          <a:p>
            <a:pPr indent="0" marL="0">
              <a:buNone/>
            </a:pPr>
            <a:r>
              <a:rPr lang="en-US" sz="1500" b="1" dirty="0">
                <a:solidFill>
                  <a:srgbClr val="1A2230"/>
                </a:solidFill>
                <a:latin typeface="Cambria" pitchFamily="34" charset="0"/>
                <a:ea typeface="Cambria" pitchFamily="34" charset="-122"/>
                <a:cs typeface="Cambria" pitchFamily="34" charset="-120"/>
              </a:rPr>
              <a:t>Replace the hand-set dial with a trained attacker</a:t>
            </a:r>
            <a:endParaRPr lang="en-US" sz="1500" dirty="0"/>
          </a:p>
        </p:txBody>
      </p:sp>
      <p:sp>
        <p:nvSpPr>
          <p:cNvPr id="26" name="Text 24"/>
          <p:cNvSpPr txBox="1"/>
          <p:nvPr/>
        </p:nvSpPr>
        <p:spPr>
          <a:xfrm>
            <a:off x="6492240" y="4425696"/>
            <a:ext cx="4873752" cy="896112"/>
          </a:xfrm>
          <a:prstGeom prst="rect">
            <a:avLst/>
          </a:prstGeom>
          <a:noFill/>
          <a:ln/>
        </p:spPr>
        <p:txBody>
          <a:bodyPr wrap="square" lIns="0" tIns="0" rIns="0" bIns="0" rtlCol="0" anchor="ctr"/>
          <a:lstStyle/>
          <a:p>
            <a:pPr indent="0" marL="0">
              <a:lnSpc>
                <a:spcPct val="122000"/>
              </a:lnSpc>
              <a:buNone/>
            </a:pPr>
            <a:r>
              <a:rPr lang="en-US" sz="1200" dirty="0">
                <a:solidFill>
                  <a:srgbClr val="4A5663"/>
                </a:solidFill>
              </a:rPr>
              <a:t>One scalar on one direction is the weakest adversary available, and a defence result against it says little. A soft prefix trained on the probe score plus the model's own sandbagged completion is the affordable version; RL-Obfuscation is the comparison.</a:t>
            </a:r>
            <a:endParaRPr lang="en-US" sz="1200" dirty="0"/>
          </a:p>
        </p:txBody>
      </p:sp>
      <p:sp>
        <p:nvSpPr>
          <p:cNvPr id="27" name="Text 25"/>
          <p:cNvSpPr txBox="1"/>
          <p:nvPr/>
        </p:nvSpPr>
        <p:spPr>
          <a:xfrm>
            <a:off x="6492240" y="5340096"/>
            <a:ext cx="4873752" cy="256032"/>
          </a:xfrm>
          <a:prstGeom prst="rect">
            <a:avLst/>
          </a:prstGeom>
          <a:noFill/>
          <a:ln/>
        </p:spPr>
        <p:txBody>
          <a:bodyPr wrap="square" lIns="0" tIns="0" rIns="0" bIns="0" rtlCol="0" anchor="ctr"/>
          <a:lstStyle/>
          <a:p>
            <a:pPr indent="0" marL="0">
              <a:buNone/>
            </a:pPr>
            <a:r>
              <a:rPr lang="en-US" sz="1100" i="1" dirty="0">
                <a:solidFill>
                  <a:srgbClr val="1A2230"/>
                </a:solidFill>
              </a:rPr>
              <a:t>hours on a 4B, not a project</a:t>
            </a:r>
            <a:endParaRPr lang="en-US" sz="1100" dirty="0"/>
          </a:p>
        </p:txBody>
      </p:sp>
      <p:sp>
        <p:nvSpPr>
          <p:cNvPr id="28" name="source"/>
          <p:cNvSpPr txBox="1"/>
          <p:nvPr/>
        </p:nvSpPr>
        <p:spPr>
          <a:xfrm>
            <a:off x="566928" y="6382512"/>
            <a:ext cx="10607040" cy="256032"/>
          </a:xfrm>
          <a:prstGeom prst="rect">
            <a:avLst/>
          </a:prstGeom>
          <a:noFill/>
          <a:ln/>
        </p:spPr>
        <p:txBody>
          <a:bodyPr wrap="square" lIns="0" tIns="0" rIns="0" bIns="0" rtlCol="0" anchor="ctr"/>
          <a:lstStyle/>
          <a:p>
            <a:pPr indent="0" marL="0">
              <a:buNone/>
            </a:pPr>
            <a:r>
              <a:rPr lang="en-US" sz="1000" dirty="0">
                <a:solidFill>
                  <a:srgbClr val="6B7A88"/>
                </a:solidFill>
              </a:rPr>
              <a:t>A change of substrate helps too: on AdvBench or HarmBench both labels come from one prompt sampled k times, so the confound goes by construction rather than by control.</a:t>
            </a:r>
            <a:endParaRPr lang="en-US" sz="1000" dirty="0"/>
          </a:p>
        </p:txBody>
      </p:sp>
      <p:sp>
        <p:nvSpPr>
          <p:cNvPr id="25" name="Slide Number Placeholder 0"/>
          <p:cNvSpPr>
            <a:spLocks noGrp="1"/>
          </p:cNvSpPr>
          <p:nvPr>
            <p:ph type="sldNum" sz="quarter" idx="4294967295"/>
          </p:nvPr>
        </p:nvSpPr>
        <p:spPr>
          <a:xfrm>
            <a:off x="11521440" y="6382512"/>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8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66928" y="932688"/>
            <a:ext cx="11057839" cy="274320"/>
          </a:xfrm>
          <a:prstGeom prst="rect">
            <a:avLst/>
          </a:prstGeom>
          <a:noFill/>
          <a:ln/>
        </p:spPr>
        <p:txBody>
          <a:bodyPr wrap="square" lIns="0" tIns="0" rIns="0" bIns="0" rtlCol="0" anchor="ctr"/>
          <a:lstStyle/>
          <a:p>
            <a:pPr indent="0" marL="0">
              <a:buNone/>
            </a:pPr>
            <a:r>
              <a:rPr lang="en-US" sz="1200" b="1" spc="240" kern="0" dirty="0">
                <a:solidFill>
                  <a:srgbClr val="E8873F"/>
                </a:solidFill>
              </a:rPr>
              <a:t>WHAT THE RUN STILL SUPPORTS</a:t>
            </a:r>
            <a:endParaRPr lang="en-US" sz="1200" dirty="0"/>
          </a:p>
        </p:txBody>
      </p:sp>
      <p:sp>
        <p:nvSpPr>
          <p:cNvPr id="3" name="Text 0"/>
          <p:cNvSpPr/>
          <p:nvPr>
            <p:ph idx="100" type="title" hasCustomPrompt="1"/>
          </p:nvPr>
        </p:nvSpPr>
        <p:spPr>
          <a:xfrm>
            <a:off x="566928" y="1335024"/>
            <a:ext cx="11057839" cy="932688"/>
          </a:xfrm>
          <a:prstGeom prst="rect">
            <a:avLst/>
          </a:prstGeom>
          <a:noFill/>
          <a:ln/>
        </p:spPr>
        <p:txBody>
          <a:bodyPr wrap="square" rtlCol="0" anchor="t"/>
          <a:lstStyle/>
          <a:p>
            <a:pPr indent="0" marL="0">
              <a:buNone/>
            </a:pPr>
            <a:r>
              <a:rPr lang="en-US" sz="5400" dirty="0">
                <a:solidFill>
                  <a:srgbClr val="FFFFFF"/>
                </a:solidFill>
                <a:latin typeface="Cambria" pitchFamily="34" charset="0"/>
                <a:ea typeface="Cambria" pitchFamily="34" charset="-122"/>
                <a:cs typeface="Cambria" pitchFamily="34" charset="-120"/>
              </a:rPr>
              <a:t>Naive steering does not evade</a:t>
            </a:r>
            <a:endParaRPr lang="en-US" sz="5400" dirty="0"/>
          </a:p>
        </p:txBody>
      </p:sp>
      <p:sp>
        <p:nvSpPr>
          <p:cNvPr id="4" name="Text 2"/>
          <p:cNvSpPr txBox="1"/>
          <p:nvPr/>
        </p:nvSpPr>
        <p:spPr>
          <a:xfrm>
            <a:off x="566928" y="2487168"/>
            <a:ext cx="9875520" cy="822960"/>
          </a:xfrm>
          <a:prstGeom prst="rect">
            <a:avLst/>
          </a:prstGeom>
          <a:noFill/>
          <a:ln/>
        </p:spPr>
        <p:txBody>
          <a:bodyPr wrap="square" lIns="0" tIns="0" rIns="0" bIns="0" rtlCol="0" anchor="ctr"/>
          <a:lstStyle/>
          <a:p>
            <a:pPr indent="0" marL="0">
              <a:lnSpc>
                <a:spcPct val="120000"/>
              </a:lnSpc>
              <a:buNone/>
            </a:pPr>
            <a:r>
              <a:rPr lang="en-US" sz="1800" dirty="0">
                <a:solidFill>
                  <a:srgbClr val="E7ECF1"/>
                </a:solidFill>
              </a:rPr>
              <a:t>It overshoots into a region a two-sided threshold catches, it fails to transfer one layer, and the sabotage that survives is a different sabotage.</a:t>
            </a:r>
            <a:endParaRPr lang="en-US" sz="1800" dirty="0"/>
          </a:p>
        </p:txBody>
      </p:sp>
      <p:sp>
        <p:nvSpPr>
          <p:cNvPr id="5" name="mirror"/>
          <p:cNvSpPr/>
          <p:nvPr/>
        </p:nvSpPr>
        <p:spPr>
          <a:xfrm>
            <a:off x="566928" y="3657600"/>
            <a:ext cx="11057839" cy="1042416"/>
          </a:xfrm>
          <a:prstGeom prst="roundRect">
            <a:avLst>
              <a:gd name="adj" fmla="val 7018"/>
            </a:avLst>
          </a:prstGeom>
          <a:solidFill>
            <a:srgbClr val="1E2A38"/>
          </a:solidFill>
          <a:ln w="12700">
            <a:solidFill>
              <a:srgbClr val="1E2A38"/>
            </a:solidFill>
            <a:prstDash val="solid"/>
          </a:ln>
        </p:spPr>
      </p:sp>
      <p:sp>
        <p:nvSpPr>
          <p:cNvPr id="6" name="Text 4"/>
          <p:cNvSpPr txBox="1"/>
          <p:nvPr/>
        </p:nvSpPr>
        <p:spPr>
          <a:xfrm>
            <a:off x="896112" y="3657600"/>
            <a:ext cx="10399471" cy="1042416"/>
          </a:xfrm>
          <a:prstGeom prst="rect">
            <a:avLst/>
          </a:prstGeom>
          <a:noFill/>
          <a:ln/>
        </p:spPr>
        <p:txBody>
          <a:bodyPr wrap="square" lIns="0" tIns="0" rIns="0" bIns="0" rtlCol="0" anchor="ctr"/>
          <a:lstStyle/>
          <a:p>
            <a:pPr indent="0" marL="0">
              <a:buNone/>
            </a:pPr>
            <a:r>
              <a:rPr lang="en-US" sz="1500" dirty="0">
                <a:solidFill>
                  <a:srgbClr val="9DADBC"/>
                </a:solidFill>
              </a:rPr>
              <a:t>The mirror image of the obfuscated-activations result:  </a:t>
            </a:r>
            <a:pPr indent="0" marL="0">
              <a:buNone/>
            </a:pPr>
            <a:r>
              <a:rPr lang="en-US" sz="1500" b="1" dirty="0">
                <a:solidFill>
                  <a:srgbClr val="FFFFFF"/>
                </a:solidFill>
              </a:rPr>
              <a:t>optimised attacks evade latent monitors, and the unoptimised one does not evade at all.</a:t>
            </a:r>
            <a:endParaRPr lang="en-US" sz="1500" dirty="0"/>
          </a:p>
        </p:txBody>
      </p:sp>
      <p:sp>
        <p:nvSpPr>
          <p:cNvPr id="7" name="close-mark"/>
          <p:cNvSpPr/>
          <p:nvPr/>
        </p:nvSpPr>
        <p:spPr>
          <a:xfrm>
            <a:off x="566928" y="5120640"/>
            <a:ext cx="1371600" cy="25603"/>
          </a:xfrm>
          <a:prstGeom prst="rect">
            <a:avLst/>
          </a:prstGeom>
          <a:solidFill>
            <a:srgbClr val="E8873F"/>
          </a:solidFill>
          <a:ln w="12700">
            <a:solidFill>
              <a:srgbClr val="E8873F"/>
            </a:solidFill>
            <a:prstDash val="solid"/>
          </a:ln>
        </p:spPr>
      </p:sp>
      <p:sp>
        <p:nvSpPr>
          <p:cNvPr id="8" name="Text 6"/>
          <p:cNvSpPr txBox="1"/>
          <p:nvPr/>
        </p:nvSpPr>
        <p:spPr>
          <a:xfrm>
            <a:off x="566928" y="5321808"/>
            <a:ext cx="10607040" cy="274320"/>
          </a:xfrm>
          <a:prstGeom prst="rect">
            <a:avLst/>
          </a:prstGeom>
          <a:noFill/>
          <a:ln/>
        </p:spPr>
        <p:txBody>
          <a:bodyPr wrap="square" lIns="0" tIns="0" rIns="0" bIns="0" rtlCol="0" anchor="ctr"/>
          <a:lstStyle/>
          <a:p>
            <a:pPr indent="0" marL="0">
              <a:buNone/>
            </a:pPr>
            <a:r>
              <a:rPr lang="en-US" sz="1100" dirty="0">
                <a:solidFill>
                  <a:srgbClr val="7E8FA0"/>
                </a:solidFill>
              </a:rPr>
              <a:t>Corrected numbers in RESULTS.md, the narrative in ANALYSIS.md  ·  one track: mbpp, 300 problems, Qwen3.5-4B, reasoning off, greedy.</a:t>
            </a:r>
            <a:endParaRPr lang="en-US" sz="1100" dirty="0"/>
          </a:p>
        </p:txBody>
      </p:sp>
    </p:spTree>
  </p:cSld>
  <p:clrMapOvr>
    <a:masterClrMapping/>
  </p:clrMapOvr>
</p:sld>
</file>

<file path=ppt/theme/theme1.xml><?xml version="1.0" encoding="utf-8"?>
<a:theme xmlns:a="http://schemas.openxmlformats.org/drawingml/2006/main" name="Obfuscation Tax">
  <a:themeElements>
    <a:clrScheme name="Obfuscation Tax">
      <a:dk1>
        <a:srgbClr val="1A2230"/>
      </a:dk1>
      <a:lt1>
        <a:srgbClr val="FFFFFF"/>
      </a:lt1>
      <a:dk2>
        <a:srgbClr val="4A5663"/>
      </a:dk2>
      <a:lt2>
        <a:srgbClr val="EEF1F4"/>
      </a:lt2>
      <a:accent1>
        <a:srgbClr val="C2541B"/>
      </a:accent1>
      <a:accent2>
        <a:srgbClr val="2E6E8E"/>
      </a:accent2>
      <a:accent3>
        <a:srgbClr val="15202B"/>
      </a:accent3>
      <a:accent4>
        <a:srgbClr val="8A9BA8"/>
      </a:accent4>
      <a:accent5>
        <a:srgbClr val="D7DEE4"/>
      </a:accent5>
      <a:accent6>
        <a:srgbClr val="6B7A88"/>
      </a:accent6>
      <a:hlink>
        <a:srgbClr val="2E6E8E"/>
      </a:hlink>
      <a:folHlink>
        <a:srgbClr val="6B7A88"/>
      </a:folHlink>
    </a:clrScheme>
    <a:fontScheme name="Obfuscation Ta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obsfucation-tax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Obfuscation Tax</dc:title>
  <dc:subject>What does a model give up to hide from an activation probe?</dc:subject>
  <dc:creator>obsfucation-tax</dc:creator>
  <cp:lastModifiedBy>obsfucation-tax</cp:lastModifiedBy>
  <cp:revision>1</cp:revision>
  <dcterms:created xsi:type="dcterms:W3CDTF">2026-10-30T07:54:16Z</dcterms:created>
  <dcterms:modified xsi:type="dcterms:W3CDTF">2026-10-30T07:54:16Z</dcterms:modified>
</cp:coreProperties>
</file>